
<file path=[Content_Types].xml><?xml version="1.0" encoding="utf-8"?>
<Types xmlns="http://schemas.openxmlformats.org/package/2006/content-types">
  <Default Extension="gif" ContentType="image/gif"/>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29"/>
  </p:notesMasterIdLst>
  <p:sldIdLst>
    <p:sldId id="282" r:id="rId4"/>
    <p:sldId id="257" r:id="rId5"/>
    <p:sldId id="259" r:id="rId6"/>
    <p:sldId id="260" r:id="rId7"/>
    <p:sldId id="261" r:id="rId8"/>
    <p:sldId id="262" r:id="rId9"/>
    <p:sldId id="263"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pos="288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13251138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895472550"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06985455"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858418312"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63772374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204973579"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6530486" name="幻灯片图像占位符 1"/>
          <p:cNvSpPr>
            <a:spLocks noGrp="1" noRot="1" noChangeAspect="1"/>
          </p:cNvSpPr>
          <p:nvPr>
            <p:ph type="sldImg"/>
          </p:nvPr>
        </p:nvSpPr>
        <p:spPr bwMode="auto">
          <a:xfrm>
            <a:off x="1371600" y="1143000"/>
            <a:ext cx="4114800" cy="3086100"/>
          </a:xfrm>
        </p:spPr>
      </p:sp>
      <p:sp>
        <p:nvSpPr>
          <p:cNvPr id="1904277749" name="备注占位符 2"/>
          <p:cNvSpPr>
            <a:spLocks noGrp="1"/>
          </p:cNvSpPr>
          <p:nvPr>
            <p:ph type="body" idx="1"/>
          </p:nvPr>
        </p:nvSpPr>
        <p:spPr bwMode="auto"/>
        <p:txBody>
          <a:bodyPr/>
          <a:lstStyle/>
          <a:p>
            <a:pPr>
              <a:defRPr/>
            </a:pPr>
            <a:endParaRPr lang="zh-CN"/>
          </a:p>
        </p:txBody>
      </p:sp>
      <p:sp>
        <p:nvSpPr>
          <p:cNvPr id="988071588" name="灯片编号占位符 3"/>
          <p:cNvSpPr>
            <a:spLocks noGrp="1"/>
          </p:cNvSpPr>
          <p:nvPr>
            <p:ph type="sldNum" sz="quarter" idx="5"/>
          </p:nvPr>
        </p:nvSpPr>
        <p:spPr bwMode="auto"/>
        <p:txBody>
          <a:bodyPr/>
          <a:lstStyle/>
          <a:p>
            <a:pPr>
              <a:defRPr/>
            </a:pPr>
            <a:fld id="{8ED84BAC-8A00-CCD6-5187-D255AB7CFEBC}" type="slidenum">
              <a:rPr lang="en-US" altLang="zh-CN"/>
              <a:t>2</a:t>
            </a:fld>
            <a:endParaRPr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87599510" name="Slide Image Placeholder 1"/>
          <p:cNvSpPr>
            <a:spLocks noGrp="1" noRot="1" noChangeAspect="1"/>
          </p:cNvSpPr>
          <p:nvPr>
            <p:ph type="sldImg"/>
          </p:nvPr>
        </p:nvSpPr>
        <p:spPr bwMode="auto"/>
      </p:sp>
      <p:sp>
        <p:nvSpPr>
          <p:cNvPr id="126227536" name="Notes Placeholder 2"/>
          <p:cNvSpPr>
            <a:spLocks noGrp="1"/>
          </p:cNvSpPr>
          <p:nvPr>
            <p:ph type="body" idx="1"/>
          </p:nvPr>
        </p:nvSpPr>
        <p:spPr bwMode="auto"/>
        <p:txBody>
          <a:bodyPr/>
          <a:lstStyle/>
          <a:p>
            <a:pPr>
              <a:defRPr/>
            </a:pPr>
            <a:endParaRPr/>
          </a:p>
        </p:txBody>
      </p:sp>
      <p:sp>
        <p:nvSpPr>
          <p:cNvPr id="191654682" name="Slide Number Placeholder 3"/>
          <p:cNvSpPr>
            <a:spLocks noGrp="1"/>
          </p:cNvSpPr>
          <p:nvPr>
            <p:ph type="sldNum" sz="quarter" idx="10"/>
          </p:nvPr>
        </p:nvSpPr>
        <p:spPr bwMode="auto"/>
        <p:txBody>
          <a:bodyPr/>
          <a:lstStyle/>
          <a:p>
            <a:pPr>
              <a:defRPr/>
            </a:pPr>
            <a:fld id="{3DF439AD-1532-D4BE-AA3F-649E35A7BA81}" type="slidenum">
              <a:r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3289208" name="Slide Image Placeholder 1"/>
          <p:cNvSpPr>
            <a:spLocks noGrp="1" noRot="1" noChangeAspect="1"/>
          </p:cNvSpPr>
          <p:nvPr>
            <p:ph type="sldImg"/>
          </p:nvPr>
        </p:nvSpPr>
        <p:spPr bwMode="auto"/>
      </p:sp>
      <p:sp>
        <p:nvSpPr>
          <p:cNvPr id="656548993" name="Notes Placeholder 2"/>
          <p:cNvSpPr>
            <a:spLocks noGrp="1"/>
          </p:cNvSpPr>
          <p:nvPr>
            <p:ph type="body" idx="1"/>
          </p:nvPr>
        </p:nvSpPr>
        <p:spPr bwMode="auto"/>
        <p:txBody>
          <a:bodyPr/>
          <a:lstStyle/>
          <a:p>
            <a:pPr>
              <a:defRPr/>
            </a:pPr>
            <a:endParaRPr/>
          </a:p>
        </p:txBody>
      </p:sp>
      <p:sp>
        <p:nvSpPr>
          <p:cNvPr id="124447491" name="Slide Number Placeholder 3"/>
          <p:cNvSpPr>
            <a:spLocks noGrp="1"/>
          </p:cNvSpPr>
          <p:nvPr>
            <p:ph type="sldNum" sz="quarter" idx="10"/>
          </p:nvPr>
        </p:nvSpPr>
        <p:spPr bwMode="auto"/>
        <p:txBody>
          <a:bodyPr/>
          <a:lstStyle/>
          <a:p>
            <a:pPr>
              <a:defRPr/>
            </a:pPr>
            <a:fld id="{9C1216B2-1FCE-83C2-918A-54B3E5B574BF}" type="slidenum">
              <a:rPr/>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46208502" name="Slide Image Placeholder 1"/>
          <p:cNvSpPr>
            <a:spLocks noGrp="1" noRot="1" noChangeAspect="1"/>
          </p:cNvSpPr>
          <p:nvPr>
            <p:ph type="sldImg"/>
          </p:nvPr>
        </p:nvSpPr>
        <p:spPr bwMode="auto"/>
      </p:sp>
      <p:sp>
        <p:nvSpPr>
          <p:cNvPr id="782602283" name="Notes Placeholder 2"/>
          <p:cNvSpPr>
            <a:spLocks noGrp="1"/>
          </p:cNvSpPr>
          <p:nvPr>
            <p:ph type="body" idx="1"/>
          </p:nvPr>
        </p:nvSpPr>
        <p:spPr bwMode="auto"/>
        <p:txBody>
          <a:bodyPr/>
          <a:lstStyle/>
          <a:p>
            <a:pPr>
              <a:defRPr/>
            </a:pPr>
            <a:endParaRPr/>
          </a:p>
        </p:txBody>
      </p:sp>
      <p:sp>
        <p:nvSpPr>
          <p:cNvPr id="1884279266" name="Slide Number Placeholder 3"/>
          <p:cNvSpPr>
            <a:spLocks noGrp="1"/>
          </p:cNvSpPr>
          <p:nvPr>
            <p:ph type="sldNum" sz="quarter" idx="10"/>
          </p:nvPr>
        </p:nvSpPr>
        <p:spPr bwMode="auto"/>
        <p:txBody>
          <a:bodyPr/>
          <a:lstStyle/>
          <a:p>
            <a:pPr>
              <a:defRPr/>
            </a:pPr>
            <a:fld id="{D00962E9-7E8E-A5B8-9DAE-FD91B41E83C1}" type="slidenum">
              <a:rPr/>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525385" name="Slide Image Placeholder 1"/>
          <p:cNvSpPr>
            <a:spLocks noGrp="1" noRot="1" noChangeAspect="1"/>
          </p:cNvSpPr>
          <p:nvPr>
            <p:ph type="sldImg"/>
          </p:nvPr>
        </p:nvSpPr>
        <p:spPr bwMode="auto"/>
      </p:sp>
      <p:sp>
        <p:nvSpPr>
          <p:cNvPr id="1964072072" name="Notes Placeholder 2"/>
          <p:cNvSpPr>
            <a:spLocks noGrp="1"/>
          </p:cNvSpPr>
          <p:nvPr>
            <p:ph type="body" idx="1"/>
          </p:nvPr>
        </p:nvSpPr>
        <p:spPr bwMode="auto"/>
        <p:txBody>
          <a:bodyPr/>
          <a:lstStyle/>
          <a:p>
            <a:pPr>
              <a:defRPr/>
            </a:pPr>
            <a:endParaRPr/>
          </a:p>
        </p:txBody>
      </p:sp>
      <p:sp>
        <p:nvSpPr>
          <p:cNvPr id="1178998006" name="Slide Number Placeholder 3"/>
          <p:cNvSpPr>
            <a:spLocks noGrp="1"/>
          </p:cNvSpPr>
          <p:nvPr>
            <p:ph type="sldNum" sz="quarter" idx="10"/>
          </p:nvPr>
        </p:nvSpPr>
        <p:spPr bwMode="auto"/>
        <p:txBody>
          <a:bodyPr/>
          <a:lstStyle/>
          <a:p>
            <a:pPr>
              <a:defRPr/>
            </a:pPr>
            <a:fld id="{D90E709C-021B-368A-F8A5-2A425421CCB9}" type="slidenum">
              <a:rPr/>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51957441" name="Slide Image Placeholder 1"/>
          <p:cNvSpPr>
            <a:spLocks noGrp="1" noRot="1" noChangeAspect="1"/>
          </p:cNvSpPr>
          <p:nvPr>
            <p:ph type="sldImg"/>
          </p:nvPr>
        </p:nvSpPr>
        <p:spPr bwMode="auto"/>
      </p:sp>
      <p:sp>
        <p:nvSpPr>
          <p:cNvPr id="384964758" name="Notes Placeholder 2"/>
          <p:cNvSpPr>
            <a:spLocks noGrp="1"/>
          </p:cNvSpPr>
          <p:nvPr>
            <p:ph type="body" idx="1"/>
          </p:nvPr>
        </p:nvSpPr>
        <p:spPr bwMode="auto"/>
        <p:txBody>
          <a:bodyPr/>
          <a:lstStyle/>
          <a:p>
            <a:pPr>
              <a:defRPr/>
            </a:pPr>
            <a:endParaRPr/>
          </a:p>
        </p:txBody>
      </p:sp>
      <p:sp>
        <p:nvSpPr>
          <p:cNvPr id="322250127" name="Slide Number Placeholder 3"/>
          <p:cNvSpPr>
            <a:spLocks noGrp="1"/>
          </p:cNvSpPr>
          <p:nvPr>
            <p:ph type="sldNum" sz="quarter" idx="10"/>
          </p:nvPr>
        </p:nvSpPr>
        <p:spPr bwMode="auto"/>
        <p:txBody>
          <a:bodyPr/>
          <a:lstStyle/>
          <a:p>
            <a:pPr>
              <a:defRPr/>
            </a:pPr>
            <a:fld id="{24BA7FBE-B4B4-F8C2-180A-0F3185B33EE3}" type="slidenum">
              <a:rPr/>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73444408" name="Slide Image Placeholder 1"/>
          <p:cNvSpPr>
            <a:spLocks noGrp="1" noRot="1" noChangeAspect="1"/>
          </p:cNvSpPr>
          <p:nvPr>
            <p:ph type="sldImg"/>
          </p:nvPr>
        </p:nvSpPr>
        <p:spPr bwMode="auto"/>
      </p:sp>
      <p:sp>
        <p:nvSpPr>
          <p:cNvPr id="1942323029" name="Notes Placeholder 2"/>
          <p:cNvSpPr>
            <a:spLocks noGrp="1"/>
          </p:cNvSpPr>
          <p:nvPr>
            <p:ph type="body" idx="1"/>
          </p:nvPr>
        </p:nvSpPr>
        <p:spPr bwMode="auto"/>
        <p:txBody>
          <a:bodyPr/>
          <a:lstStyle/>
          <a:p>
            <a:pPr>
              <a:defRPr/>
            </a:pPr>
            <a:endParaRPr lang="zh-CN" altLang="en-US"/>
          </a:p>
        </p:txBody>
      </p:sp>
      <p:sp>
        <p:nvSpPr>
          <p:cNvPr id="1093087728" name="Slide Number Placeholder 3"/>
          <p:cNvSpPr>
            <a:spLocks noGrp="1"/>
          </p:cNvSpPr>
          <p:nvPr>
            <p:ph type="sldNum" sz="quarter" idx="10"/>
          </p:nvPr>
        </p:nvSpPr>
        <p:spPr bwMode="auto"/>
        <p:txBody>
          <a:bodyPr/>
          <a:lstStyle/>
          <a:p>
            <a:pPr>
              <a:defRPr/>
            </a:pPr>
            <a:fld id="{DF02F329-A0ED-D450-C0EB-F1D2DEFB0193}" type="slidenum">
              <a:rPr/>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96947952" name="Slide Image Placeholder 1"/>
          <p:cNvSpPr>
            <a:spLocks noGrp="1" noRot="1" noChangeAspect="1"/>
          </p:cNvSpPr>
          <p:nvPr>
            <p:ph type="sldImg"/>
          </p:nvPr>
        </p:nvSpPr>
        <p:spPr bwMode="auto"/>
      </p:sp>
      <p:sp>
        <p:nvSpPr>
          <p:cNvPr id="1958404771" name="Notes Placeholder 2"/>
          <p:cNvSpPr>
            <a:spLocks noGrp="1"/>
          </p:cNvSpPr>
          <p:nvPr>
            <p:ph type="body" idx="1"/>
          </p:nvPr>
        </p:nvSpPr>
        <p:spPr bwMode="auto"/>
        <p:txBody>
          <a:bodyPr/>
          <a:lstStyle/>
          <a:p>
            <a:pPr>
              <a:defRPr/>
            </a:pPr>
            <a:endParaRPr dirty="0"/>
          </a:p>
        </p:txBody>
      </p:sp>
      <p:sp>
        <p:nvSpPr>
          <p:cNvPr id="1733232616" name="Slide Number Placeholder 3"/>
          <p:cNvSpPr>
            <a:spLocks noGrp="1"/>
          </p:cNvSpPr>
          <p:nvPr>
            <p:ph type="sldNum" sz="quarter" idx="10"/>
          </p:nvPr>
        </p:nvSpPr>
        <p:spPr bwMode="auto"/>
        <p:txBody>
          <a:bodyPr/>
          <a:lstStyle/>
          <a:p>
            <a:pPr>
              <a:defRPr/>
            </a:pPr>
            <a:fld id="{29F6FDDB-9A2F-FA5C-28E3-D0BAE92D939F}" type="slidenum">
              <a:rPr/>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6581469" name="PlaceHolder 1"/>
          <p:cNvSpPr>
            <a:spLocks noGrp="1" noRot="1" noChangeAspect="1"/>
          </p:cNvSpPr>
          <p:nvPr>
            <p:ph type="sldImg"/>
          </p:nvPr>
        </p:nvSpPr>
        <p:spPr bwMode="auto">
          <a:xfrm>
            <a:off x="1371600" y="1143000"/>
            <a:ext cx="4114800" cy="3086100"/>
          </a:xfrm>
          <a:prstGeom prst="rect">
            <a:avLst/>
          </a:prstGeom>
          <a:ln w="0">
            <a:noFill/>
          </a:ln>
        </p:spPr>
      </p:sp>
      <p:sp>
        <p:nvSpPr>
          <p:cNvPr id="1979696392" name="PlaceHolder 2"/>
          <p:cNvSpPr>
            <a:spLocks noGrp="1"/>
          </p:cNvSpPr>
          <p:nvPr>
            <p:ph type="body"/>
          </p:nvPr>
        </p:nvSpPr>
        <p:spPr bwMode="auto">
          <a:xfrm>
            <a:off x="685800" y="4400640"/>
            <a:ext cx="5486038" cy="3600000"/>
          </a:xfrm>
          <a:prstGeom prst="rect">
            <a:avLst/>
          </a:prstGeom>
          <a:noFill/>
          <a:ln w="0">
            <a:noFill/>
          </a:ln>
        </p:spPr>
        <p:txBody>
          <a:bodyPr anchor="t">
            <a:noAutofit/>
          </a:bodyPr>
          <a:lstStyle/>
          <a:p>
            <a:pPr>
              <a:defRPr/>
            </a:pPr>
            <a:endParaRPr lang="en-US" sz="2000" b="0" strike="noStrike" spc="0">
              <a:latin typeface="Arial"/>
            </a:endParaRPr>
          </a:p>
        </p:txBody>
      </p:sp>
      <p:sp>
        <p:nvSpPr>
          <p:cNvPr id="1963724217" name="PlaceHolder 3"/>
          <p:cNvSpPr>
            <a:spLocks noGrp="1"/>
          </p:cNvSpPr>
          <p:nvPr>
            <p:ph type="sldNum" idx="5"/>
          </p:nvPr>
        </p:nvSpPr>
        <p:spPr bwMode="auto">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0">
                <a:solidFill>
                  <a:srgbClr val="000000"/>
                </a:solidFill>
                <a:latin typeface="+mn-lt"/>
                <a:ea typeface="+mn-ea"/>
              </a:defRPr>
            </a:lvl1pPr>
          </a:lstStyle>
          <a:p>
            <a:pPr algn="r">
              <a:lnSpc>
                <a:spcPct val="100000"/>
              </a:lnSpc>
              <a:buNone/>
              <a:defRPr/>
            </a:pPr>
            <a:fld id="{A458626E-1F69-8BE8-CEAF-31C595F54AC5}" type="slidenum">
              <a:rPr lang="en-US" sz="1200" b="0" strike="noStrike" spc="0">
                <a:solidFill>
                  <a:srgbClr val="000000"/>
                </a:solidFill>
                <a:latin typeface="Arial"/>
                <a:ea typeface="DejaVu Sans"/>
              </a:rPr>
              <a:t>10</a:t>
            </a:fld>
            <a:endParaRPr lang="en-US" sz="1200" b="0" strike="noStrike" spc="0">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01766248" name="PlaceHolder 1"/>
          <p:cNvSpPr>
            <a:spLocks noGrp="1" noRot="1" noChangeAspect="1"/>
          </p:cNvSpPr>
          <p:nvPr>
            <p:ph type="sldImg"/>
          </p:nvPr>
        </p:nvSpPr>
        <p:spPr bwMode="auto">
          <a:xfrm>
            <a:off x="1371600" y="1143000"/>
            <a:ext cx="4114800" cy="3086100"/>
          </a:xfrm>
          <a:prstGeom prst="rect">
            <a:avLst/>
          </a:prstGeom>
          <a:ln w="0">
            <a:noFill/>
          </a:ln>
        </p:spPr>
      </p:sp>
      <p:sp>
        <p:nvSpPr>
          <p:cNvPr id="1230504244" name="PlaceHolder 2"/>
          <p:cNvSpPr>
            <a:spLocks noGrp="1"/>
          </p:cNvSpPr>
          <p:nvPr>
            <p:ph type="body"/>
          </p:nvPr>
        </p:nvSpPr>
        <p:spPr bwMode="auto">
          <a:xfrm>
            <a:off x="685800" y="4400640"/>
            <a:ext cx="5486038" cy="3600000"/>
          </a:xfrm>
          <a:prstGeom prst="rect">
            <a:avLst/>
          </a:prstGeom>
          <a:noFill/>
          <a:ln w="0">
            <a:noFill/>
          </a:ln>
        </p:spPr>
        <p:txBody>
          <a:bodyPr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zh-CN" altLang="zh-CN" sz="2000" b="1" strike="noStrike" spc="0" dirty="0">
                <a:solidFill>
                  <a:srgbClr val="1A2634"/>
                </a:solidFill>
                <a:latin typeface="Microsoft YaHei"/>
                <a:ea typeface="Microsoft YaHei"/>
              </a:rPr>
              <a:t>网络不是只看点云，也不是只看当前姿态；它把物体几何、当前噪声位姿和时间步融合后，判断下一步该如何移动与旋转夹爪。</a:t>
            </a:r>
            <a:endParaRPr lang="en-US" altLang="zh-CN" sz="2000" b="1" strike="noStrike" spc="0" dirty="0">
              <a:latin typeface="Arial"/>
            </a:endParaRPr>
          </a:p>
          <a:p>
            <a:pPr>
              <a:defRPr/>
            </a:pPr>
            <a:endParaRPr lang="en-US" sz="2000" b="0" strike="noStrike" spc="0" dirty="0">
              <a:latin typeface="Arial"/>
            </a:endParaRPr>
          </a:p>
        </p:txBody>
      </p:sp>
      <p:sp>
        <p:nvSpPr>
          <p:cNvPr id="1977218435" name="PlaceHolder 3"/>
          <p:cNvSpPr>
            <a:spLocks noGrp="1"/>
          </p:cNvSpPr>
          <p:nvPr>
            <p:ph type="sldNum" idx="6"/>
          </p:nvPr>
        </p:nvSpPr>
        <p:spPr bwMode="auto">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0">
                <a:solidFill>
                  <a:srgbClr val="000000"/>
                </a:solidFill>
                <a:latin typeface="+mn-lt"/>
                <a:ea typeface="+mn-ea"/>
              </a:defRPr>
            </a:lvl1pPr>
          </a:lstStyle>
          <a:p>
            <a:pPr algn="r">
              <a:lnSpc>
                <a:spcPct val="100000"/>
              </a:lnSpc>
              <a:buNone/>
              <a:defRPr/>
            </a:pPr>
            <a:fld id="{B668FED2-6FE6-D5A3-694F-C404ADD0DDA3}" type="slidenum">
              <a:rPr lang="en-US" sz="1200" b="0" strike="noStrike" spc="0">
                <a:solidFill>
                  <a:srgbClr val="000000"/>
                </a:solidFill>
                <a:latin typeface="Arial"/>
                <a:ea typeface="DejaVu Sans"/>
              </a:rPr>
              <a:t>11</a:t>
            </a:fld>
            <a:endParaRPr lang="en-US" sz="1200" b="0" strike="noStrike" spc="0">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44624637" name="PlaceHolder 1"/>
          <p:cNvSpPr>
            <a:spLocks noGrp="1" noRot="1" noChangeAspect="1"/>
          </p:cNvSpPr>
          <p:nvPr>
            <p:ph type="sldImg"/>
          </p:nvPr>
        </p:nvSpPr>
        <p:spPr bwMode="auto">
          <a:xfrm>
            <a:off x="1371600" y="1143000"/>
            <a:ext cx="4114800" cy="3086100"/>
          </a:xfrm>
          <a:prstGeom prst="rect">
            <a:avLst/>
          </a:prstGeom>
          <a:ln w="0">
            <a:noFill/>
          </a:ln>
        </p:spPr>
      </p:sp>
      <p:sp>
        <p:nvSpPr>
          <p:cNvPr id="1611062351" name="PlaceHolder 2"/>
          <p:cNvSpPr>
            <a:spLocks noGrp="1"/>
          </p:cNvSpPr>
          <p:nvPr>
            <p:ph type="body"/>
          </p:nvPr>
        </p:nvSpPr>
        <p:spPr bwMode="auto">
          <a:xfrm>
            <a:off x="685800" y="4400640"/>
            <a:ext cx="5486038" cy="3600000"/>
          </a:xfrm>
          <a:prstGeom prst="rect">
            <a:avLst/>
          </a:prstGeom>
          <a:noFill/>
          <a:ln w="0">
            <a:noFill/>
          </a:ln>
        </p:spPr>
        <p:txBody>
          <a:bodyPr anchor="t">
            <a:noAutofit/>
          </a:bodyPr>
          <a:lstStyle/>
          <a:p>
            <a:pPr>
              <a:defRPr/>
            </a:pPr>
            <a:endParaRPr lang="en-US" sz="2000" b="0" strike="noStrike" spc="0">
              <a:latin typeface="Arial"/>
            </a:endParaRPr>
          </a:p>
        </p:txBody>
      </p:sp>
      <p:sp>
        <p:nvSpPr>
          <p:cNvPr id="2036629343" name="PlaceHolder 3"/>
          <p:cNvSpPr>
            <a:spLocks noGrp="1"/>
          </p:cNvSpPr>
          <p:nvPr>
            <p:ph type="sldNum" idx="7"/>
          </p:nvPr>
        </p:nvSpPr>
        <p:spPr bwMode="auto">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0">
                <a:solidFill>
                  <a:srgbClr val="000000"/>
                </a:solidFill>
                <a:latin typeface="+mn-lt"/>
                <a:ea typeface="+mn-ea"/>
              </a:defRPr>
            </a:lvl1pPr>
          </a:lstStyle>
          <a:p>
            <a:pPr algn="r">
              <a:lnSpc>
                <a:spcPct val="100000"/>
              </a:lnSpc>
              <a:buNone/>
              <a:defRPr/>
            </a:pPr>
            <a:fld id="{602557AB-543B-9BBD-6B94-11885E2BBCF9}" type="slidenum">
              <a:rPr lang="en-US" sz="1200" b="0" strike="noStrike" spc="0">
                <a:solidFill>
                  <a:srgbClr val="000000"/>
                </a:solidFill>
                <a:latin typeface="Arial"/>
                <a:ea typeface="DejaVu Sans"/>
              </a:rPr>
              <a:t>12</a:t>
            </a:fld>
            <a:endParaRPr lang="en-US" sz="1200" b="0" strike="noStrike" spc="0">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2585444" name="PlaceHolder 1"/>
          <p:cNvSpPr>
            <a:spLocks noGrp="1" noRot="1" noChangeAspect="1"/>
          </p:cNvSpPr>
          <p:nvPr>
            <p:ph type="sldImg"/>
          </p:nvPr>
        </p:nvSpPr>
        <p:spPr bwMode="auto">
          <a:xfrm>
            <a:off x="1371600" y="1143000"/>
            <a:ext cx="4114800" cy="3086100"/>
          </a:xfrm>
          <a:prstGeom prst="rect">
            <a:avLst/>
          </a:prstGeom>
          <a:ln w="0">
            <a:noFill/>
          </a:ln>
        </p:spPr>
      </p:sp>
      <p:sp>
        <p:nvSpPr>
          <p:cNvPr id="537593514" name="PlaceHolder 2"/>
          <p:cNvSpPr>
            <a:spLocks noGrp="1"/>
          </p:cNvSpPr>
          <p:nvPr>
            <p:ph type="body"/>
          </p:nvPr>
        </p:nvSpPr>
        <p:spPr bwMode="auto">
          <a:xfrm>
            <a:off x="685800" y="4400640"/>
            <a:ext cx="5486038" cy="3600000"/>
          </a:xfrm>
          <a:prstGeom prst="rect">
            <a:avLst/>
          </a:prstGeom>
          <a:noFill/>
          <a:ln w="0">
            <a:noFill/>
          </a:ln>
        </p:spPr>
        <p:txBody>
          <a:bodyPr anchor="t">
            <a:noAutofit/>
          </a:bodyPr>
          <a:lstStyle/>
          <a:p>
            <a:pPr>
              <a:defRPr/>
            </a:pPr>
            <a:endParaRPr lang="en-US" sz="2000" b="0" strike="noStrike" spc="0">
              <a:latin typeface="Arial"/>
            </a:endParaRPr>
          </a:p>
        </p:txBody>
      </p:sp>
      <p:sp>
        <p:nvSpPr>
          <p:cNvPr id="1926051496" name="PlaceHolder 3"/>
          <p:cNvSpPr>
            <a:spLocks noGrp="1"/>
          </p:cNvSpPr>
          <p:nvPr>
            <p:ph type="sldNum" idx="8"/>
          </p:nvPr>
        </p:nvSpPr>
        <p:spPr bwMode="auto">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0">
                <a:solidFill>
                  <a:srgbClr val="000000"/>
                </a:solidFill>
                <a:latin typeface="+mn-lt"/>
                <a:ea typeface="+mn-ea"/>
              </a:defRPr>
            </a:lvl1pPr>
          </a:lstStyle>
          <a:p>
            <a:pPr algn="r">
              <a:lnSpc>
                <a:spcPct val="100000"/>
              </a:lnSpc>
              <a:buNone/>
              <a:defRPr/>
            </a:pPr>
            <a:fld id="{F571FE92-A641-7469-8A0E-E9043583D626}" type="slidenum">
              <a:rPr lang="en-US" sz="1200" b="0" strike="noStrike" spc="0">
                <a:solidFill>
                  <a:srgbClr val="000000"/>
                </a:solidFill>
                <a:latin typeface="Arial"/>
                <a:ea typeface="DejaVu Sans"/>
              </a:rPr>
              <a:t>13</a:t>
            </a:fld>
            <a:endParaRPr lang="en-US" sz="1200" b="0" strike="noStrike" spc="0">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58303657" name="Slide Image Placeholder 1"/>
          <p:cNvSpPr>
            <a:spLocks noGrp="1" noRot="1" noChangeAspect="1"/>
          </p:cNvSpPr>
          <p:nvPr>
            <p:ph type="sldImg"/>
          </p:nvPr>
        </p:nvSpPr>
        <p:spPr bwMode="auto"/>
      </p:sp>
      <p:sp>
        <p:nvSpPr>
          <p:cNvPr id="237301011" name="Notes Placeholder 2"/>
          <p:cNvSpPr>
            <a:spLocks noGrp="1"/>
          </p:cNvSpPr>
          <p:nvPr>
            <p:ph type="body" idx="1"/>
          </p:nvPr>
        </p:nvSpPr>
        <p:spPr bwMode="auto"/>
        <p:txBody>
          <a:bodyPr/>
          <a:lstStyle/>
          <a:p>
            <a:pPr indent="457200" algn="l">
              <a:lnSpc>
                <a:spcPct val="120000"/>
              </a:lnSpc>
              <a:spcBef>
                <a:spcPts val="0"/>
              </a:spcBef>
              <a:spcAft>
                <a:spcPts val="0"/>
              </a:spcAft>
              <a:defRPr/>
            </a:pPr>
            <a:r>
              <a:rPr lang="zh-CN" altLang="en-US" sz="1200" dirty="0"/>
              <a:t>我们使用 </a:t>
            </a:r>
            <a:r>
              <a:rPr lang="en-US" altLang="zh-CN" sz="1200" dirty="0" err="1"/>
              <a:t>PointNet</a:t>
            </a:r>
            <a:r>
              <a:rPr lang="zh-CN" altLang="en-US" sz="1200" dirty="0"/>
              <a:t> </a:t>
            </a:r>
            <a:r>
              <a:rPr lang="en-US" altLang="zh-CN" sz="1200" dirty="0"/>
              <a:t>backbone </a:t>
            </a:r>
            <a:r>
              <a:rPr lang="zh-CN" altLang="en-US" sz="1200" dirty="0"/>
              <a:t>在完整 </a:t>
            </a:r>
            <a:r>
              <a:rPr lang="en-US" altLang="zh-CN" sz="1200" dirty="0" err="1"/>
              <a:t>franka_panda</a:t>
            </a:r>
            <a:r>
              <a:rPr lang="zh-CN" altLang="en-US" sz="1200" dirty="0"/>
              <a:t> </a:t>
            </a:r>
            <a:r>
              <a:rPr lang="en-US" altLang="zh-CN" sz="1200" dirty="0"/>
              <a:t>split </a:t>
            </a:r>
            <a:r>
              <a:rPr lang="zh-CN" altLang="en-US" sz="1200" dirty="0"/>
              <a:t>上进行了一次训练，以验证自定义训练流程。受限于单张 </a:t>
            </a:r>
            <a:r>
              <a:rPr lang="en-US" altLang="zh-CN" sz="1200" dirty="0"/>
              <a:t>RTX 3060 6GB</a:t>
            </a:r>
            <a:r>
              <a:rPr lang="zh-CN" altLang="en-US" sz="1200" dirty="0"/>
              <a:t>，主要做了参数适配。</a:t>
            </a:r>
          </a:p>
          <a:p>
            <a:pPr indent="457200" algn="l">
              <a:lnSpc>
                <a:spcPct val="120000"/>
              </a:lnSpc>
              <a:spcBef>
                <a:spcPts val="0"/>
              </a:spcBef>
              <a:spcAft>
                <a:spcPts val="0"/>
              </a:spcAft>
              <a:defRPr/>
            </a:pPr>
            <a:r>
              <a:rPr lang="zh-CN" altLang="en-US" sz="1200" dirty="0"/>
              <a:t>显存不够大规模训练，因此只做了一次完整 </a:t>
            </a:r>
            <a:r>
              <a:rPr lang="en-US" altLang="zh-CN" sz="1200" dirty="0"/>
              <a:t>split </a:t>
            </a:r>
            <a:r>
              <a:rPr lang="zh-CN" altLang="en-US" sz="1200" dirty="0"/>
              <a:t>的验证训练以证明训练流程可复现。重点在于模型训练流程的工程实现和参数优化策略。后续演示和可视化统一使用官方 </a:t>
            </a:r>
            <a:r>
              <a:rPr lang="en-US" altLang="zh-CN" sz="1200" dirty="0"/>
              <a:t>Pretrained </a:t>
            </a:r>
            <a:r>
              <a:rPr lang="zh-CN" altLang="en-US" sz="1200" dirty="0"/>
              <a:t>模型。</a:t>
            </a:r>
            <a:endParaRPr lang="zh-CN" altLang="en-US" sz="900" dirty="0"/>
          </a:p>
          <a:p>
            <a:pPr>
              <a:defRPr/>
            </a:pPr>
            <a:endParaRPr dirty="0"/>
          </a:p>
        </p:txBody>
      </p:sp>
      <p:sp>
        <p:nvSpPr>
          <p:cNvPr id="1470079027" name="Slide Number Placeholder 3"/>
          <p:cNvSpPr>
            <a:spLocks noGrp="1"/>
          </p:cNvSpPr>
          <p:nvPr>
            <p:ph type="sldNum" sz="quarter" idx="10"/>
          </p:nvPr>
        </p:nvSpPr>
        <p:spPr bwMode="auto"/>
        <p:txBody>
          <a:bodyPr/>
          <a:lstStyle/>
          <a:p>
            <a:pPr>
              <a:defRPr/>
            </a:pPr>
            <a:fld id="{C40880B1-E001-1D78-9F6D-CB541187CCB4}" type="slidenum">
              <a:rPr/>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81272640" name="PlaceHolder 1"/>
          <p:cNvSpPr>
            <a:spLocks noGrp="1" noRot="1" noChangeAspect="1"/>
          </p:cNvSpPr>
          <p:nvPr>
            <p:ph type="sldImg"/>
          </p:nvPr>
        </p:nvSpPr>
        <p:spPr bwMode="auto">
          <a:xfrm>
            <a:off x="1371600" y="1143000"/>
            <a:ext cx="4114800" cy="3086100"/>
          </a:xfrm>
          <a:prstGeom prst="rect">
            <a:avLst/>
          </a:prstGeom>
          <a:ln w="0">
            <a:noFill/>
          </a:ln>
        </p:spPr>
      </p:sp>
      <p:sp>
        <p:nvSpPr>
          <p:cNvPr id="1552773843" name="PlaceHolder 2"/>
          <p:cNvSpPr>
            <a:spLocks noGrp="1"/>
          </p:cNvSpPr>
          <p:nvPr>
            <p:ph type="body"/>
          </p:nvPr>
        </p:nvSpPr>
        <p:spPr bwMode="auto">
          <a:xfrm>
            <a:off x="685800" y="4400640"/>
            <a:ext cx="5486038" cy="3600000"/>
          </a:xfrm>
          <a:prstGeom prst="rect">
            <a:avLst/>
          </a:prstGeom>
          <a:noFill/>
          <a:ln w="0">
            <a:noFill/>
          </a:ln>
        </p:spPr>
        <p:txBody>
          <a:bodyPr anchor="t">
            <a:noAutofit/>
          </a:bodyPr>
          <a:lstStyle/>
          <a:p>
            <a:pPr marL="216000" indent="-216000">
              <a:lnSpc>
                <a:spcPct val="100000"/>
              </a:lnSpc>
              <a:buNone/>
              <a:defRPr/>
            </a:pPr>
            <a:r>
              <a:rPr lang="zh-CN" sz="2000" b="0" strike="noStrike" spc="0">
                <a:latin typeface="Arial"/>
              </a:rPr>
              <a:t>第四章主要介绍预训练模型评估和参数调试。这里要先说明：我们这一步没有从零训练网络，而是加载 </a:t>
            </a:r>
            <a:r>
              <a:rPr lang="en-US" sz="2000" b="0" strike="noStrike" spc="0">
                <a:latin typeface="Arial"/>
              </a:rPr>
              <a:t>GraspGen </a:t>
            </a:r>
            <a:r>
              <a:rPr lang="zh-CN" sz="2000" b="0" strike="noStrike" spc="0">
                <a:latin typeface="Arial"/>
              </a:rPr>
              <a:t>官方的 </a:t>
            </a:r>
            <a:r>
              <a:rPr lang="en-US" sz="2000" b="0" strike="noStrike" spc="0">
                <a:latin typeface="Arial"/>
              </a:rPr>
              <a:t>robotiq_2f_140 </a:t>
            </a:r>
            <a:r>
              <a:rPr lang="zh-CN" sz="2000" b="0" strike="noStrike" spc="0">
                <a:latin typeface="Arial"/>
              </a:rPr>
              <a:t>预训练 </a:t>
            </a:r>
            <a:r>
              <a:rPr lang="en-US" sz="2000" b="0" strike="noStrike" spc="0">
                <a:latin typeface="Arial"/>
              </a:rPr>
              <a:t>generator </a:t>
            </a:r>
            <a:r>
              <a:rPr lang="zh-CN" sz="2000" b="0" strike="noStrike" spc="0">
                <a:latin typeface="Arial"/>
              </a:rPr>
              <a:t>和 </a:t>
            </a:r>
            <a:r>
              <a:rPr lang="en-US" sz="2000" b="0" strike="noStrike" spc="0">
                <a:latin typeface="Arial"/>
              </a:rPr>
              <a:t>discriminator</a:t>
            </a:r>
            <a:r>
              <a:rPr lang="zh-CN" sz="2000" b="0" strike="noStrike" spc="0">
                <a:latin typeface="Arial"/>
              </a:rPr>
              <a:t>，在官方小样本点云上测试模型的推理效果。整体流程是先输入局部点云，生成候选六自由度抓取，然后由判别器给每个抓取打分，再做阈值筛选、</a:t>
            </a:r>
            <a:r>
              <a:rPr lang="en-US" sz="2000" b="0" strike="noStrike" spc="0">
                <a:latin typeface="Arial"/>
              </a:rPr>
              <a:t>NMS </a:t>
            </a:r>
            <a:r>
              <a:rPr lang="zh-CN" sz="2000" b="0" strike="noStrike" spc="0">
                <a:latin typeface="Arial"/>
              </a:rPr>
              <a:t>去重和碰撞过滤，最后与官方 </a:t>
            </a:r>
            <a:r>
              <a:rPr lang="en-US" sz="2000" b="0" strike="noStrike" spc="0">
                <a:latin typeface="Arial"/>
              </a:rPr>
              <a:t>GT </a:t>
            </a:r>
            <a:r>
              <a:rPr lang="zh-CN" sz="2000" b="0" strike="noStrike" spc="0">
                <a:latin typeface="Arial"/>
              </a:rPr>
              <a:t>抓取标注匹配，统计 </a:t>
            </a:r>
            <a:r>
              <a:rPr lang="en-US" sz="2000" b="0" strike="noStrike" spc="0">
                <a:latin typeface="Arial"/>
              </a:rPr>
              <a:t>Recall</a:t>
            </a:r>
            <a:r>
              <a:rPr lang="zh-CN" sz="2000" b="0" strike="noStrike" spc="0">
                <a:latin typeface="Arial"/>
              </a:rPr>
              <a:t>、</a:t>
            </a:r>
            <a:r>
              <a:rPr lang="en-US" sz="2000" b="0" strike="noStrike" spc="0">
                <a:latin typeface="Arial"/>
              </a:rPr>
              <a:t>Precision</a:t>
            </a:r>
            <a:r>
              <a:rPr lang="zh-CN" sz="2000" b="0" strike="noStrike" spc="0">
                <a:latin typeface="Arial"/>
              </a:rPr>
              <a:t>、</a:t>
            </a:r>
            <a:r>
              <a:rPr lang="en-US" sz="2000" b="0" strike="noStrike" spc="0">
                <a:latin typeface="Arial"/>
              </a:rPr>
              <a:t>ADD-S </a:t>
            </a:r>
            <a:r>
              <a:rPr lang="zh-CN" sz="2000" b="0" strike="noStrike" spc="0">
                <a:latin typeface="Arial"/>
              </a:rPr>
              <a:t>和 </a:t>
            </a:r>
            <a:r>
              <a:rPr lang="en-US" sz="2000" b="0" strike="noStrike" spc="0">
                <a:latin typeface="Arial"/>
              </a:rPr>
              <a:t>collision-free rate</a:t>
            </a:r>
            <a:r>
              <a:rPr lang="zh-CN" sz="2000" b="0" strike="noStrike" spc="0">
                <a:latin typeface="Arial"/>
              </a:rPr>
              <a:t>。</a:t>
            </a:r>
            <a:endParaRPr lang="en-US" sz="2000" b="0" strike="noStrike" spc="0">
              <a:latin typeface="Arial"/>
            </a:endParaRPr>
          </a:p>
        </p:txBody>
      </p:sp>
      <p:sp>
        <p:nvSpPr>
          <p:cNvPr id="281714962" name="PlaceHolder 3"/>
          <p:cNvSpPr>
            <a:spLocks noGrp="1"/>
          </p:cNvSpPr>
          <p:nvPr>
            <p:ph type="sldNum" idx="4"/>
          </p:nvPr>
        </p:nvSpPr>
        <p:spPr bwMode="auto">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0">
                <a:solidFill>
                  <a:srgbClr val="000000"/>
                </a:solidFill>
                <a:latin typeface="+mn-lt"/>
                <a:ea typeface="+mn-ea"/>
              </a:defRPr>
            </a:lvl1pPr>
          </a:lstStyle>
          <a:p>
            <a:pPr algn="r">
              <a:lnSpc>
                <a:spcPct val="100000"/>
              </a:lnSpc>
              <a:buNone/>
              <a:defRPr/>
            </a:pPr>
            <a:fld id="{B5A0D1A3-5249-910F-72F4-D3DDE93597DE}" type="slidenum">
              <a:rPr lang="en-US" sz="1200" b="0" strike="noStrike" spc="0">
                <a:solidFill>
                  <a:srgbClr val="000000"/>
                </a:solidFill>
                <a:latin typeface="Arial"/>
                <a:ea typeface="DejaVu Sans"/>
              </a:rPr>
              <a:t>15</a:t>
            </a:fld>
            <a:endParaRPr lang="en-US" sz="1200" b="0" strike="noStrike" spc="0">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69955905" name="PlaceHolder 1"/>
          <p:cNvSpPr>
            <a:spLocks noGrp="1" noRot="1" noChangeAspect="1"/>
          </p:cNvSpPr>
          <p:nvPr>
            <p:ph type="sldImg"/>
          </p:nvPr>
        </p:nvSpPr>
        <p:spPr bwMode="auto">
          <a:xfrm>
            <a:off x="1371600" y="1143000"/>
            <a:ext cx="4114800" cy="3086100"/>
          </a:xfrm>
          <a:prstGeom prst="rect">
            <a:avLst/>
          </a:prstGeom>
          <a:ln w="0">
            <a:noFill/>
          </a:ln>
        </p:spPr>
      </p:sp>
      <p:sp>
        <p:nvSpPr>
          <p:cNvPr id="1387311000" name="PlaceHolder 2"/>
          <p:cNvSpPr>
            <a:spLocks noGrp="1"/>
          </p:cNvSpPr>
          <p:nvPr>
            <p:ph type="body"/>
          </p:nvPr>
        </p:nvSpPr>
        <p:spPr bwMode="auto">
          <a:xfrm>
            <a:off x="685800" y="4400640"/>
            <a:ext cx="5486038" cy="3600000"/>
          </a:xfrm>
          <a:prstGeom prst="rect">
            <a:avLst/>
          </a:prstGeom>
          <a:noFill/>
          <a:ln w="0">
            <a:noFill/>
          </a:ln>
        </p:spPr>
        <p:txBody>
          <a:bodyPr anchor="t">
            <a:noAutofit/>
          </a:bodyPr>
          <a:lstStyle/>
          <a:p>
            <a:pPr marL="216000" indent="-216000">
              <a:lnSpc>
                <a:spcPct val="100000"/>
              </a:lnSpc>
              <a:buNone/>
              <a:defRPr/>
            </a:pPr>
            <a:r>
              <a:rPr lang="zh-CN" sz="2000" b="0" strike="noStrike" spc="0">
                <a:latin typeface="Arial"/>
              </a:rPr>
              <a:t>第二页是综合指标。</a:t>
            </a:r>
            <a:r>
              <a:rPr lang="en-US" sz="2000" b="0" strike="noStrike" spc="0">
                <a:latin typeface="Arial"/>
              </a:rPr>
              <a:t>Recall@2cm </a:t>
            </a:r>
            <a:r>
              <a:rPr lang="zh-CN" sz="2000" b="0" strike="noStrike" spc="0">
                <a:latin typeface="Arial"/>
              </a:rPr>
              <a:t>和 </a:t>
            </a:r>
            <a:r>
              <a:rPr lang="en-US" sz="2000" b="0" strike="noStrike" spc="0">
                <a:latin typeface="Arial"/>
              </a:rPr>
              <a:t>Recall@5cm </a:t>
            </a:r>
            <a:r>
              <a:rPr lang="zh-CN" sz="2000" b="0" strike="noStrike" spc="0">
                <a:latin typeface="Arial"/>
              </a:rPr>
              <a:t>表示预测抓取中心能否覆盖官方 </a:t>
            </a:r>
            <a:r>
              <a:rPr lang="en-US" sz="2000" b="0" strike="noStrike" spc="0">
                <a:latin typeface="Arial"/>
              </a:rPr>
              <a:t>GT </a:t>
            </a:r>
            <a:r>
              <a:rPr lang="zh-CN" sz="2000" b="0" strike="noStrike" spc="0">
                <a:latin typeface="Arial"/>
              </a:rPr>
              <a:t>抓取，其中 </a:t>
            </a:r>
            <a:r>
              <a:rPr lang="en-US" sz="2000" b="0" strike="noStrike" spc="0">
                <a:latin typeface="Arial"/>
              </a:rPr>
              <a:t>5cm </a:t>
            </a:r>
            <a:r>
              <a:rPr lang="zh-CN" sz="2000" b="0" strike="noStrike" spc="0">
                <a:latin typeface="Arial"/>
              </a:rPr>
              <a:t>阈值更宽松，所以通常会更高。</a:t>
            </a:r>
            <a:r>
              <a:rPr lang="en-US" sz="2000" b="0" strike="noStrike" spc="0">
                <a:latin typeface="Arial"/>
              </a:rPr>
              <a:t>Precision@2cm/30deg </a:t>
            </a:r>
            <a:r>
              <a:rPr lang="zh-CN" sz="2000" b="0" strike="noStrike" spc="0">
                <a:latin typeface="Arial"/>
              </a:rPr>
              <a:t>要求预测抓取同时满足平移误差小于 </a:t>
            </a:r>
            <a:r>
              <a:rPr lang="en-US" sz="2000" b="0" strike="noStrike" spc="0">
                <a:latin typeface="Arial"/>
              </a:rPr>
              <a:t>2cm</a:t>
            </a:r>
            <a:r>
              <a:rPr lang="zh-CN" sz="2000" b="0" strike="noStrike" spc="0">
                <a:latin typeface="Arial"/>
              </a:rPr>
              <a:t>、旋转误差小于 </a:t>
            </a:r>
            <a:r>
              <a:rPr lang="en-US" sz="2000" b="0" strike="noStrike" spc="0">
                <a:latin typeface="Arial"/>
              </a:rPr>
              <a:t>30 </a:t>
            </a:r>
            <a:r>
              <a:rPr lang="zh-CN" sz="2000" b="0" strike="noStrike" spc="0">
                <a:latin typeface="Arial"/>
              </a:rPr>
              <a:t>度，因此更严格。</a:t>
            </a:r>
            <a:r>
              <a:rPr lang="en-US" sz="2000" b="0" strike="noStrike" spc="0">
                <a:latin typeface="Arial"/>
              </a:rPr>
              <a:t>Collision-free rate </a:t>
            </a:r>
            <a:r>
              <a:rPr lang="zh-CN" sz="2000" b="0" strike="noStrike" spc="0">
                <a:latin typeface="Arial"/>
              </a:rPr>
              <a:t>表示碰撞检测后保留下来的有效抓取比例。这个图想说明，模型不仅要能生成抓取，还要看这些抓取是否接近 </a:t>
            </a:r>
            <a:r>
              <a:rPr lang="en-US" sz="2000" b="0" strike="noStrike" spc="0">
                <a:latin typeface="Arial"/>
              </a:rPr>
              <a:t>GT</a:t>
            </a:r>
            <a:r>
              <a:rPr lang="zh-CN" sz="2000" b="0" strike="noStrike" spc="0">
                <a:latin typeface="Arial"/>
              </a:rPr>
              <a:t>、是否不会碰撞。</a:t>
            </a:r>
            <a:endParaRPr lang="en-US" sz="2000" b="0" strike="noStrike" spc="0">
              <a:latin typeface="Arial"/>
            </a:endParaRPr>
          </a:p>
        </p:txBody>
      </p:sp>
      <p:sp>
        <p:nvSpPr>
          <p:cNvPr id="117683157" name="PlaceHolder 3"/>
          <p:cNvSpPr>
            <a:spLocks noGrp="1"/>
          </p:cNvSpPr>
          <p:nvPr>
            <p:ph type="sldNum" idx="5"/>
          </p:nvPr>
        </p:nvSpPr>
        <p:spPr bwMode="auto">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0">
                <a:solidFill>
                  <a:srgbClr val="000000"/>
                </a:solidFill>
                <a:latin typeface="+mn-lt"/>
                <a:ea typeface="+mn-ea"/>
              </a:defRPr>
            </a:lvl1pPr>
          </a:lstStyle>
          <a:p>
            <a:pPr algn="r">
              <a:lnSpc>
                <a:spcPct val="100000"/>
              </a:lnSpc>
              <a:buNone/>
              <a:defRPr/>
            </a:pPr>
            <a:fld id="{5E711C3F-F63D-0FE5-8210-1A5B91277535}" type="slidenum">
              <a:rPr lang="en-US" sz="1200" b="0" strike="noStrike" spc="0">
                <a:solidFill>
                  <a:srgbClr val="000000"/>
                </a:solidFill>
                <a:latin typeface="Arial"/>
                <a:ea typeface="DejaVu Sans"/>
              </a:rPr>
              <a:t>16</a:t>
            </a:fld>
            <a:endParaRPr lang="en-US" sz="1200" b="0" strike="noStrike" spc="0">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63349306" name="PlaceHolder 1"/>
          <p:cNvSpPr>
            <a:spLocks noGrp="1" noRot="1" noChangeAspect="1"/>
          </p:cNvSpPr>
          <p:nvPr>
            <p:ph type="sldImg"/>
          </p:nvPr>
        </p:nvSpPr>
        <p:spPr bwMode="auto">
          <a:xfrm>
            <a:off x="1371600" y="1143000"/>
            <a:ext cx="4114800" cy="3086100"/>
          </a:xfrm>
          <a:prstGeom prst="rect">
            <a:avLst/>
          </a:prstGeom>
          <a:ln w="0">
            <a:noFill/>
          </a:ln>
        </p:spPr>
      </p:sp>
      <p:sp>
        <p:nvSpPr>
          <p:cNvPr id="281303672" name="PlaceHolder 2"/>
          <p:cNvSpPr>
            <a:spLocks noGrp="1"/>
          </p:cNvSpPr>
          <p:nvPr>
            <p:ph type="body"/>
          </p:nvPr>
        </p:nvSpPr>
        <p:spPr bwMode="auto">
          <a:xfrm>
            <a:off x="685800" y="4400640"/>
            <a:ext cx="5486038" cy="3600000"/>
          </a:xfrm>
          <a:prstGeom prst="rect">
            <a:avLst/>
          </a:prstGeom>
          <a:noFill/>
          <a:ln w="0">
            <a:noFill/>
          </a:ln>
        </p:spPr>
        <p:txBody>
          <a:bodyPr anchor="t">
            <a:noAutofit/>
          </a:bodyPr>
          <a:lstStyle/>
          <a:p>
            <a:pPr marL="216000" indent="-216000">
              <a:lnSpc>
                <a:spcPct val="100000"/>
              </a:lnSpc>
              <a:buNone/>
              <a:defRPr/>
            </a:pPr>
            <a:r>
              <a:rPr lang="zh-CN" sz="2000" b="0" strike="noStrike" spc="0">
                <a:latin typeface="Arial"/>
              </a:rPr>
              <a:t>第三页是 </a:t>
            </a:r>
            <a:r>
              <a:rPr lang="en-US" sz="2000" b="0" strike="noStrike" spc="0">
                <a:latin typeface="Arial"/>
              </a:rPr>
              <a:t>ADD-S </a:t>
            </a:r>
            <a:r>
              <a:rPr lang="zh-CN" sz="2000" b="0" strike="noStrike" spc="0">
                <a:latin typeface="Arial"/>
              </a:rPr>
              <a:t>抓取集合距离。这个指标比只看夹爪中心点更严格，因为它使用夹爪上的控制点来计算预测位姿和 </a:t>
            </a:r>
            <a:r>
              <a:rPr lang="en-US" sz="2000" b="0" strike="noStrike" spc="0">
                <a:latin typeface="Arial"/>
              </a:rPr>
              <a:t>GT </a:t>
            </a:r>
            <a:r>
              <a:rPr lang="zh-CN" sz="2000" b="0" strike="noStrike" spc="0">
                <a:latin typeface="Arial"/>
              </a:rPr>
              <a:t>位姿之间的几何距离。红色的 </a:t>
            </a:r>
            <a:r>
              <a:rPr lang="en-US" sz="2000" b="0" strike="noStrike" spc="0">
                <a:latin typeface="Arial"/>
              </a:rPr>
              <a:t>Pred </a:t>
            </a:r>
            <a:r>
              <a:rPr lang="zh-CN" sz="2000" b="0" strike="noStrike" spc="0">
                <a:latin typeface="Arial"/>
              </a:rPr>
              <a:t>到 </a:t>
            </a:r>
            <a:r>
              <a:rPr lang="en-US" sz="2000" b="0" strike="noStrike" spc="0">
                <a:latin typeface="Arial"/>
              </a:rPr>
              <a:t>GT </a:t>
            </a:r>
            <a:r>
              <a:rPr lang="zh-CN" sz="2000" b="0" strike="noStrike" spc="0">
                <a:latin typeface="Arial"/>
              </a:rPr>
              <a:t>表示每个预测 </a:t>
            </a:r>
            <a:r>
              <a:rPr lang="en-US" sz="2000" b="0" strike="noStrike" spc="0">
                <a:latin typeface="Arial"/>
              </a:rPr>
              <a:t>grasp </a:t>
            </a:r>
            <a:r>
              <a:rPr lang="zh-CN" sz="2000" b="0" strike="noStrike" spc="0">
                <a:latin typeface="Arial"/>
              </a:rPr>
              <a:t>到最近 </a:t>
            </a:r>
            <a:r>
              <a:rPr lang="en-US" sz="2000" b="0" strike="noStrike" spc="0">
                <a:latin typeface="Arial"/>
              </a:rPr>
              <a:t>GT grasp </a:t>
            </a:r>
            <a:r>
              <a:rPr lang="zh-CN" sz="2000" b="0" strike="noStrike" spc="0">
                <a:latin typeface="Arial"/>
              </a:rPr>
              <a:t>的平均控制点距离；蓝色的 </a:t>
            </a:r>
            <a:r>
              <a:rPr lang="en-US" sz="2000" b="0" strike="noStrike" spc="0">
                <a:latin typeface="Arial"/>
              </a:rPr>
              <a:t>GT </a:t>
            </a:r>
            <a:r>
              <a:rPr lang="zh-CN" sz="2000" b="0" strike="noStrike" spc="0">
                <a:latin typeface="Arial"/>
              </a:rPr>
              <a:t>到 </a:t>
            </a:r>
            <a:r>
              <a:rPr lang="en-US" sz="2000" b="0" strike="noStrike" spc="0">
                <a:latin typeface="Arial"/>
              </a:rPr>
              <a:t>Pred </a:t>
            </a:r>
            <a:r>
              <a:rPr lang="zh-CN" sz="2000" b="0" strike="noStrike" spc="0">
                <a:latin typeface="Arial"/>
              </a:rPr>
              <a:t>表示 </a:t>
            </a:r>
            <a:r>
              <a:rPr lang="en-US" sz="2000" b="0" strike="noStrike" spc="0">
                <a:latin typeface="Arial"/>
              </a:rPr>
              <a:t>GT grasp </a:t>
            </a:r>
            <a:r>
              <a:rPr lang="zh-CN" sz="2000" b="0" strike="noStrike" spc="0">
                <a:latin typeface="Arial"/>
              </a:rPr>
              <a:t>到最近预测 </a:t>
            </a:r>
            <a:r>
              <a:rPr lang="en-US" sz="2000" b="0" strike="noStrike" spc="0">
                <a:latin typeface="Arial"/>
              </a:rPr>
              <a:t>grasp </a:t>
            </a:r>
            <a:r>
              <a:rPr lang="zh-CN" sz="2000" b="0" strike="noStrike" spc="0">
                <a:latin typeface="Arial"/>
              </a:rPr>
              <a:t>的距离。数值单位是毫米，越低说明预测抓取集合和官方 </a:t>
            </a:r>
            <a:r>
              <a:rPr lang="en-US" sz="2000" b="0" strike="noStrike" spc="0">
                <a:latin typeface="Arial"/>
              </a:rPr>
              <a:t>GT </a:t>
            </a:r>
            <a:r>
              <a:rPr lang="zh-CN" sz="2000" b="0" strike="noStrike" spc="0">
                <a:latin typeface="Arial"/>
              </a:rPr>
              <a:t>抓取集合越接近。</a:t>
            </a:r>
            <a:endParaRPr lang="en-US" sz="2000" b="0" strike="noStrike" spc="0">
              <a:latin typeface="Arial"/>
            </a:endParaRPr>
          </a:p>
        </p:txBody>
      </p:sp>
      <p:sp>
        <p:nvSpPr>
          <p:cNvPr id="1732687332" name="PlaceHolder 3"/>
          <p:cNvSpPr>
            <a:spLocks noGrp="1"/>
          </p:cNvSpPr>
          <p:nvPr>
            <p:ph type="sldNum" idx="6"/>
          </p:nvPr>
        </p:nvSpPr>
        <p:spPr bwMode="auto">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0">
                <a:solidFill>
                  <a:srgbClr val="000000"/>
                </a:solidFill>
                <a:latin typeface="+mn-lt"/>
                <a:ea typeface="+mn-ea"/>
              </a:defRPr>
            </a:lvl1pPr>
          </a:lstStyle>
          <a:p>
            <a:pPr algn="r">
              <a:lnSpc>
                <a:spcPct val="100000"/>
              </a:lnSpc>
              <a:buNone/>
              <a:defRPr/>
            </a:pPr>
            <a:fld id="{32193527-B530-5B8D-DDE5-CFC7E9D66015}" type="slidenum">
              <a:rPr lang="en-US" sz="1200" b="0" strike="noStrike" spc="0">
                <a:solidFill>
                  <a:srgbClr val="000000"/>
                </a:solidFill>
                <a:latin typeface="Arial"/>
                <a:ea typeface="DejaVu Sans"/>
              </a:rPr>
              <a:t>17</a:t>
            </a:fld>
            <a:endParaRPr lang="en-US" sz="1200" b="0" strike="noStrike" spc="0">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93586160" name="PlaceHolder 1"/>
          <p:cNvSpPr>
            <a:spLocks noGrp="1" noRot="1" noChangeAspect="1"/>
          </p:cNvSpPr>
          <p:nvPr>
            <p:ph type="sldImg"/>
          </p:nvPr>
        </p:nvSpPr>
        <p:spPr bwMode="auto">
          <a:xfrm>
            <a:off x="1371600" y="1143000"/>
            <a:ext cx="4114800" cy="3086100"/>
          </a:xfrm>
          <a:prstGeom prst="rect">
            <a:avLst/>
          </a:prstGeom>
          <a:ln w="0">
            <a:noFill/>
          </a:ln>
        </p:spPr>
      </p:sp>
      <p:sp>
        <p:nvSpPr>
          <p:cNvPr id="203774049" name="PlaceHolder 2"/>
          <p:cNvSpPr>
            <a:spLocks noGrp="1"/>
          </p:cNvSpPr>
          <p:nvPr>
            <p:ph type="body"/>
          </p:nvPr>
        </p:nvSpPr>
        <p:spPr bwMode="auto">
          <a:xfrm>
            <a:off x="685800" y="4400640"/>
            <a:ext cx="5486038" cy="3600000"/>
          </a:xfrm>
          <a:prstGeom prst="rect">
            <a:avLst/>
          </a:prstGeom>
          <a:noFill/>
          <a:ln w="0">
            <a:noFill/>
          </a:ln>
        </p:spPr>
        <p:txBody>
          <a:bodyPr anchor="t">
            <a:noAutofit/>
          </a:bodyPr>
          <a:lstStyle/>
          <a:p>
            <a:pPr marL="216000" indent="-216000">
              <a:lnSpc>
                <a:spcPct val="100000"/>
              </a:lnSpc>
              <a:buNone/>
              <a:defRPr/>
            </a:pPr>
            <a:r>
              <a:rPr lang="zh-CN" sz="2000" b="0" strike="noStrike" spc="0">
                <a:latin typeface="Arial"/>
              </a:rPr>
              <a:t>第四页是抓取可行性评分分析。左图是不同 </a:t>
            </a:r>
            <a:r>
              <a:rPr lang="en-US" sz="2000" b="0" strike="noStrike" spc="0">
                <a:latin typeface="Arial"/>
              </a:rPr>
              <a:t>score threshold </a:t>
            </a:r>
            <a:r>
              <a:rPr lang="zh-CN" sz="2000" b="0" strike="noStrike" spc="0">
                <a:latin typeface="Arial"/>
              </a:rPr>
              <a:t>下的 </a:t>
            </a:r>
            <a:r>
              <a:rPr lang="en-US" sz="2000" b="0" strike="noStrike" spc="0">
                <a:latin typeface="Arial"/>
              </a:rPr>
              <a:t>Precision </a:t>
            </a:r>
            <a:r>
              <a:rPr lang="zh-CN" sz="2000" b="0" strike="noStrike" spc="0">
                <a:latin typeface="Arial"/>
              </a:rPr>
              <a:t>和 </a:t>
            </a:r>
            <a:r>
              <a:rPr lang="en-US" sz="2000" b="0" strike="noStrike" spc="0">
                <a:latin typeface="Arial"/>
              </a:rPr>
              <a:t>Recall</a:t>
            </a:r>
            <a:r>
              <a:rPr lang="zh-CN" sz="2000" b="0" strike="noStrike" spc="0">
                <a:latin typeface="Arial"/>
              </a:rPr>
              <a:t>，用来观察阈值变化对筛选结果的影响。右图是 </a:t>
            </a:r>
            <a:r>
              <a:rPr lang="en-US" sz="2000" b="0" strike="noStrike" spc="0">
                <a:latin typeface="Arial"/>
              </a:rPr>
              <a:t>score </a:t>
            </a:r>
            <a:r>
              <a:rPr lang="zh-CN" sz="2000" b="0" strike="noStrike" spc="0">
                <a:latin typeface="Arial"/>
              </a:rPr>
              <a:t>分布，其中绿色表示与 </a:t>
            </a:r>
            <a:r>
              <a:rPr lang="en-US" sz="2000" b="0" strike="noStrike" spc="0">
                <a:latin typeface="Arial"/>
              </a:rPr>
              <a:t>GT </a:t>
            </a:r>
            <a:r>
              <a:rPr lang="zh-CN" sz="2000" b="0" strike="noStrike" spc="0">
                <a:latin typeface="Arial"/>
              </a:rPr>
              <a:t>匹配的预测抓取，灰色表示未匹配或低质量抓取。这里想说明，</a:t>
            </a:r>
            <a:r>
              <a:rPr lang="en-US" sz="2000" b="0" strike="noStrike" spc="0">
                <a:latin typeface="Arial"/>
              </a:rPr>
              <a:t>GraspGen </a:t>
            </a:r>
            <a:r>
              <a:rPr lang="zh-CN" sz="2000" b="0" strike="noStrike" spc="0">
                <a:latin typeface="Arial"/>
              </a:rPr>
              <a:t>的 </a:t>
            </a:r>
            <a:r>
              <a:rPr lang="en-US" sz="2000" b="0" strike="noStrike" spc="0">
                <a:latin typeface="Arial"/>
              </a:rPr>
              <a:t>discriminator </a:t>
            </a:r>
            <a:r>
              <a:rPr lang="zh-CN" sz="2000" b="0" strike="noStrike" spc="0">
                <a:latin typeface="Arial"/>
              </a:rPr>
              <a:t>会给每个候选抓取输出 </a:t>
            </a:r>
            <a:r>
              <a:rPr lang="en-US" sz="2000" b="0" strike="noStrike" spc="0">
                <a:latin typeface="Arial"/>
              </a:rPr>
              <a:t>score</a:t>
            </a:r>
            <a:r>
              <a:rPr lang="zh-CN" sz="2000" b="0" strike="noStrike" spc="0">
                <a:latin typeface="Arial"/>
              </a:rPr>
              <a:t>，我们可以通过调节阈值决定保留多少抓取；如果高分区域中匹配 </a:t>
            </a:r>
            <a:r>
              <a:rPr lang="en-US" sz="2000" b="0" strike="noStrike" spc="0">
                <a:latin typeface="Arial"/>
              </a:rPr>
              <a:t>GT </a:t>
            </a:r>
            <a:r>
              <a:rPr lang="zh-CN" sz="2000" b="0" strike="noStrike" spc="0">
                <a:latin typeface="Arial"/>
              </a:rPr>
              <a:t>的结果更多，说明这个 </a:t>
            </a:r>
            <a:r>
              <a:rPr lang="en-US" sz="2000" b="0" strike="noStrike" spc="0">
                <a:latin typeface="Arial"/>
              </a:rPr>
              <a:t>score </a:t>
            </a:r>
            <a:r>
              <a:rPr lang="zh-CN" sz="2000" b="0" strike="noStrike" spc="0">
                <a:latin typeface="Arial"/>
              </a:rPr>
              <a:t>对抓取质量有一定区分能力。</a:t>
            </a:r>
            <a:endParaRPr lang="en-US" sz="2000" b="0" strike="noStrike" spc="0">
              <a:latin typeface="Arial"/>
            </a:endParaRPr>
          </a:p>
        </p:txBody>
      </p:sp>
      <p:sp>
        <p:nvSpPr>
          <p:cNvPr id="1643405942" name="PlaceHolder 3"/>
          <p:cNvSpPr>
            <a:spLocks noGrp="1"/>
          </p:cNvSpPr>
          <p:nvPr>
            <p:ph type="sldNum" idx="7"/>
          </p:nvPr>
        </p:nvSpPr>
        <p:spPr bwMode="auto">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0">
                <a:solidFill>
                  <a:srgbClr val="000000"/>
                </a:solidFill>
                <a:latin typeface="+mn-lt"/>
                <a:ea typeface="+mn-ea"/>
              </a:defRPr>
            </a:lvl1pPr>
          </a:lstStyle>
          <a:p>
            <a:pPr algn="r">
              <a:lnSpc>
                <a:spcPct val="100000"/>
              </a:lnSpc>
              <a:buNone/>
              <a:defRPr/>
            </a:pPr>
            <a:fld id="{CB6BCF88-A958-3497-E862-20C4DBDA04A2}" type="slidenum">
              <a:rPr lang="en-US" sz="1200" b="0" strike="noStrike" spc="0">
                <a:solidFill>
                  <a:srgbClr val="000000"/>
                </a:solidFill>
                <a:latin typeface="Arial"/>
                <a:ea typeface="DejaVu Sans"/>
              </a:rPr>
              <a:t>18</a:t>
            </a:fld>
            <a:endParaRPr lang="en-US" sz="1200" b="0" strike="noStrike" spc="0">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6003340" name="PlaceHolder 1"/>
          <p:cNvSpPr>
            <a:spLocks noGrp="1" noRot="1" noChangeAspect="1"/>
          </p:cNvSpPr>
          <p:nvPr>
            <p:ph type="sldImg"/>
          </p:nvPr>
        </p:nvSpPr>
        <p:spPr bwMode="auto">
          <a:xfrm>
            <a:off x="685800" y="1143000"/>
            <a:ext cx="5486038" cy="3085920"/>
          </a:xfrm>
          <a:prstGeom prst="rect">
            <a:avLst/>
          </a:prstGeom>
          <a:ln w="0">
            <a:noFill/>
          </a:ln>
        </p:spPr>
      </p:sp>
      <p:sp>
        <p:nvSpPr>
          <p:cNvPr id="1307556585" name="PlaceHolder 2"/>
          <p:cNvSpPr>
            <a:spLocks noGrp="1"/>
          </p:cNvSpPr>
          <p:nvPr>
            <p:ph type="body"/>
          </p:nvPr>
        </p:nvSpPr>
        <p:spPr bwMode="auto">
          <a:xfrm>
            <a:off x="685800" y="4400640"/>
            <a:ext cx="5486038" cy="3600000"/>
          </a:xfrm>
          <a:prstGeom prst="rect">
            <a:avLst/>
          </a:prstGeom>
          <a:noFill/>
          <a:ln w="0">
            <a:noFill/>
          </a:ln>
        </p:spPr>
        <p:txBody>
          <a:bodyPr anchor="t">
            <a:noAutofit/>
          </a:bodyPr>
          <a:lstStyle/>
          <a:p>
            <a:pPr marL="216000" indent="-216000">
              <a:lnSpc>
                <a:spcPct val="100000"/>
              </a:lnSpc>
              <a:buNone/>
              <a:defRPr/>
            </a:pPr>
            <a:r>
              <a:rPr lang="zh-CN" sz="2000" b="0" strike="noStrike" spc="0">
                <a:latin typeface="Arial"/>
              </a:rPr>
              <a:t>第五页是最直观的三维可视化。灰色点表示输入物体点云，绿色线段表示官方 </a:t>
            </a:r>
            <a:r>
              <a:rPr lang="en-US" sz="2000" b="0" strike="noStrike" spc="0">
                <a:latin typeface="Arial"/>
              </a:rPr>
              <a:t>GT </a:t>
            </a:r>
            <a:r>
              <a:rPr lang="zh-CN" sz="2000" b="0" strike="noStrike" spc="0">
                <a:latin typeface="Arial"/>
              </a:rPr>
              <a:t>可行抓取，彩色线段表示预训练模型预测出的 </a:t>
            </a:r>
            <a:r>
              <a:rPr lang="en-US" sz="2000" b="0" strike="noStrike" spc="0">
                <a:latin typeface="Arial"/>
              </a:rPr>
              <a:t>Top grasp</a:t>
            </a:r>
            <a:r>
              <a:rPr lang="zh-CN" sz="2000" b="0" strike="noStrike" spc="0">
                <a:latin typeface="Arial"/>
              </a:rPr>
              <a:t>，颜色代表 </a:t>
            </a:r>
            <a:r>
              <a:rPr lang="en-US" sz="2000" b="0" strike="noStrike" spc="0">
                <a:latin typeface="Arial"/>
              </a:rPr>
              <a:t>score</a:t>
            </a:r>
            <a:r>
              <a:rPr lang="zh-CN" sz="2000" b="0" strike="noStrike" spc="0">
                <a:latin typeface="Arial"/>
              </a:rPr>
              <a:t>。通过这组图，我们可以直接观察预测抓取是否分布在物体点云附近，方向是否大致合理。相比只看数值指标，可视化更容易发现抓取是否偏离点云，或者是否只在某些区域集中。</a:t>
            </a:r>
            <a:endParaRPr lang="en-US" sz="2000" b="0" strike="noStrike" spc="0">
              <a:latin typeface="Arial"/>
            </a:endParaRPr>
          </a:p>
        </p:txBody>
      </p:sp>
      <p:sp>
        <p:nvSpPr>
          <p:cNvPr id="190847001" name="PlaceHolder 3"/>
          <p:cNvSpPr>
            <a:spLocks noGrp="1"/>
          </p:cNvSpPr>
          <p:nvPr>
            <p:ph type="sldNum" idx="8"/>
          </p:nvPr>
        </p:nvSpPr>
        <p:spPr bwMode="auto">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0">
                <a:solidFill>
                  <a:srgbClr val="000000"/>
                </a:solidFill>
                <a:latin typeface="+mn-lt"/>
                <a:ea typeface="+mn-ea"/>
              </a:defRPr>
            </a:lvl1pPr>
          </a:lstStyle>
          <a:p>
            <a:pPr algn="r">
              <a:lnSpc>
                <a:spcPct val="100000"/>
              </a:lnSpc>
              <a:buNone/>
              <a:defRPr/>
            </a:pPr>
            <a:fld id="{F9402789-A360-4524-88FC-C8CF673EEA51}" type="slidenum">
              <a:rPr lang="en-US" sz="1200" b="0" strike="noStrike" spc="0">
                <a:solidFill>
                  <a:srgbClr val="000000"/>
                </a:solidFill>
                <a:latin typeface="Arial"/>
                <a:ea typeface="DejaVu Sans"/>
              </a:rPr>
              <a:t>19</a:t>
            </a:fld>
            <a:endParaRPr lang="en-US" sz="1200" b="0" strike="noStrike" spc="0">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214496" name="Slide Image Placeholder 1"/>
          <p:cNvSpPr>
            <a:spLocks noGrp="1" noRot="1" noChangeAspect="1"/>
          </p:cNvSpPr>
          <p:nvPr>
            <p:ph type="sldImg"/>
          </p:nvPr>
        </p:nvSpPr>
        <p:spPr bwMode="auto"/>
      </p:sp>
      <p:sp>
        <p:nvSpPr>
          <p:cNvPr id="1459131776" name="Notes Placeholder 2"/>
          <p:cNvSpPr>
            <a:spLocks noGrp="1"/>
          </p:cNvSpPr>
          <p:nvPr>
            <p:ph type="body" idx="1"/>
          </p:nvPr>
        </p:nvSpPr>
        <p:spPr bwMode="auto"/>
        <p:txBody>
          <a:bodyPr/>
          <a:lstStyle/>
          <a:p>
            <a:pPr>
              <a:defRPr/>
            </a:pPr>
            <a:endParaRPr/>
          </a:p>
        </p:txBody>
      </p:sp>
      <p:sp>
        <p:nvSpPr>
          <p:cNvPr id="778044528" name="Slide Number Placeholder 3"/>
          <p:cNvSpPr>
            <a:spLocks noGrp="1"/>
          </p:cNvSpPr>
          <p:nvPr>
            <p:ph type="sldNum" sz="quarter" idx="10"/>
          </p:nvPr>
        </p:nvSpPr>
        <p:spPr bwMode="auto"/>
        <p:txBody>
          <a:bodyPr/>
          <a:lstStyle/>
          <a:p>
            <a:pPr>
              <a:defRPr/>
            </a:pPr>
            <a:fld id="{95176365-A600-040F-4E49-830F095C5D71}" type="slidenum">
              <a:rPr/>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37111940" name="Slide Image Placeholder 1"/>
          <p:cNvSpPr>
            <a:spLocks noGrp="1" noRot="1" noChangeAspect="1"/>
          </p:cNvSpPr>
          <p:nvPr>
            <p:ph type="sldImg"/>
          </p:nvPr>
        </p:nvSpPr>
        <p:spPr bwMode="auto"/>
      </p:sp>
      <p:sp>
        <p:nvSpPr>
          <p:cNvPr id="1362003635" name="Notes Placeholder 2"/>
          <p:cNvSpPr>
            <a:spLocks noGrp="1"/>
          </p:cNvSpPr>
          <p:nvPr>
            <p:ph type="body" idx="1"/>
          </p:nvPr>
        </p:nvSpPr>
        <p:spPr bwMode="auto"/>
        <p:txBody>
          <a:bodyPr/>
          <a:lstStyle/>
          <a:p>
            <a:pPr>
              <a:defRPr/>
            </a:pPr>
            <a:endParaRPr/>
          </a:p>
        </p:txBody>
      </p:sp>
      <p:sp>
        <p:nvSpPr>
          <p:cNvPr id="599685607" name="Slide Number Placeholder 3"/>
          <p:cNvSpPr>
            <a:spLocks noGrp="1"/>
          </p:cNvSpPr>
          <p:nvPr>
            <p:ph type="sldNum" sz="quarter" idx="10"/>
          </p:nvPr>
        </p:nvSpPr>
        <p:spPr bwMode="auto"/>
        <p:txBody>
          <a:bodyPr/>
          <a:lstStyle/>
          <a:p>
            <a:pPr>
              <a:defRPr/>
            </a:pPr>
            <a:fld id="{F7F70C70-F09A-B309-9FAD-A9498B433E9B}" type="slidenum">
              <a:rPr/>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44288092" name="Slide Image Placeholder 1"/>
          <p:cNvSpPr>
            <a:spLocks noGrp="1" noRot="1" noChangeAspect="1"/>
          </p:cNvSpPr>
          <p:nvPr>
            <p:ph type="sldImg"/>
          </p:nvPr>
        </p:nvSpPr>
        <p:spPr bwMode="auto"/>
      </p:sp>
      <p:sp>
        <p:nvSpPr>
          <p:cNvPr id="181953424" name="Notes Placeholder 2"/>
          <p:cNvSpPr>
            <a:spLocks noGrp="1"/>
          </p:cNvSpPr>
          <p:nvPr>
            <p:ph type="body" idx="1"/>
          </p:nvPr>
        </p:nvSpPr>
        <p:spPr bwMode="auto"/>
        <p:txBody>
          <a:bodyPr/>
          <a:lstStyle/>
          <a:p>
            <a:pPr>
              <a:defRPr/>
            </a:pPr>
            <a:endParaRPr/>
          </a:p>
        </p:txBody>
      </p:sp>
      <p:sp>
        <p:nvSpPr>
          <p:cNvPr id="1565462749" name="Slide Number Placeholder 3"/>
          <p:cNvSpPr>
            <a:spLocks noGrp="1"/>
          </p:cNvSpPr>
          <p:nvPr>
            <p:ph type="sldNum" sz="quarter" idx="10"/>
          </p:nvPr>
        </p:nvSpPr>
        <p:spPr bwMode="auto"/>
        <p:txBody>
          <a:bodyPr/>
          <a:lstStyle/>
          <a:p>
            <a:pPr>
              <a:defRPr/>
            </a:pPr>
            <a:fld id="{DB09ECC8-BB1B-40E9-149F-2534ACE7D5D4}" type="slidenum">
              <a:rPr/>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66837339" name="Slide Image Placeholder 1"/>
          <p:cNvSpPr>
            <a:spLocks noGrp="1" noRot="1" noChangeAspect="1"/>
          </p:cNvSpPr>
          <p:nvPr>
            <p:ph type="sldImg"/>
          </p:nvPr>
        </p:nvSpPr>
        <p:spPr bwMode="auto"/>
      </p:sp>
      <p:sp>
        <p:nvSpPr>
          <p:cNvPr id="1290149176" name="Notes Placeholder 2"/>
          <p:cNvSpPr>
            <a:spLocks noGrp="1"/>
          </p:cNvSpPr>
          <p:nvPr>
            <p:ph type="body" idx="1"/>
          </p:nvPr>
        </p:nvSpPr>
        <p:spPr bwMode="auto"/>
        <p:txBody>
          <a:bodyPr/>
          <a:lstStyle/>
          <a:p>
            <a:pPr>
              <a:defRPr/>
            </a:pPr>
            <a:endParaRPr/>
          </a:p>
        </p:txBody>
      </p:sp>
      <p:sp>
        <p:nvSpPr>
          <p:cNvPr id="1376906716" name="Slide Number Placeholder 3"/>
          <p:cNvSpPr>
            <a:spLocks noGrp="1"/>
          </p:cNvSpPr>
          <p:nvPr>
            <p:ph type="sldNum" sz="quarter" idx="10"/>
          </p:nvPr>
        </p:nvSpPr>
        <p:spPr bwMode="auto"/>
        <p:txBody>
          <a:bodyPr/>
          <a:lstStyle/>
          <a:p>
            <a:pPr>
              <a:defRPr/>
            </a:pPr>
            <a:fld id="{656EEC45-41E5-ECD1-298E-B55E7799F3A2}" type="slidenum">
              <a:rPr/>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51544269" name="Slide Image Placeholder 1"/>
          <p:cNvSpPr>
            <a:spLocks noGrp="1" noRot="1" noChangeAspect="1"/>
          </p:cNvSpPr>
          <p:nvPr>
            <p:ph type="sldImg"/>
          </p:nvPr>
        </p:nvSpPr>
        <p:spPr bwMode="auto"/>
      </p:sp>
      <p:sp>
        <p:nvSpPr>
          <p:cNvPr id="933073103" name="Notes Placeholder 2"/>
          <p:cNvSpPr>
            <a:spLocks noGrp="1"/>
          </p:cNvSpPr>
          <p:nvPr>
            <p:ph type="body" idx="1"/>
          </p:nvPr>
        </p:nvSpPr>
        <p:spPr bwMode="auto"/>
        <p:txBody>
          <a:bodyPr/>
          <a:lstStyle/>
          <a:p>
            <a:pPr>
              <a:defRPr/>
            </a:pPr>
            <a:endParaRPr/>
          </a:p>
        </p:txBody>
      </p:sp>
      <p:sp>
        <p:nvSpPr>
          <p:cNvPr id="1838612792" name="Slide Number Placeholder 3"/>
          <p:cNvSpPr>
            <a:spLocks noGrp="1"/>
          </p:cNvSpPr>
          <p:nvPr>
            <p:ph type="sldNum" sz="quarter" idx="10"/>
          </p:nvPr>
        </p:nvSpPr>
        <p:spPr bwMode="auto"/>
        <p:txBody>
          <a:bodyPr/>
          <a:lstStyle/>
          <a:p>
            <a:pPr>
              <a:defRPr/>
            </a:pPr>
            <a:fld id="{844EEA37-D0F2-BBCF-643D-51096E0EBFC2}" type="slidenum">
              <a:rPr/>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Slide">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tx" preserve="1" userDrawn="1">
  <p:cSld name="Title Slide">
    <p:spTree>
      <p:nvGrpSpPr>
        <p:cNvPr id="1" name=""/>
        <p:cNvGrpSpPr/>
        <p:nvPr/>
      </p:nvGrpSpPr>
      <p:grpSpPr bwMode="auto">
        <a:xfrm>
          <a:off x="0" y="0"/>
          <a:ext cx="0" cy="0"/>
          <a:chOff x="0" y="0"/>
          <a:chExt cx="0" cy="0"/>
        </a:xfrm>
      </p:grpSpPr>
      <p:sp>
        <p:nvSpPr>
          <p:cNvPr id="1713872446"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26887171" name="PlaceHolder 2"/>
          <p:cNvSpPr>
            <a:spLocks noGrp="1"/>
          </p:cNvSpPr>
          <p:nvPr>
            <p:ph type="subTitle"/>
          </p:nvPr>
        </p:nvSpPr>
        <p:spPr bwMode="auto">
          <a:xfrm>
            <a:off x="493920" y="1685520"/>
            <a:ext cx="8371800" cy="4921200"/>
          </a:xfrm>
          <a:prstGeom prst="rect">
            <a:avLst/>
          </a:prstGeom>
          <a:noFill/>
          <a:ln w="0">
            <a:noFill/>
          </a:ln>
        </p:spPr>
        <p:txBody>
          <a:bodyPr lIns="0" tIns="0" rIns="0" bIns="0" anchor="ctr">
            <a:noAutofit/>
          </a:bodyPr>
          <a:lstStyle/>
          <a:p>
            <a:pPr algn="ctr">
              <a:buNone/>
              <a:defRPr/>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userDrawn="1">
  <p:cSld name="Title, Content">
    <p:spTree>
      <p:nvGrpSpPr>
        <p:cNvPr id="1" name=""/>
        <p:cNvGrpSpPr/>
        <p:nvPr/>
      </p:nvGrpSpPr>
      <p:grpSpPr bwMode="auto">
        <a:xfrm>
          <a:off x="0" y="0"/>
          <a:ext cx="0" cy="0"/>
          <a:chOff x="0" y="0"/>
          <a:chExt cx="0" cy="0"/>
        </a:xfrm>
      </p:grpSpPr>
      <p:sp>
        <p:nvSpPr>
          <p:cNvPr id="842355143"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693920282" name="PlaceHolder 2"/>
          <p:cNvSpPr>
            <a:spLocks noGrp="1"/>
          </p:cNvSpPr>
          <p:nvPr>
            <p:ph/>
          </p:nvPr>
        </p:nvSpPr>
        <p:spPr bwMode="auto">
          <a:xfrm>
            <a:off x="493920" y="1685520"/>
            <a:ext cx="837180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itle, 2 Content">
    <p:spTree>
      <p:nvGrpSpPr>
        <p:cNvPr id="1" name=""/>
        <p:cNvGrpSpPr/>
        <p:nvPr/>
      </p:nvGrpSpPr>
      <p:grpSpPr bwMode="auto">
        <a:xfrm>
          <a:off x="0" y="0"/>
          <a:ext cx="0" cy="0"/>
          <a:chOff x="0" y="0"/>
          <a:chExt cx="0" cy="0"/>
        </a:xfrm>
      </p:grpSpPr>
      <p:sp>
        <p:nvSpPr>
          <p:cNvPr id="1749554584"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75199460" name="PlaceHolder 2"/>
          <p:cNvSpPr>
            <a:spLocks noGrp="1"/>
          </p:cNvSpPr>
          <p:nvPr>
            <p:ph/>
          </p:nvPr>
        </p:nvSpPr>
        <p:spPr bwMode="auto">
          <a:xfrm>
            <a:off x="49392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147666634" name="PlaceHolder 3"/>
          <p:cNvSpPr>
            <a:spLocks noGrp="1"/>
          </p:cNvSpPr>
          <p:nvPr>
            <p:ph/>
          </p:nvPr>
        </p:nvSpPr>
        <p:spPr bwMode="auto">
          <a:xfrm>
            <a:off x="478368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190847121"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objOnly" preserve="1" userDrawn="1">
  <p:cSld name="Centered Text">
    <p:spTree>
      <p:nvGrpSpPr>
        <p:cNvPr id="1" name=""/>
        <p:cNvGrpSpPr/>
        <p:nvPr/>
      </p:nvGrpSpPr>
      <p:grpSpPr bwMode="auto">
        <a:xfrm>
          <a:off x="0" y="0"/>
          <a:ext cx="0" cy="0"/>
          <a:chOff x="0" y="0"/>
          <a:chExt cx="0" cy="0"/>
        </a:xfrm>
      </p:grpSpPr>
      <p:sp>
        <p:nvSpPr>
          <p:cNvPr id="2031063144" name="PlaceHolder 1"/>
          <p:cNvSpPr>
            <a:spLocks noGrp="1"/>
          </p:cNvSpPr>
          <p:nvPr>
            <p:ph type="subTitle"/>
          </p:nvPr>
        </p:nvSpPr>
        <p:spPr bwMode="auto">
          <a:xfrm>
            <a:off x="493920" y="974160"/>
            <a:ext cx="8371800" cy="2661120"/>
          </a:xfrm>
          <a:prstGeom prst="rect">
            <a:avLst/>
          </a:prstGeom>
          <a:noFill/>
          <a:ln w="0">
            <a:noFill/>
          </a:ln>
        </p:spPr>
        <p:txBody>
          <a:bodyPr lIns="0" tIns="0" rIns="0" bIns="0" anchor="ctr">
            <a:noAutofit/>
          </a:bodyPr>
          <a:lstStyle/>
          <a:p>
            <a:pPr algn="ctr">
              <a:buNone/>
              <a:defRPr/>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twoObjAndObj" preserve="1" userDrawn="1">
  <p:cSld name="Title, 2 Content and Content">
    <p:spTree>
      <p:nvGrpSpPr>
        <p:cNvPr id="1" name=""/>
        <p:cNvGrpSpPr/>
        <p:nvPr/>
      </p:nvGrpSpPr>
      <p:grpSpPr bwMode="auto">
        <a:xfrm>
          <a:off x="0" y="0"/>
          <a:ext cx="0" cy="0"/>
          <a:chOff x="0" y="0"/>
          <a:chExt cx="0" cy="0"/>
        </a:xfrm>
      </p:grpSpPr>
      <p:sp>
        <p:nvSpPr>
          <p:cNvPr id="626080987"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844823944" name="PlaceHolder 2"/>
          <p:cNvSpPr>
            <a:spLocks noGrp="1"/>
          </p:cNvSpPr>
          <p:nvPr>
            <p:ph/>
          </p:nvPr>
        </p:nvSpPr>
        <p:spPr bwMode="auto">
          <a:xfrm>
            <a:off x="49392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905314724" name="PlaceHolder 3"/>
          <p:cNvSpPr>
            <a:spLocks noGrp="1"/>
          </p:cNvSpPr>
          <p:nvPr>
            <p:ph/>
          </p:nvPr>
        </p:nvSpPr>
        <p:spPr bwMode="auto">
          <a:xfrm>
            <a:off x="478368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697812802" name="PlaceHolder 4"/>
          <p:cNvSpPr>
            <a:spLocks noGrp="1"/>
          </p:cNvSpPr>
          <p:nvPr>
            <p:ph/>
          </p:nvPr>
        </p:nvSpPr>
        <p:spPr bwMode="auto">
          <a:xfrm>
            <a:off x="49392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AndTwoObj" preserve="1" userDrawn="1">
  <p:cSld name="Title Content and 2 Content">
    <p:spTree>
      <p:nvGrpSpPr>
        <p:cNvPr id="1" name=""/>
        <p:cNvGrpSpPr/>
        <p:nvPr/>
      </p:nvGrpSpPr>
      <p:grpSpPr bwMode="auto">
        <a:xfrm>
          <a:off x="0" y="0"/>
          <a:ext cx="0" cy="0"/>
          <a:chOff x="0" y="0"/>
          <a:chExt cx="0" cy="0"/>
        </a:xfrm>
      </p:grpSpPr>
      <p:sp>
        <p:nvSpPr>
          <p:cNvPr id="2095381853"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373051870" name="PlaceHolder 2"/>
          <p:cNvSpPr>
            <a:spLocks noGrp="1"/>
          </p:cNvSpPr>
          <p:nvPr>
            <p:ph/>
          </p:nvPr>
        </p:nvSpPr>
        <p:spPr bwMode="auto">
          <a:xfrm>
            <a:off x="49392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2040570021" name="PlaceHolder 3"/>
          <p:cNvSpPr>
            <a:spLocks noGrp="1"/>
          </p:cNvSpPr>
          <p:nvPr>
            <p:ph/>
          </p:nvPr>
        </p:nvSpPr>
        <p:spPr bwMode="auto">
          <a:xfrm>
            <a:off x="478368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476658943" name="PlaceHolder 4"/>
          <p:cNvSpPr>
            <a:spLocks noGrp="1"/>
          </p:cNvSpPr>
          <p:nvPr>
            <p:ph/>
          </p:nvPr>
        </p:nvSpPr>
        <p:spPr bwMode="auto">
          <a:xfrm>
            <a:off x="478368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ObjOverTx" preserve="1" userDrawn="1">
  <p:cSld name="Title, 2 Content over Content">
    <p:spTree>
      <p:nvGrpSpPr>
        <p:cNvPr id="1" name=""/>
        <p:cNvGrpSpPr/>
        <p:nvPr/>
      </p:nvGrpSpPr>
      <p:grpSpPr bwMode="auto">
        <a:xfrm>
          <a:off x="0" y="0"/>
          <a:ext cx="0" cy="0"/>
          <a:chOff x="0" y="0"/>
          <a:chExt cx="0" cy="0"/>
        </a:xfrm>
      </p:grpSpPr>
      <p:sp>
        <p:nvSpPr>
          <p:cNvPr id="1027120565"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069817343" name="PlaceHolder 2"/>
          <p:cNvSpPr>
            <a:spLocks noGrp="1"/>
          </p:cNvSpPr>
          <p:nvPr>
            <p:ph/>
          </p:nvPr>
        </p:nvSpPr>
        <p:spPr bwMode="auto">
          <a:xfrm>
            <a:off x="49392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740043429" name="PlaceHolder 3"/>
          <p:cNvSpPr>
            <a:spLocks noGrp="1"/>
          </p:cNvSpPr>
          <p:nvPr>
            <p:ph/>
          </p:nvPr>
        </p:nvSpPr>
        <p:spPr bwMode="auto">
          <a:xfrm>
            <a:off x="478368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874523743" name="PlaceHolder 4"/>
          <p:cNvSpPr>
            <a:spLocks noGrp="1"/>
          </p:cNvSpPr>
          <p:nvPr>
            <p:ph/>
          </p:nvPr>
        </p:nvSpPr>
        <p:spPr bwMode="auto">
          <a:xfrm>
            <a:off x="493920" y="4255920"/>
            <a:ext cx="837180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objOverTx" preserve="1" userDrawn="1">
  <p:cSld name="Title, Content over Content">
    <p:spTree>
      <p:nvGrpSpPr>
        <p:cNvPr id="1" name=""/>
        <p:cNvGrpSpPr/>
        <p:nvPr/>
      </p:nvGrpSpPr>
      <p:grpSpPr bwMode="auto">
        <a:xfrm>
          <a:off x="0" y="0"/>
          <a:ext cx="0" cy="0"/>
          <a:chOff x="0" y="0"/>
          <a:chExt cx="0" cy="0"/>
        </a:xfrm>
      </p:grpSpPr>
      <p:sp>
        <p:nvSpPr>
          <p:cNvPr id="814428893"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600596860" name="PlaceHolder 2"/>
          <p:cNvSpPr>
            <a:spLocks noGrp="1"/>
          </p:cNvSpPr>
          <p:nvPr>
            <p:ph/>
          </p:nvPr>
        </p:nvSpPr>
        <p:spPr bwMode="auto">
          <a:xfrm>
            <a:off x="493920" y="1685520"/>
            <a:ext cx="837180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079646512" name="PlaceHolder 3"/>
          <p:cNvSpPr>
            <a:spLocks noGrp="1"/>
          </p:cNvSpPr>
          <p:nvPr>
            <p:ph/>
          </p:nvPr>
        </p:nvSpPr>
        <p:spPr bwMode="auto">
          <a:xfrm>
            <a:off x="493920" y="4255920"/>
            <a:ext cx="837180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fourObj" preserve="1" userDrawn="1">
  <p:cSld name="Title, 4 Content">
    <p:spTree>
      <p:nvGrpSpPr>
        <p:cNvPr id="1" name=""/>
        <p:cNvGrpSpPr/>
        <p:nvPr/>
      </p:nvGrpSpPr>
      <p:grpSpPr bwMode="auto">
        <a:xfrm>
          <a:off x="0" y="0"/>
          <a:ext cx="0" cy="0"/>
          <a:chOff x="0" y="0"/>
          <a:chExt cx="0" cy="0"/>
        </a:xfrm>
      </p:grpSpPr>
      <p:sp>
        <p:nvSpPr>
          <p:cNvPr id="465131779"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031278681" name="PlaceHolder 2"/>
          <p:cNvSpPr>
            <a:spLocks noGrp="1"/>
          </p:cNvSpPr>
          <p:nvPr>
            <p:ph/>
          </p:nvPr>
        </p:nvSpPr>
        <p:spPr bwMode="auto">
          <a:xfrm>
            <a:off x="49392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42501277" name="PlaceHolder 3"/>
          <p:cNvSpPr>
            <a:spLocks noGrp="1"/>
          </p:cNvSpPr>
          <p:nvPr>
            <p:ph/>
          </p:nvPr>
        </p:nvSpPr>
        <p:spPr bwMode="auto">
          <a:xfrm>
            <a:off x="478368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249537685" name="PlaceHolder 4"/>
          <p:cNvSpPr>
            <a:spLocks noGrp="1"/>
          </p:cNvSpPr>
          <p:nvPr>
            <p:ph/>
          </p:nvPr>
        </p:nvSpPr>
        <p:spPr bwMode="auto">
          <a:xfrm>
            <a:off x="49392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722245989" name="PlaceHolder 5"/>
          <p:cNvSpPr>
            <a:spLocks noGrp="1"/>
          </p:cNvSpPr>
          <p:nvPr>
            <p:ph/>
          </p:nvPr>
        </p:nvSpPr>
        <p:spPr bwMode="auto">
          <a:xfrm>
            <a:off x="478368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blank" preserve="1" userDrawn="1">
  <p:cSld name="Title, 6 Content">
    <p:spTree>
      <p:nvGrpSpPr>
        <p:cNvPr id="1" name=""/>
        <p:cNvGrpSpPr/>
        <p:nvPr/>
      </p:nvGrpSpPr>
      <p:grpSpPr bwMode="auto">
        <a:xfrm>
          <a:off x="0" y="0"/>
          <a:ext cx="0" cy="0"/>
          <a:chOff x="0" y="0"/>
          <a:chExt cx="0" cy="0"/>
        </a:xfrm>
      </p:grpSpPr>
      <p:sp>
        <p:nvSpPr>
          <p:cNvPr id="250421734"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720437434" name="PlaceHolder 2"/>
          <p:cNvSpPr>
            <a:spLocks noGrp="1"/>
          </p:cNvSpPr>
          <p:nvPr>
            <p:ph/>
          </p:nvPr>
        </p:nvSpPr>
        <p:spPr bwMode="auto">
          <a:xfrm>
            <a:off x="493920" y="16855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619760439" name="PlaceHolder 3"/>
          <p:cNvSpPr>
            <a:spLocks noGrp="1"/>
          </p:cNvSpPr>
          <p:nvPr>
            <p:ph/>
          </p:nvPr>
        </p:nvSpPr>
        <p:spPr bwMode="auto">
          <a:xfrm>
            <a:off x="3324240" y="16855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622062763" name="PlaceHolder 4"/>
          <p:cNvSpPr>
            <a:spLocks noGrp="1"/>
          </p:cNvSpPr>
          <p:nvPr>
            <p:ph/>
          </p:nvPr>
        </p:nvSpPr>
        <p:spPr bwMode="auto">
          <a:xfrm>
            <a:off x="6154920" y="16855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753742185" name="PlaceHolder 5"/>
          <p:cNvSpPr>
            <a:spLocks noGrp="1"/>
          </p:cNvSpPr>
          <p:nvPr>
            <p:ph/>
          </p:nvPr>
        </p:nvSpPr>
        <p:spPr bwMode="auto">
          <a:xfrm>
            <a:off x="493920" y="42559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2050801078" name="PlaceHolder 6"/>
          <p:cNvSpPr>
            <a:spLocks noGrp="1"/>
          </p:cNvSpPr>
          <p:nvPr>
            <p:ph/>
          </p:nvPr>
        </p:nvSpPr>
        <p:spPr bwMode="auto">
          <a:xfrm>
            <a:off x="3324240" y="42559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60951115" name="PlaceHolder 7"/>
          <p:cNvSpPr>
            <a:spLocks noGrp="1"/>
          </p:cNvSpPr>
          <p:nvPr>
            <p:ph/>
          </p:nvPr>
        </p:nvSpPr>
        <p:spPr bwMode="auto">
          <a:xfrm>
            <a:off x="6154920" y="42559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Slide">
    <p:spTree>
      <p:nvGrpSpPr>
        <p:cNvPr id="1" name=""/>
        <p:cNvGrpSpPr/>
        <p:nvPr/>
      </p:nvGrpSpPr>
      <p:grpSpPr bwMode="auto">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tx" preserve="1" userDrawn="1">
  <p:cSld name="Title Slide">
    <p:spTree>
      <p:nvGrpSpPr>
        <p:cNvPr id="1" name=""/>
        <p:cNvGrpSpPr/>
        <p:nvPr/>
      </p:nvGrpSpPr>
      <p:grpSpPr bwMode="auto">
        <a:xfrm>
          <a:off x="0" y="0"/>
          <a:ext cx="0" cy="0"/>
          <a:chOff x="0" y="0"/>
          <a:chExt cx="0" cy="0"/>
        </a:xfrm>
      </p:grpSpPr>
      <p:sp>
        <p:nvSpPr>
          <p:cNvPr id="1673475492"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957131560" name="PlaceHolder 2"/>
          <p:cNvSpPr>
            <a:spLocks noGrp="1"/>
          </p:cNvSpPr>
          <p:nvPr>
            <p:ph type="subTitle"/>
          </p:nvPr>
        </p:nvSpPr>
        <p:spPr bwMode="auto">
          <a:xfrm>
            <a:off x="493920" y="1685520"/>
            <a:ext cx="8371800" cy="4921200"/>
          </a:xfrm>
          <a:prstGeom prst="rect">
            <a:avLst/>
          </a:prstGeom>
          <a:noFill/>
          <a:ln w="0">
            <a:noFill/>
          </a:ln>
        </p:spPr>
        <p:txBody>
          <a:bodyPr lIns="0" tIns="0" rIns="0" bIns="0" anchor="ctr">
            <a:noAutofit/>
          </a:bodyPr>
          <a:lstStyle/>
          <a:p>
            <a:pPr algn="ctr">
              <a:buNone/>
              <a:defRPr/>
            </a:pP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obj" preserve="1" userDrawn="1">
  <p:cSld name="Title, Content">
    <p:spTree>
      <p:nvGrpSpPr>
        <p:cNvPr id="1" name=""/>
        <p:cNvGrpSpPr/>
        <p:nvPr/>
      </p:nvGrpSpPr>
      <p:grpSpPr bwMode="auto">
        <a:xfrm>
          <a:off x="0" y="0"/>
          <a:ext cx="0" cy="0"/>
          <a:chOff x="0" y="0"/>
          <a:chExt cx="0" cy="0"/>
        </a:xfrm>
      </p:grpSpPr>
      <p:sp>
        <p:nvSpPr>
          <p:cNvPr id="2057612791"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078763190" name="PlaceHolder 2"/>
          <p:cNvSpPr>
            <a:spLocks noGrp="1"/>
          </p:cNvSpPr>
          <p:nvPr>
            <p:ph/>
          </p:nvPr>
        </p:nvSpPr>
        <p:spPr bwMode="auto">
          <a:xfrm>
            <a:off x="493920" y="1685520"/>
            <a:ext cx="837180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twoObj" preserve="1" userDrawn="1">
  <p:cSld name="Title, 2 Content">
    <p:spTree>
      <p:nvGrpSpPr>
        <p:cNvPr id="1" name=""/>
        <p:cNvGrpSpPr/>
        <p:nvPr/>
      </p:nvGrpSpPr>
      <p:grpSpPr bwMode="auto">
        <a:xfrm>
          <a:off x="0" y="0"/>
          <a:ext cx="0" cy="0"/>
          <a:chOff x="0" y="0"/>
          <a:chExt cx="0" cy="0"/>
        </a:xfrm>
      </p:grpSpPr>
      <p:sp>
        <p:nvSpPr>
          <p:cNvPr id="979911902"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438390241" name="PlaceHolder 2"/>
          <p:cNvSpPr>
            <a:spLocks noGrp="1"/>
          </p:cNvSpPr>
          <p:nvPr>
            <p:ph/>
          </p:nvPr>
        </p:nvSpPr>
        <p:spPr bwMode="auto">
          <a:xfrm>
            <a:off x="49392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669752425" name="PlaceHolder 3"/>
          <p:cNvSpPr>
            <a:spLocks noGrp="1"/>
          </p:cNvSpPr>
          <p:nvPr>
            <p:ph/>
          </p:nvPr>
        </p:nvSpPr>
        <p:spPr bwMode="auto">
          <a:xfrm>
            <a:off x="478368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932309770"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objOnly" preserve="1" userDrawn="1">
  <p:cSld name="Centered Text">
    <p:spTree>
      <p:nvGrpSpPr>
        <p:cNvPr id="1" name=""/>
        <p:cNvGrpSpPr/>
        <p:nvPr/>
      </p:nvGrpSpPr>
      <p:grpSpPr bwMode="auto">
        <a:xfrm>
          <a:off x="0" y="0"/>
          <a:ext cx="0" cy="0"/>
          <a:chOff x="0" y="0"/>
          <a:chExt cx="0" cy="0"/>
        </a:xfrm>
      </p:grpSpPr>
      <p:sp>
        <p:nvSpPr>
          <p:cNvPr id="1884662205" name="PlaceHolder 1"/>
          <p:cNvSpPr>
            <a:spLocks noGrp="1"/>
          </p:cNvSpPr>
          <p:nvPr>
            <p:ph type="subTitle"/>
          </p:nvPr>
        </p:nvSpPr>
        <p:spPr bwMode="auto">
          <a:xfrm>
            <a:off x="493920" y="974160"/>
            <a:ext cx="8371800" cy="2661120"/>
          </a:xfrm>
          <a:prstGeom prst="rect">
            <a:avLst/>
          </a:prstGeom>
          <a:noFill/>
          <a:ln w="0">
            <a:noFill/>
          </a:ln>
        </p:spPr>
        <p:txBody>
          <a:bodyPr lIns="0" tIns="0" rIns="0" bIns="0" anchor="ctr">
            <a:noAutofit/>
          </a:bodyPr>
          <a:lstStyle/>
          <a:p>
            <a:pPr algn="ctr">
              <a:buNone/>
              <a:defRPr/>
            </a:pP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twoObjAndObj" preserve="1" userDrawn="1">
  <p:cSld name="Title, 2 Content and Content">
    <p:spTree>
      <p:nvGrpSpPr>
        <p:cNvPr id="1" name=""/>
        <p:cNvGrpSpPr/>
        <p:nvPr/>
      </p:nvGrpSpPr>
      <p:grpSpPr bwMode="auto">
        <a:xfrm>
          <a:off x="0" y="0"/>
          <a:ext cx="0" cy="0"/>
          <a:chOff x="0" y="0"/>
          <a:chExt cx="0" cy="0"/>
        </a:xfrm>
      </p:grpSpPr>
      <p:sp>
        <p:nvSpPr>
          <p:cNvPr id="68089618"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443168138" name="PlaceHolder 2"/>
          <p:cNvSpPr>
            <a:spLocks noGrp="1"/>
          </p:cNvSpPr>
          <p:nvPr>
            <p:ph/>
          </p:nvPr>
        </p:nvSpPr>
        <p:spPr bwMode="auto">
          <a:xfrm>
            <a:off x="49392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2066900175" name="PlaceHolder 3"/>
          <p:cNvSpPr>
            <a:spLocks noGrp="1"/>
          </p:cNvSpPr>
          <p:nvPr>
            <p:ph/>
          </p:nvPr>
        </p:nvSpPr>
        <p:spPr bwMode="auto">
          <a:xfrm>
            <a:off x="478368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792389266" name="PlaceHolder 4"/>
          <p:cNvSpPr>
            <a:spLocks noGrp="1"/>
          </p:cNvSpPr>
          <p:nvPr>
            <p:ph/>
          </p:nvPr>
        </p:nvSpPr>
        <p:spPr bwMode="auto">
          <a:xfrm>
            <a:off x="49392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type="objAndTwoObj" preserve="1" userDrawn="1">
  <p:cSld name="Title Content and 2 Content">
    <p:spTree>
      <p:nvGrpSpPr>
        <p:cNvPr id="1" name=""/>
        <p:cNvGrpSpPr/>
        <p:nvPr/>
      </p:nvGrpSpPr>
      <p:grpSpPr bwMode="auto">
        <a:xfrm>
          <a:off x="0" y="0"/>
          <a:ext cx="0" cy="0"/>
          <a:chOff x="0" y="0"/>
          <a:chExt cx="0" cy="0"/>
        </a:xfrm>
      </p:grpSpPr>
      <p:sp>
        <p:nvSpPr>
          <p:cNvPr id="753703717"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2064085444" name="PlaceHolder 2"/>
          <p:cNvSpPr>
            <a:spLocks noGrp="1"/>
          </p:cNvSpPr>
          <p:nvPr>
            <p:ph/>
          </p:nvPr>
        </p:nvSpPr>
        <p:spPr bwMode="auto">
          <a:xfrm>
            <a:off x="49392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881430770" name="PlaceHolder 3"/>
          <p:cNvSpPr>
            <a:spLocks noGrp="1"/>
          </p:cNvSpPr>
          <p:nvPr>
            <p:ph/>
          </p:nvPr>
        </p:nvSpPr>
        <p:spPr bwMode="auto">
          <a:xfrm>
            <a:off x="478368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553642010" name="PlaceHolder 4"/>
          <p:cNvSpPr>
            <a:spLocks noGrp="1"/>
          </p:cNvSpPr>
          <p:nvPr>
            <p:ph/>
          </p:nvPr>
        </p:nvSpPr>
        <p:spPr bwMode="auto">
          <a:xfrm>
            <a:off x="478368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twoObjOverTx" preserve="1" userDrawn="1">
  <p:cSld name="Title, 2 Content over Content">
    <p:spTree>
      <p:nvGrpSpPr>
        <p:cNvPr id="1" name=""/>
        <p:cNvGrpSpPr/>
        <p:nvPr/>
      </p:nvGrpSpPr>
      <p:grpSpPr bwMode="auto">
        <a:xfrm>
          <a:off x="0" y="0"/>
          <a:ext cx="0" cy="0"/>
          <a:chOff x="0" y="0"/>
          <a:chExt cx="0" cy="0"/>
        </a:xfrm>
      </p:grpSpPr>
      <p:sp>
        <p:nvSpPr>
          <p:cNvPr id="1912732892"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500735658" name="PlaceHolder 2"/>
          <p:cNvSpPr>
            <a:spLocks noGrp="1"/>
          </p:cNvSpPr>
          <p:nvPr>
            <p:ph/>
          </p:nvPr>
        </p:nvSpPr>
        <p:spPr bwMode="auto">
          <a:xfrm>
            <a:off x="49392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94076874" name="PlaceHolder 3"/>
          <p:cNvSpPr>
            <a:spLocks noGrp="1"/>
          </p:cNvSpPr>
          <p:nvPr>
            <p:ph/>
          </p:nvPr>
        </p:nvSpPr>
        <p:spPr bwMode="auto">
          <a:xfrm>
            <a:off x="478368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577702104" name="PlaceHolder 4"/>
          <p:cNvSpPr>
            <a:spLocks noGrp="1"/>
          </p:cNvSpPr>
          <p:nvPr>
            <p:ph/>
          </p:nvPr>
        </p:nvSpPr>
        <p:spPr bwMode="auto">
          <a:xfrm>
            <a:off x="493920" y="4255920"/>
            <a:ext cx="837180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objOverTx" preserve="1" userDrawn="1">
  <p:cSld name="Title, Content over Content">
    <p:spTree>
      <p:nvGrpSpPr>
        <p:cNvPr id="1" name=""/>
        <p:cNvGrpSpPr/>
        <p:nvPr/>
      </p:nvGrpSpPr>
      <p:grpSpPr bwMode="auto">
        <a:xfrm>
          <a:off x="0" y="0"/>
          <a:ext cx="0" cy="0"/>
          <a:chOff x="0" y="0"/>
          <a:chExt cx="0" cy="0"/>
        </a:xfrm>
      </p:grpSpPr>
      <p:sp>
        <p:nvSpPr>
          <p:cNvPr id="230427657"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058900831" name="PlaceHolder 2"/>
          <p:cNvSpPr>
            <a:spLocks noGrp="1"/>
          </p:cNvSpPr>
          <p:nvPr>
            <p:ph/>
          </p:nvPr>
        </p:nvSpPr>
        <p:spPr bwMode="auto">
          <a:xfrm>
            <a:off x="493920" y="1685520"/>
            <a:ext cx="837180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814105771" name="PlaceHolder 3"/>
          <p:cNvSpPr>
            <a:spLocks noGrp="1"/>
          </p:cNvSpPr>
          <p:nvPr>
            <p:ph/>
          </p:nvPr>
        </p:nvSpPr>
        <p:spPr bwMode="auto">
          <a:xfrm>
            <a:off x="493920" y="4255920"/>
            <a:ext cx="837180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type="fourObj" preserve="1" userDrawn="1">
  <p:cSld name="Title, 4 Content">
    <p:spTree>
      <p:nvGrpSpPr>
        <p:cNvPr id="1" name=""/>
        <p:cNvGrpSpPr/>
        <p:nvPr/>
      </p:nvGrpSpPr>
      <p:grpSpPr bwMode="auto">
        <a:xfrm>
          <a:off x="0" y="0"/>
          <a:ext cx="0" cy="0"/>
          <a:chOff x="0" y="0"/>
          <a:chExt cx="0" cy="0"/>
        </a:xfrm>
      </p:grpSpPr>
      <p:sp>
        <p:nvSpPr>
          <p:cNvPr id="179946823"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354796918" name="PlaceHolder 2"/>
          <p:cNvSpPr>
            <a:spLocks noGrp="1"/>
          </p:cNvSpPr>
          <p:nvPr>
            <p:ph/>
          </p:nvPr>
        </p:nvSpPr>
        <p:spPr bwMode="auto">
          <a:xfrm>
            <a:off x="49392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27585768" name="PlaceHolder 3"/>
          <p:cNvSpPr>
            <a:spLocks noGrp="1"/>
          </p:cNvSpPr>
          <p:nvPr>
            <p:ph/>
          </p:nvPr>
        </p:nvSpPr>
        <p:spPr bwMode="auto">
          <a:xfrm>
            <a:off x="478368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508573095" name="PlaceHolder 4"/>
          <p:cNvSpPr>
            <a:spLocks noGrp="1"/>
          </p:cNvSpPr>
          <p:nvPr>
            <p:ph/>
          </p:nvPr>
        </p:nvSpPr>
        <p:spPr bwMode="auto">
          <a:xfrm>
            <a:off x="49392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422216729" name="PlaceHolder 5"/>
          <p:cNvSpPr>
            <a:spLocks noGrp="1"/>
          </p:cNvSpPr>
          <p:nvPr>
            <p:ph/>
          </p:nvPr>
        </p:nvSpPr>
        <p:spPr bwMode="auto">
          <a:xfrm>
            <a:off x="478368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blank" preserve="1" userDrawn="1">
  <p:cSld name="Title, 6 Content">
    <p:spTree>
      <p:nvGrpSpPr>
        <p:cNvPr id="1" name=""/>
        <p:cNvGrpSpPr/>
        <p:nvPr/>
      </p:nvGrpSpPr>
      <p:grpSpPr bwMode="auto">
        <a:xfrm>
          <a:off x="0" y="0"/>
          <a:ext cx="0" cy="0"/>
          <a:chOff x="0" y="0"/>
          <a:chExt cx="0" cy="0"/>
        </a:xfrm>
      </p:grpSpPr>
      <p:sp>
        <p:nvSpPr>
          <p:cNvPr id="615149467"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381262984" name="PlaceHolder 2"/>
          <p:cNvSpPr>
            <a:spLocks noGrp="1"/>
          </p:cNvSpPr>
          <p:nvPr>
            <p:ph/>
          </p:nvPr>
        </p:nvSpPr>
        <p:spPr bwMode="auto">
          <a:xfrm>
            <a:off x="493920" y="16855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850984705" name="PlaceHolder 3"/>
          <p:cNvSpPr>
            <a:spLocks noGrp="1"/>
          </p:cNvSpPr>
          <p:nvPr>
            <p:ph/>
          </p:nvPr>
        </p:nvSpPr>
        <p:spPr bwMode="auto">
          <a:xfrm>
            <a:off x="3324240" y="16855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279808554" name="PlaceHolder 4"/>
          <p:cNvSpPr>
            <a:spLocks noGrp="1"/>
          </p:cNvSpPr>
          <p:nvPr>
            <p:ph/>
          </p:nvPr>
        </p:nvSpPr>
        <p:spPr bwMode="auto">
          <a:xfrm>
            <a:off x="6154920" y="16855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734302049" name="PlaceHolder 5"/>
          <p:cNvSpPr>
            <a:spLocks noGrp="1"/>
          </p:cNvSpPr>
          <p:nvPr>
            <p:ph/>
          </p:nvPr>
        </p:nvSpPr>
        <p:spPr bwMode="auto">
          <a:xfrm>
            <a:off x="493920" y="42559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792360308" name="PlaceHolder 6"/>
          <p:cNvSpPr>
            <a:spLocks noGrp="1"/>
          </p:cNvSpPr>
          <p:nvPr>
            <p:ph/>
          </p:nvPr>
        </p:nvSpPr>
        <p:spPr bwMode="auto">
          <a:xfrm>
            <a:off x="3324240" y="42559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511204719" name="PlaceHolder 7"/>
          <p:cNvSpPr>
            <a:spLocks noGrp="1"/>
          </p:cNvSpPr>
          <p:nvPr>
            <p:ph/>
          </p:nvPr>
        </p:nvSpPr>
        <p:spPr bwMode="auto">
          <a:xfrm>
            <a:off x="6154920" y="42559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Slide">
    <p:spTree>
      <p:nvGrpSpPr>
        <p:cNvPr id="1" name=""/>
        <p:cNvGrpSpPr/>
        <p:nvPr/>
      </p:nvGrpSpPr>
      <p:grpSpPr bwMode="auto">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type="tx" preserve="1" userDrawn="1">
  <p:cSld name="Title Slide">
    <p:spTree>
      <p:nvGrpSpPr>
        <p:cNvPr id="1" name=""/>
        <p:cNvGrpSpPr/>
        <p:nvPr/>
      </p:nvGrpSpPr>
      <p:grpSpPr bwMode="auto">
        <a:xfrm>
          <a:off x="0" y="0"/>
          <a:ext cx="0" cy="0"/>
          <a:chOff x="0" y="0"/>
          <a:chExt cx="0" cy="0"/>
        </a:xfrm>
      </p:grpSpPr>
      <p:sp>
        <p:nvSpPr>
          <p:cNvPr id="1773437581"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377417905" name="PlaceHolder 2"/>
          <p:cNvSpPr>
            <a:spLocks noGrp="1"/>
          </p:cNvSpPr>
          <p:nvPr>
            <p:ph type="subTitle"/>
          </p:nvPr>
        </p:nvSpPr>
        <p:spPr bwMode="auto">
          <a:xfrm>
            <a:off x="493920" y="1685520"/>
            <a:ext cx="8371800" cy="4921200"/>
          </a:xfrm>
          <a:prstGeom prst="rect">
            <a:avLst/>
          </a:prstGeom>
          <a:noFill/>
          <a:ln w="0">
            <a:noFill/>
          </a:ln>
        </p:spPr>
        <p:txBody>
          <a:bodyPr lIns="0" tIns="0" rIns="0" bIns="0" anchor="ctr">
            <a:noAutofit/>
          </a:bodyPr>
          <a:lstStyle/>
          <a:p>
            <a:pPr algn="ctr">
              <a:buNone/>
              <a:defRPr/>
            </a:pP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type="obj" preserve="1" userDrawn="1">
  <p:cSld name="Title, Content">
    <p:spTree>
      <p:nvGrpSpPr>
        <p:cNvPr id="1" name=""/>
        <p:cNvGrpSpPr/>
        <p:nvPr/>
      </p:nvGrpSpPr>
      <p:grpSpPr bwMode="auto">
        <a:xfrm>
          <a:off x="0" y="0"/>
          <a:ext cx="0" cy="0"/>
          <a:chOff x="0" y="0"/>
          <a:chExt cx="0" cy="0"/>
        </a:xfrm>
      </p:grpSpPr>
      <p:sp>
        <p:nvSpPr>
          <p:cNvPr id="1718316760"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326422950" name="PlaceHolder 2"/>
          <p:cNvSpPr>
            <a:spLocks noGrp="1"/>
          </p:cNvSpPr>
          <p:nvPr>
            <p:ph/>
          </p:nvPr>
        </p:nvSpPr>
        <p:spPr bwMode="auto">
          <a:xfrm>
            <a:off x="493920" y="1685520"/>
            <a:ext cx="837180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type="twoObj" preserve="1" userDrawn="1">
  <p:cSld name="Title, 2 Content">
    <p:spTree>
      <p:nvGrpSpPr>
        <p:cNvPr id="1" name=""/>
        <p:cNvGrpSpPr/>
        <p:nvPr/>
      </p:nvGrpSpPr>
      <p:grpSpPr bwMode="auto">
        <a:xfrm>
          <a:off x="0" y="0"/>
          <a:ext cx="0" cy="0"/>
          <a:chOff x="0" y="0"/>
          <a:chExt cx="0" cy="0"/>
        </a:xfrm>
      </p:grpSpPr>
      <p:sp>
        <p:nvSpPr>
          <p:cNvPr id="248217651"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527467756" name="PlaceHolder 2"/>
          <p:cNvSpPr>
            <a:spLocks noGrp="1"/>
          </p:cNvSpPr>
          <p:nvPr>
            <p:ph/>
          </p:nvPr>
        </p:nvSpPr>
        <p:spPr bwMode="auto">
          <a:xfrm>
            <a:off x="49392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2018197787" name="PlaceHolder 3"/>
          <p:cNvSpPr>
            <a:spLocks noGrp="1"/>
          </p:cNvSpPr>
          <p:nvPr>
            <p:ph/>
          </p:nvPr>
        </p:nvSpPr>
        <p:spPr bwMode="auto">
          <a:xfrm>
            <a:off x="478368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473708944"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type="objOnly" preserve="1" userDrawn="1">
  <p:cSld name="Centered Text">
    <p:spTree>
      <p:nvGrpSpPr>
        <p:cNvPr id="1" name=""/>
        <p:cNvGrpSpPr/>
        <p:nvPr/>
      </p:nvGrpSpPr>
      <p:grpSpPr bwMode="auto">
        <a:xfrm>
          <a:off x="0" y="0"/>
          <a:ext cx="0" cy="0"/>
          <a:chOff x="0" y="0"/>
          <a:chExt cx="0" cy="0"/>
        </a:xfrm>
      </p:grpSpPr>
      <p:sp>
        <p:nvSpPr>
          <p:cNvPr id="1417589580" name="PlaceHolder 1"/>
          <p:cNvSpPr>
            <a:spLocks noGrp="1"/>
          </p:cNvSpPr>
          <p:nvPr>
            <p:ph type="subTitle"/>
          </p:nvPr>
        </p:nvSpPr>
        <p:spPr bwMode="auto">
          <a:xfrm>
            <a:off x="493920" y="974160"/>
            <a:ext cx="8371800" cy="2661120"/>
          </a:xfrm>
          <a:prstGeom prst="rect">
            <a:avLst/>
          </a:prstGeom>
          <a:noFill/>
          <a:ln w="0">
            <a:noFill/>
          </a:ln>
        </p:spPr>
        <p:txBody>
          <a:bodyPr lIns="0" tIns="0" rIns="0" bIns="0" anchor="ctr">
            <a:noAutofit/>
          </a:bodyPr>
          <a:lstStyle/>
          <a:p>
            <a:pPr algn="ctr">
              <a:buNone/>
              <a:defRPr/>
            </a:pP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type="twoObjAndObj" preserve="1" userDrawn="1">
  <p:cSld name="Title, 2 Content and Content">
    <p:spTree>
      <p:nvGrpSpPr>
        <p:cNvPr id="1" name=""/>
        <p:cNvGrpSpPr/>
        <p:nvPr/>
      </p:nvGrpSpPr>
      <p:grpSpPr bwMode="auto">
        <a:xfrm>
          <a:off x="0" y="0"/>
          <a:ext cx="0" cy="0"/>
          <a:chOff x="0" y="0"/>
          <a:chExt cx="0" cy="0"/>
        </a:xfrm>
      </p:grpSpPr>
      <p:sp>
        <p:nvSpPr>
          <p:cNvPr id="1090385122"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440309046" name="PlaceHolder 2"/>
          <p:cNvSpPr>
            <a:spLocks noGrp="1"/>
          </p:cNvSpPr>
          <p:nvPr>
            <p:ph/>
          </p:nvPr>
        </p:nvSpPr>
        <p:spPr bwMode="auto">
          <a:xfrm>
            <a:off x="49392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85366688" name="PlaceHolder 3"/>
          <p:cNvSpPr>
            <a:spLocks noGrp="1"/>
          </p:cNvSpPr>
          <p:nvPr>
            <p:ph/>
          </p:nvPr>
        </p:nvSpPr>
        <p:spPr bwMode="auto">
          <a:xfrm>
            <a:off x="478368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934698055" name="PlaceHolder 4"/>
          <p:cNvSpPr>
            <a:spLocks noGrp="1"/>
          </p:cNvSpPr>
          <p:nvPr>
            <p:ph/>
          </p:nvPr>
        </p:nvSpPr>
        <p:spPr bwMode="auto">
          <a:xfrm>
            <a:off x="49392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type="objAndTwoObj" preserve="1" userDrawn="1">
  <p:cSld name="Title Content and 2 Content">
    <p:spTree>
      <p:nvGrpSpPr>
        <p:cNvPr id="1" name=""/>
        <p:cNvGrpSpPr/>
        <p:nvPr/>
      </p:nvGrpSpPr>
      <p:grpSpPr bwMode="auto">
        <a:xfrm>
          <a:off x="0" y="0"/>
          <a:ext cx="0" cy="0"/>
          <a:chOff x="0" y="0"/>
          <a:chExt cx="0" cy="0"/>
        </a:xfrm>
      </p:grpSpPr>
      <p:sp>
        <p:nvSpPr>
          <p:cNvPr id="1964894906"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836183526" name="PlaceHolder 2"/>
          <p:cNvSpPr>
            <a:spLocks noGrp="1"/>
          </p:cNvSpPr>
          <p:nvPr>
            <p:ph/>
          </p:nvPr>
        </p:nvSpPr>
        <p:spPr bwMode="auto">
          <a:xfrm>
            <a:off x="493920" y="1685520"/>
            <a:ext cx="4085280" cy="4921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131823261" name="PlaceHolder 3"/>
          <p:cNvSpPr>
            <a:spLocks noGrp="1"/>
          </p:cNvSpPr>
          <p:nvPr>
            <p:ph/>
          </p:nvPr>
        </p:nvSpPr>
        <p:spPr bwMode="auto">
          <a:xfrm>
            <a:off x="478368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434637029" name="PlaceHolder 4"/>
          <p:cNvSpPr>
            <a:spLocks noGrp="1"/>
          </p:cNvSpPr>
          <p:nvPr>
            <p:ph/>
          </p:nvPr>
        </p:nvSpPr>
        <p:spPr bwMode="auto">
          <a:xfrm>
            <a:off x="478368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type="twoObjOverTx" preserve="1" userDrawn="1">
  <p:cSld name="Title, 2 Content over Content">
    <p:spTree>
      <p:nvGrpSpPr>
        <p:cNvPr id="1" name=""/>
        <p:cNvGrpSpPr/>
        <p:nvPr/>
      </p:nvGrpSpPr>
      <p:grpSpPr bwMode="auto">
        <a:xfrm>
          <a:off x="0" y="0"/>
          <a:ext cx="0" cy="0"/>
          <a:chOff x="0" y="0"/>
          <a:chExt cx="0" cy="0"/>
        </a:xfrm>
      </p:grpSpPr>
      <p:sp>
        <p:nvSpPr>
          <p:cNvPr id="1119040722"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865901280" name="PlaceHolder 2"/>
          <p:cNvSpPr>
            <a:spLocks noGrp="1"/>
          </p:cNvSpPr>
          <p:nvPr>
            <p:ph/>
          </p:nvPr>
        </p:nvSpPr>
        <p:spPr bwMode="auto">
          <a:xfrm>
            <a:off x="49392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090081820" name="PlaceHolder 3"/>
          <p:cNvSpPr>
            <a:spLocks noGrp="1"/>
          </p:cNvSpPr>
          <p:nvPr>
            <p:ph/>
          </p:nvPr>
        </p:nvSpPr>
        <p:spPr bwMode="auto">
          <a:xfrm>
            <a:off x="478368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966315514" name="PlaceHolder 4"/>
          <p:cNvSpPr>
            <a:spLocks noGrp="1"/>
          </p:cNvSpPr>
          <p:nvPr>
            <p:ph/>
          </p:nvPr>
        </p:nvSpPr>
        <p:spPr bwMode="auto">
          <a:xfrm>
            <a:off x="493920" y="4255920"/>
            <a:ext cx="837180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objOverTx" preserve="1" userDrawn="1">
  <p:cSld name="Title, Content over Content">
    <p:spTree>
      <p:nvGrpSpPr>
        <p:cNvPr id="1" name=""/>
        <p:cNvGrpSpPr/>
        <p:nvPr/>
      </p:nvGrpSpPr>
      <p:grpSpPr bwMode="auto">
        <a:xfrm>
          <a:off x="0" y="0"/>
          <a:ext cx="0" cy="0"/>
          <a:chOff x="0" y="0"/>
          <a:chExt cx="0" cy="0"/>
        </a:xfrm>
      </p:grpSpPr>
      <p:sp>
        <p:nvSpPr>
          <p:cNvPr id="1301023230"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274942415" name="PlaceHolder 2"/>
          <p:cNvSpPr>
            <a:spLocks noGrp="1"/>
          </p:cNvSpPr>
          <p:nvPr>
            <p:ph/>
          </p:nvPr>
        </p:nvSpPr>
        <p:spPr bwMode="auto">
          <a:xfrm>
            <a:off x="493920" y="1685520"/>
            <a:ext cx="837180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689153338" name="PlaceHolder 3"/>
          <p:cNvSpPr>
            <a:spLocks noGrp="1"/>
          </p:cNvSpPr>
          <p:nvPr>
            <p:ph/>
          </p:nvPr>
        </p:nvSpPr>
        <p:spPr bwMode="auto">
          <a:xfrm>
            <a:off x="493920" y="4255920"/>
            <a:ext cx="837180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type="fourObj" preserve="1" userDrawn="1">
  <p:cSld name="Title, 4 Content">
    <p:spTree>
      <p:nvGrpSpPr>
        <p:cNvPr id="1" name=""/>
        <p:cNvGrpSpPr/>
        <p:nvPr/>
      </p:nvGrpSpPr>
      <p:grpSpPr bwMode="auto">
        <a:xfrm>
          <a:off x="0" y="0"/>
          <a:ext cx="0" cy="0"/>
          <a:chOff x="0" y="0"/>
          <a:chExt cx="0" cy="0"/>
        </a:xfrm>
      </p:grpSpPr>
      <p:sp>
        <p:nvSpPr>
          <p:cNvPr id="864532505"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326462381" name="PlaceHolder 2"/>
          <p:cNvSpPr>
            <a:spLocks noGrp="1"/>
          </p:cNvSpPr>
          <p:nvPr>
            <p:ph/>
          </p:nvPr>
        </p:nvSpPr>
        <p:spPr bwMode="auto">
          <a:xfrm>
            <a:off x="49392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2060145255" name="PlaceHolder 3"/>
          <p:cNvSpPr>
            <a:spLocks noGrp="1"/>
          </p:cNvSpPr>
          <p:nvPr>
            <p:ph/>
          </p:nvPr>
        </p:nvSpPr>
        <p:spPr bwMode="auto">
          <a:xfrm>
            <a:off x="4783680" y="16855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853719026" name="PlaceHolder 4"/>
          <p:cNvSpPr>
            <a:spLocks noGrp="1"/>
          </p:cNvSpPr>
          <p:nvPr>
            <p:ph/>
          </p:nvPr>
        </p:nvSpPr>
        <p:spPr bwMode="auto">
          <a:xfrm>
            <a:off x="49392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86509864" name="PlaceHolder 5"/>
          <p:cNvSpPr>
            <a:spLocks noGrp="1"/>
          </p:cNvSpPr>
          <p:nvPr>
            <p:ph/>
          </p:nvPr>
        </p:nvSpPr>
        <p:spPr bwMode="auto">
          <a:xfrm>
            <a:off x="4783680" y="4255920"/>
            <a:ext cx="408528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type="blank" preserve="1" userDrawn="1">
  <p:cSld name="Title, 6 Content">
    <p:spTree>
      <p:nvGrpSpPr>
        <p:cNvPr id="1" name=""/>
        <p:cNvGrpSpPr/>
        <p:nvPr/>
      </p:nvGrpSpPr>
      <p:grpSpPr bwMode="auto">
        <a:xfrm>
          <a:off x="0" y="0"/>
          <a:ext cx="0" cy="0"/>
          <a:chOff x="0" y="0"/>
          <a:chExt cx="0" cy="0"/>
        </a:xfrm>
      </p:grpSpPr>
      <p:sp>
        <p:nvSpPr>
          <p:cNvPr id="1862340638" name="PlaceHolder 1"/>
          <p:cNvSpPr>
            <a:spLocks noGrp="1"/>
          </p:cNvSpPr>
          <p:nvPr>
            <p:ph type="title"/>
          </p:nvPr>
        </p:nvSpPr>
        <p:spPr bwMode="auto">
          <a:xfrm>
            <a:off x="493920" y="974160"/>
            <a:ext cx="8371800" cy="573840"/>
          </a:xfrm>
          <a:prstGeom prst="rect">
            <a:avLst/>
          </a:prstGeom>
          <a:noFill/>
          <a:ln w="0">
            <a:noFill/>
          </a:ln>
        </p:spPr>
        <p:txBody>
          <a:bodyPr lIns="0" tIns="0" rIns="0" bIns="0" anchor="ctr">
            <a:noAutofit/>
          </a:bodyPr>
          <a:lstStyle/>
          <a:p>
            <a:pPr>
              <a:defRPr/>
            </a:pPr>
            <a:endParaRPr lang="en-US" sz="1800" b="0" strike="noStrike" spc="-1">
              <a:solidFill>
                <a:srgbClr val="000000"/>
              </a:solidFill>
              <a:latin typeface="等线 Light"/>
            </a:endParaRPr>
          </a:p>
        </p:txBody>
      </p:sp>
      <p:sp>
        <p:nvSpPr>
          <p:cNvPr id="1785335248" name="PlaceHolder 2"/>
          <p:cNvSpPr>
            <a:spLocks noGrp="1"/>
          </p:cNvSpPr>
          <p:nvPr>
            <p:ph/>
          </p:nvPr>
        </p:nvSpPr>
        <p:spPr bwMode="auto">
          <a:xfrm>
            <a:off x="493920" y="16855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455484286" name="PlaceHolder 3"/>
          <p:cNvSpPr>
            <a:spLocks noGrp="1"/>
          </p:cNvSpPr>
          <p:nvPr>
            <p:ph/>
          </p:nvPr>
        </p:nvSpPr>
        <p:spPr bwMode="auto">
          <a:xfrm>
            <a:off x="3324240" y="16855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989004672" name="PlaceHolder 4"/>
          <p:cNvSpPr>
            <a:spLocks noGrp="1"/>
          </p:cNvSpPr>
          <p:nvPr>
            <p:ph/>
          </p:nvPr>
        </p:nvSpPr>
        <p:spPr bwMode="auto">
          <a:xfrm>
            <a:off x="6154920" y="16855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911456428" name="PlaceHolder 5"/>
          <p:cNvSpPr>
            <a:spLocks noGrp="1"/>
          </p:cNvSpPr>
          <p:nvPr>
            <p:ph/>
          </p:nvPr>
        </p:nvSpPr>
        <p:spPr bwMode="auto">
          <a:xfrm>
            <a:off x="493920" y="42559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785676303" name="PlaceHolder 6"/>
          <p:cNvSpPr>
            <a:spLocks noGrp="1"/>
          </p:cNvSpPr>
          <p:nvPr>
            <p:ph/>
          </p:nvPr>
        </p:nvSpPr>
        <p:spPr bwMode="auto">
          <a:xfrm>
            <a:off x="3324240" y="42559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
        <p:nvSpPr>
          <p:cNvPr id="1090471630" name="PlaceHolder 7"/>
          <p:cNvSpPr>
            <a:spLocks noGrp="1"/>
          </p:cNvSpPr>
          <p:nvPr>
            <p:ph/>
          </p:nvPr>
        </p:nvSpPr>
        <p:spPr bwMode="auto">
          <a:xfrm>
            <a:off x="6154920" y="4255920"/>
            <a:ext cx="2695320" cy="2347200"/>
          </a:xfrm>
          <a:prstGeom prst="rect">
            <a:avLst/>
          </a:prstGeom>
          <a:noFill/>
          <a:ln w="0">
            <a:noFill/>
          </a:ln>
        </p:spPr>
        <p:txBody>
          <a:bodyPr lIns="0" tIns="0" rIns="0" bIns="0" anchor="t">
            <a:normAutofit/>
          </a:bodyPr>
          <a:lstStyle/>
          <a:p>
            <a:pPr>
              <a:lnSpc>
                <a:spcPct val="120000"/>
              </a:lnSpc>
              <a:spcBef>
                <a:spcPts val="1417"/>
              </a:spcBef>
              <a:buNone/>
              <a:defRPr/>
            </a:pPr>
            <a:endParaRPr lang="en-US" sz="2800" b="0" strike="noStrike" spc="-1">
              <a:solidFill>
                <a:srgbClr val="000000"/>
              </a:solidFill>
              <a:latin typeface="等线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sv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6.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18"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4.svg"/><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19" Type="http://schemas.openxmlformats.org/officeDocument/2006/relationships/image" Target="../media/image7.pn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image" Target="../media/image4.svg"/><Relationship Id="rId2" Type="http://schemas.openxmlformats.org/officeDocument/2006/relationships/slideLayout" Target="../slideLayouts/slideLayout26.xml"/><Relationship Id="rId16" Type="http://schemas.openxmlformats.org/officeDocument/2006/relationships/image" Target="../media/image3.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4098"/>
        </a:solidFill>
        <a:effectLst/>
      </p:bgPr>
    </p:bg>
    <p:spTree>
      <p:nvGrpSpPr>
        <p:cNvPr id="1" name=""/>
        <p:cNvGrpSpPr/>
        <p:nvPr/>
      </p:nvGrpSpPr>
      <p:grpSpPr bwMode="auto">
        <a:xfrm>
          <a:off x="0" y="0"/>
          <a:ext cx="0" cy="0"/>
          <a:chOff x="0" y="0"/>
          <a:chExt cx="0" cy="0"/>
        </a:xfrm>
      </p:grpSpPr>
      <p:pic>
        <p:nvPicPr>
          <p:cNvPr id="201174628" name="图片 1"/>
          <p:cNvPicPr/>
          <p:nvPr/>
        </p:nvPicPr>
        <p:blipFill rotWithShape="1">
          <a:blip r:embed="rId14"/>
          <a:stretch/>
        </p:blipFill>
        <p:spPr bwMode="auto">
          <a:xfrm>
            <a:off x="0" y="0"/>
            <a:ext cx="9144360" cy="664200"/>
          </a:xfrm>
          <a:prstGeom prst="rect">
            <a:avLst/>
          </a:prstGeom>
          <a:ln w="0">
            <a:noFill/>
          </a:ln>
        </p:spPr>
      </p:pic>
      <p:sp>
        <p:nvSpPr>
          <p:cNvPr id="698130390" name="矩形 9" hidden="1"/>
          <p:cNvSpPr/>
          <p:nvPr/>
        </p:nvSpPr>
        <p:spPr bwMode="auto">
          <a:xfrm>
            <a:off x="0" y="6766560"/>
            <a:ext cx="9143640" cy="91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pic>
        <p:nvPicPr>
          <p:cNvPr id="911021737" name="图片 11"/>
          <p:cNvPicPr/>
          <p:nvPr/>
        </p:nvPicPr>
        <p:blipFill rotWithShape="1">
          <a:blip r:embed="rId15"/>
          <a:stretch/>
        </p:blipFill>
        <p:spPr bwMode="auto">
          <a:xfrm>
            <a:off x="493920" y="168480"/>
            <a:ext cx="1517400" cy="401040"/>
          </a:xfrm>
          <a:prstGeom prst="rect">
            <a:avLst/>
          </a:prstGeom>
          <a:ln w="0">
            <a:noFill/>
          </a:ln>
        </p:spPr>
      </p:pic>
      <p:sp>
        <p:nvSpPr>
          <p:cNvPr id="1712130739" name="矩形 12" hidden="1"/>
          <p:cNvSpPr/>
          <p:nvPr/>
        </p:nvSpPr>
        <p:spPr bwMode="auto">
          <a:xfrm>
            <a:off x="0" y="0"/>
            <a:ext cx="9143640" cy="107640"/>
          </a:xfrm>
          <a:prstGeom prst="rect">
            <a:avLst/>
          </a:prstGeom>
          <a:solidFill>
            <a:srgbClr val="004098"/>
          </a:solidFill>
          <a:ln>
            <a:noFill/>
          </a:ln>
        </p:spPr>
        <p:style>
          <a:lnRef idx="2">
            <a:schemeClr val="accent1">
              <a:shade val="50000"/>
            </a:schemeClr>
          </a:lnRef>
          <a:fillRef idx="1">
            <a:schemeClr val="accent1"/>
          </a:fillRef>
          <a:effectRef idx="0">
            <a:schemeClr val="accent1"/>
          </a:effectRef>
          <a:fontRef idx="minor"/>
        </p:style>
      </p:sp>
      <p:pic>
        <p:nvPicPr>
          <p:cNvPr id="686684483" name="图片 13"/>
          <p:cNvPicPr/>
          <p:nvPr/>
        </p:nvPicPr>
        <p:blipFill rotWithShape="1">
          <a:blip r:embed="rId16">
            <a:extLst>
              <a:ext uri="{96DAC541-7B7A-43D3-8B79-37D633B846F1}">
                <asvg:svgBlip xmlns:asvg="http://schemas.microsoft.com/office/drawing/2016/SVG/main" r:embed="rId17"/>
              </a:ext>
            </a:extLst>
          </a:blip>
          <a:stretch/>
        </p:blipFill>
        <p:spPr bwMode="auto">
          <a:xfrm>
            <a:off x="11520" y="1086480"/>
            <a:ext cx="9143640" cy="332280"/>
          </a:xfrm>
          <a:prstGeom prst="rect">
            <a:avLst/>
          </a:prstGeom>
          <a:ln w="0">
            <a:noFill/>
          </a:ln>
        </p:spPr>
      </p:pic>
      <p:pic>
        <p:nvPicPr>
          <p:cNvPr id="1804587029" name="图片 8"/>
          <p:cNvPicPr/>
          <p:nvPr/>
        </p:nvPicPr>
        <p:blipFill rotWithShape="1">
          <a:blip r:embed="rId14"/>
          <a:stretch/>
        </p:blipFill>
        <p:spPr bwMode="auto">
          <a:xfrm>
            <a:off x="0" y="0"/>
            <a:ext cx="9144360" cy="664200"/>
          </a:xfrm>
          <a:prstGeom prst="rect">
            <a:avLst/>
          </a:prstGeom>
          <a:ln w="0">
            <a:noFill/>
          </a:ln>
        </p:spPr>
      </p:pic>
      <p:sp>
        <p:nvSpPr>
          <p:cNvPr id="1209263327" name="矩形 10" hidden="1"/>
          <p:cNvSpPr/>
          <p:nvPr/>
        </p:nvSpPr>
        <p:spPr bwMode="auto">
          <a:xfrm>
            <a:off x="0" y="6766560"/>
            <a:ext cx="9143640" cy="91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pic>
        <p:nvPicPr>
          <p:cNvPr id="1487899490" name="图片 14"/>
          <p:cNvPicPr/>
          <p:nvPr/>
        </p:nvPicPr>
        <p:blipFill rotWithShape="1">
          <a:blip r:embed="rId15"/>
          <a:stretch/>
        </p:blipFill>
        <p:spPr bwMode="auto">
          <a:xfrm>
            <a:off x="493920" y="168480"/>
            <a:ext cx="1517400" cy="401040"/>
          </a:xfrm>
          <a:prstGeom prst="rect">
            <a:avLst/>
          </a:prstGeom>
          <a:ln w="0">
            <a:noFill/>
          </a:ln>
        </p:spPr>
      </p:pic>
      <p:sp>
        <p:nvSpPr>
          <p:cNvPr id="1338247222" name="矩形 15" hidden="1"/>
          <p:cNvSpPr/>
          <p:nvPr/>
        </p:nvSpPr>
        <p:spPr bwMode="auto">
          <a:xfrm>
            <a:off x="0" y="0"/>
            <a:ext cx="9143640" cy="107640"/>
          </a:xfrm>
          <a:prstGeom prst="rect">
            <a:avLst/>
          </a:prstGeom>
          <a:solidFill>
            <a:srgbClr val="004098"/>
          </a:solidFill>
          <a:ln>
            <a:noFill/>
          </a:ln>
        </p:spPr>
        <p:style>
          <a:lnRef idx="2">
            <a:schemeClr val="accent1">
              <a:shade val="50000"/>
            </a:schemeClr>
          </a:lnRef>
          <a:fillRef idx="1">
            <a:schemeClr val="accent1"/>
          </a:fillRef>
          <a:effectRef idx="0">
            <a:schemeClr val="accent1"/>
          </a:effectRef>
          <a:fontRef idx="minor"/>
        </p:style>
      </p:sp>
      <p:pic>
        <p:nvPicPr>
          <p:cNvPr id="1359253982" name="图片 16"/>
          <p:cNvPicPr/>
          <p:nvPr/>
        </p:nvPicPr>
        <p:blipFill rotWithShape="1">
          <a:blip r:embed="rId16">
            <a:extLst>
              <a:ext uri="{96DAC541-7B7A-43D3-8B79-37D633B846F1}">
                <asvg:svgBlip xmlns:asvg="http://schemas.microsoft.com/office/drawing/2016/SVG/main" r:embed="rId17"/>
              </a:ext>
            </a:extLst>
          </a:blip>
          <a:stretch/>
        </p:blipFill>
        <p:spPr bwMode="auto">
          <a:xfrm>
            <a:off x="11520" y="1086480"/>
            <a:ext cx="9143640" cy="332280"/>
          </a:xfrm>
          <a:prstGeom prst="rect">
            <a:avLst/>
          </a:prstGeom>
          <a:ln w="0">
            <a:noFill/>
          </a:ln>
        </p:spPr>
      </p:pic>
      <p:sp>
        <p:nvSpPr>
          <p:cNvPr id="1035168581" name="灯片编号占位符 5" hidden="1"/>
          <p:cNvSpPr/>
          <p:nvPr/>
        </p:nvSpPr>
        <p:spPr bwMode="auto">
          <a:xfrm>
            <a:off x="8563680" y="311760"/>
            <a:ext cx="632520" cy="310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defRPr/>
            </a:pPr>
            <a:fld id="{5D28F4C7-1357-45E8-B6C9-1DD880A7D7F3}" type="slidenum">
              <a:rPr lang="en-US" sz="1200" b="0" strike="noStrike" spc="-60">
                <a:solidFill>
                  <a:srgbClr val="FFFFFF"/>
                </a:solidFill>
                <a:latin typeface="微软雅黑"/>
                <a:ea typeface="微软雅黑"/>
              </a:rPr>
              <a:t>‹#›</a:t>
            </a:fld>
            <a:endParaRPr lang="en-US" sz="1200" b="0" strike="noStrike" spc="-1">
              <a:latin typeface="Arial"/>
            </a:endParaRPr>
          </a:p>
        </p:txBody>
      </p:sp>
      <p:sp>
        <p:nvSpPr>
          <p:cNvPr id="49276359" name="文本框 7" hidden="1"/>
          <p:cNvSpPr/>
          <p:nvPr/>
        </p:nvSpPr>
        <p:spPr bwMode="auto">
          <a:xfrm>
            <a:off x="8252640" y="311760"/>
            <a:ext cx="536400" cy="272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defRPr/>
            </a:pPr>
            <a:r>
              <a:rPr lang="en-US" sz="1200" b="0" strike="noStrike" spc="-60">
                <a:solidFill>
                  <a:srgbClr val="FFFFFF"/>
                </a:solidFill>
                <a:latin typeface="微软雅黑"/>
                <a:ea typeface="微软雅黑"/>
              </a:rPr>
              <a:t>Page.</a:t>
            </a:r>
            <a:endParaRPr lang="en-US" sz="1200" b="0" strike="noStrike" spc="-1">
              <a:latin typeface="Arial"/>
            </a:endParaRPr>
          </a:p>
        </p:txBody>
      </p:sp>
      <p:pic>
        <p:nvPicPr>
          <p:cNvPr id="1784347727" name="图片 4"/>
          <p:cNvPicPr/>
          <p:nvPr/>
        </p:nvPicPr>
        <p:blipFill rotWithShape="1">
          <a:blip r:embed="rId18"/>
          <a:stretch/>
        </p:blipFill>
        <p:spPr bwMode="auto">
          <a:xfrm>
            <a:off x="6207840" y="5815080"/>
            <a:ext cx="2458440" cy="650520"/>
          </a:xfrm>
          <a:prstGeom prst="rect">
            <a:avLst/>
          </a:prstGeom>
          <a:ln w="0">
            <a:noFill/>
          </a:ln>
        </p:spPr>
      </p:pic>
      <p:sp>
        <p:nvSpPr>
          <p:cNvPr id="918318000" name="PlaceHolder 1"/>
          <p:cNvSpPr>
            <a:spLocks noGrp="1"/>
          </p:cNvSpPr>
          <p:nvPr>
            <p:ph type="title"/>
          </p:nvPr>
        </p:nvSpPr>
        <p:spPr bwMode="auto">
          <a:xfrm>
            <a:off x="628560" y="4149720"/>
            <a:ext cx="7886520" cy="899280"/>
          </a:xfrm>
          <a:prstGeom prst="rect">
            <a:avLst/>
          </a:prstGeom>
          <a:noFill/>
          <a:ln w="0">
            <a:noFill/>
          </a:ln>
        </p:spPr>
        <p:txBody>
          <a:bodyPr anchor="ctr">
            <a:noAutofit/>
          </a:bodyPr>
          <a:lstStyle/>
          <a:p>
            <a:pPr algn="ctr">
              <a:lnSpc>
                <a:spcPct val="90000"/>
              </a:lnSpc>
              <a:buNone/>
              <a:defRPr/>
            </a:pPr>
            <a:r>
              <a:rPr lang="zh-CN" sz="4800" b="1" strike="noStrike" spc="-1">
                <a:solidFill>
                  <a:srgbClr val="FFFFFF"/>
                </a:solidFill>
                <a:latin typeface="等线"/>
                <a:ea typeface="等线"/>
              </a:rPr>
              <a:t>单击此处编辑母版标题样式</a:t>
            </a:r>
            <a:endParaRPr lang="en-US" sz="4800" b="0" strike="noStrike" spc="-1">
              <a:solidFill>
                <a:srgbClr val="000000"/>
              </a:solidFill>
              <a:latin typeface="等线 Light"/>
            </a:endParaRPr>
          </a:p>
        </p:txBody>
      </p:sp>
      <p:pic>
        <p:nvPicPr>
          <p:cNvPr id="301360008" name="图片 6"/>
          <p:cNvPicPr/>
          <p:nvPr/>
        </p:nvPicPr>
        <p:blipFill rotWithShape="1">
          <a:blip r:embed="rId19"/>
          <a:srcRect l="80" t="177" r="37" b="-10"/>
          <a:stretch/>
        </p:blipFill>
        <p:spPr bwMode="auto">
          <a:xfrm>
            <a:off x="0" y="0"/>
            <a:ext cx="9143640" cy="3899519"/>
          </a:xfrm>
          <a:prstGeom prst="rect">
            <a:avLst/>
          </a:prstGeom>
          <a:ln w="0">
            <a:noFill/>
          </a:ln>
        </p:spPr>
      </p:pic>
      <p:sp>
        <p:nvSpPr>
          <p:cNvPr id="2107448969" name="直接连接符 8"/>
          <p:cNvSpPr/>
          <p:nvPr/>
        </p:nvSpPr>
        <p:spPr bwMode="auto">
          <a:xfrm>
            <a:off x="0" y="3899519"/>
            <a:ext cx="9144000" cy="360"/>
          </a:xfrm>
          <a:prstGeom prst="line">
            <a:avLst/>
          </a:prstGeom>
          <a:ln>
            <a:solidFill>
              <a:srgbClr val="FFFFFF"/>
            </a:solidFill>
          </a:ln>
        </p:spPr>
        <p:style>
          <a:lnRef idx="1">
            <a:schemeClr val="accent1"/>
          </a:lnRef>
          <a:fillRef idx="0">
            <a:schemeClr val="accent1"/>
          </a:fillRef>
          <a:effectRef idx="0">
            <a:schemeClr val="accent1"/>
          </a:effectRef>
          <a:fontRef idx="minor"/>
        </p:style>
      </p:sp>
      <p:sp>
        <p:nvSpPr>
          <p:cNvPr id="2033615735" name="PlaceHolder 2"/>
          <p:cNvSpPr>
            <a:spLocks noGrp="1"/>
          </p:cNvSpPr>
          <p:nvPr>
            <p:ph type="body"/>
          </p:nvPr>
        </p:nvSpPr>
        <p:spPr bwMode="auto">
          <a:xfrm>
            <a:off x="457200" y="1604520"/>
            <a:ext cx="8229240" cy="3977280"/>
          </a:xfrm>
          <a:prstGeom prst="rect">
            <a:avLst/>
          </a:prstGeom>
          <a:noFill/>
          <a:ln w="0">
            <a:noFill/>
          </a:ln>
        </p:spPr>
        <p:txBody>
          <a:bodyPr lIns="0" tIns="0" rIns="0" bIns="0" anchor="t">
            <a:normAutofit/>
          </a:bodyPr>
          <a:lstStyle/>
          <a:p>
            <a:pPr marL="432000" indent="-324000">
              <a:lnSpc>
                <a:spcPct val="120000"/>
              </a:lnSpc>
              <a:spcBef>
                <a:spcPts val="1417"/>
              </a:spcBef>
              <a:buClr>
                <a:srgbClr val="FFFFFF"/>
              </a:buClr>
              <a:buSzPct val="45000"/>
              <a:buFont typeface="Wingdings"/>
              <a:buChar char=""/>
              <a:defRPr/>
            </a:pPr>
            <a:r>
              <a:rPr lang="zh-CN" sz="2800" b="0" strike="noStrike" spc="-1">
                <a:solidFill>
                  <a:srgbClr val="000000"/>
                </a:solidFill>
                <a:latin typeface="等线 Light"/>
              </a:rPr>
              <a:t>点击以编辑提纲文本格式</a:t>
            </a:r>
            <a:endParaRPr lang="en-US" sz="2800" b="0" strike="noStrike" spc="-1">
              <a:solidFill>
                <a:srgbClr val="000000"/>
              </a:solidFill>
              <a:latin typeface="等线 Light"/>
            </a:endParaRPr>
          </a:p>
          <a:p>
            <a:pPr marL="864000" lvl="1" indent="-324000">
              <a:lnSpc>
                <a:spcPct val="120000"/>
              </a:lnSpc>
              <a:spcBef>
                <a:spcPts val="1134"/>
              </a:spcBef>
              <a:buClr>
                <a:srgbClr val="FFFFFF"/>
              </a:buClr>
              <a:buSzPct val="75000"/>
              <a:buFont typeface="Symbol"/>
              <a:buChar char=""/>
              <a:defRPr/>
            </a:pPr>
            <a:r>
              <a:rPr lang="zh-CN" sz="2000" b="0" strike="noStrike" spc="-1">
                <a:solidFill>
                  <a:srgbClr val="000000"/>
                </a:solidFill>
                <a:latin typeface="等线 Light"/>
              </a:rPr>
              <a:t>第二提纲级别</a:t>
            </a:r>
            <a:endParaRPr lang="en-US" sz="2000" b="0" strike="noStrike" spc="-1">
              <a:solidFill>
                <a:srgbClr val="000000"/>
              </a:solidFill>
              <a:latin typeface="等线 Light"/>
            </a:endParaRPr>
          </a:p>
          <a:p>
            <a:pPr marL="1296000" lvl="2" indent="-288000">
              <a:lnSpc>
                <a:spcPct val="120000"/>
              </a:lnSpc>
              <a:spcBef>
                <a:spcPts val="850"/>
              </a:spcBef>
              <a:buClr>
                <a:srgbClr val="FFFFFF"/>
              </a:buClr>
              <a:buSzPct val="45000"/>
              <a:buFont typeface="Wingdings"/>
              <a:buChar char=""/>
              <a:defRPr/>
            </a:pPr>
            <a:r>
              <a:rPr lang="zh-CN" sz="1800" b="0" strike="noStrike" spc="-1">
                <a:solidFill>
                  <a:srgbClr val="000000"/>
                </a:solidFill>
                <a:latin typeface="等线 Light"/>
              </a:rPr>
              <a:t>第三提纲级别</a:t>
            </a:r>
            <a:endParaRPr lang="en-US" sz="1800" b="0" strike="noStrike" spc="-1">
              <a:solidFill>
                <a:srgbClr val="000000"/>
              </a:solidFill>
              <a:latin typeface="等线 Light"/>
            </a:endParaRPr>
          </a:p>
          <a:p>
            <a:pPr marL="1728000" lvl="3" indent="-216000">
              <a:lnSpc>
                <a:spcPct val="120000"/>
              </a:lnSpc>
              <a:spcBef>
                <a:spcPts val="567"/>
              </a:spcBef>
              <a:buClr>
                <a:srgbClr val="FFFFFF"/>
              </a:buClr>
              <a:buSzPct val="75000"/>
              <a:buFont typeface="Symbol"/>
              <a:buChar char=""/>
              <a:defRPr/>
            </a:pPr>
            <a:r>
              <a:rPr lang="zh-CN" sz="1800" b="0" strike="noStrike" spc="-1">
                <a:solidFill>
                  <a:srgbClr val="000000"/>
                </a:solidFill>
                <a:latin typeface="等线 Light"/>
              </a:rPr>
              <a:t>第四提纲级别</a:t>
            </a:r>
            <a:endParaRPr lang="en-US" sz="1800" b="0" strike="noStrike" spc="-1">
              <a:solidFill>
                <a:srgbClr val="000000"/>
              </a:solidFill>
              <a:latin typeface="等线 Light"/>
            </a:endParaRPr>
          </a:p>
          <a:p>
            <a:pPr marL="2160000" lvl="4" indent="-216000">
              <a:lnSpc>
                <a:spcPct val="120000"/>
              </a:lnSpc>
              <a:spcBef>
                <a:spcPts val="283"/>
              </a:spcBef>
              <a:buClr>
                <a:srgbClr val="FFFFFF"/>
              </a:buClr>
              <a:buSzPct val="45000"/>
              <a:buFont typeface="Wingdings"/>
              <a:buChar char=""/>
              <a:defRPr/>
            </a:pPr>
            <a:r>
              <a:rPr lang="zh-CN" sz="2000" b="0" strike="noStrike" spc="-1">
                <a:solidFill>
                  <a:srgbClr val="000000"/>
                </a:solidFill>
                <a:latin typeface="等线 Light"/>
              </a:rPr>
              <a:t>第五提纲级别</a:t>
            </a:r>
            <a:endParaRPr lang="en-US" sz="2000" b="0" strike="noStrike" spc="-1">
              <a:solidFill>
                <a:srgbClr val="000000"/>
              </a:solidFill>
              <a:latin typeface="等线 Light"/>
            </a:endParaRPr>
          </a:p>
          <a:p>
            <a:pPr marL="2592000" lvl="5" indent="-216000">
              <a:lnSpc>
                <a:spcPct val="120000"/>
              </a:lnSpc>
              <a:spcBef>
                <a:spcPts val="283"/>
              </a:spcBef>
              <a:buClr>
                <a:srgbClr val="FFFFFF"/>
              </a:buClr>
              <a:buSzPct val="45000"/>
              <a:buFont typeface="Wingdings"/>
              <a:buChar char=""/>
              <a:defRPr/>
            </a:pPr>
            <a:r>
              <a:rPr lang="zh-CN" sz="2000" b="0" strike="noStrike" spc="-1">
                <a:solidFill>
                  <a:srgbClr val="000000"/>
                </a:solidFill>
                <a:latin typeface="等线 Light"/>
              </a:rPr>
              <a:t>第六提纲级别</a:t>
            </a:r>
            <a:endParaRPr lang="en-US" sz="2000" b="0" strike="noStrike" spc="-1">
              <a:solidFill>
                <a:srgbClr val="000000"/>
              </a:solidFill>
              <a:latin typeface="等线 Light"/>
            </a:endParaRPr>
          </a:p>
          <a:p>
            <a:pPr marL="3024000" lvl="6" indent="-216000">
              <a:lnSpc>
                <a:spcPct val="120000"/>
              </a:lnSpc>
              <a:spcBef>
                <a:spcPts val="283"/>
              </a:spcBef>
              <a:buClr>
                <a:srgbClr val="FFFFFF"/>
              </a:buClr>
              <a:buSzPct val="45000"/>
              <a:buFont typeface="Wingdings"/>
              <a:buChar char=""/>
              <a:defRPr/>
            </a:pPr>
            <a:r>
              <a:rPr lang="zh-CN" sz="2000" b="0" strike="noStrike" spc="-1">
                <a:solidFill>
                  <a:srgbClr val="000000"/>
                </a:solidFill>
                <a:latin typeface="等线 Light"/>
              </a:rPr>
              <a:t>第七提纲级别</a:t>
            </a:r>
            <a:endParaRPr lang="en-US" sz="2000" b="0" strike="noStrike" spc="-1">
              <a:solidFill>
                <a:srgbClr val="000000"/>
              </a:solidFill>
              <a:latin typeface="等线 Ligh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bwMode="auto">
        <a:xfrm>
          <a:off x="0" y="0"/>
          <a:ext cx="0" cy="0"/>
          <a:chOff x="0" y="0"/>
          <a:chExt cx="0" cy="0"/>
        </a:xfrm>
      </p:grpSpPr>
      <p:pic>
        <p:nvPicPr>
          <p:cNvPr id="684652780" name="图片 1"/>
          <p:cNvPicPr/>
          <p:nvPr/>
        </p:nvPicPr>
        <p:blipFill rotWithShape="1">
          <a:blip r:embed="rId14"/>
          <a:stretch/>
        </p:blipFill>
        <p:spPr bwMode="auto">
          <a:xfrm>
            <a:off x="0" y="0"/>
            <a:ext cx="9144360" cy="664200"/>
          </a:xfrm>
          <a:prstGeom prst="rect">
            <a:avLst/>
          </a:prstGeom>
          <a:ln w="0">
            <a:noFill/>
          </a:ln>
        </p:spPr>
      </p:pic>
      <p:sp>
        <p:nvSpPr>
          <p:cNvPr id="2058070532" name="矩形 9" hidden="1"/>
          <p:cNvSpPr/>
          <p:nvPr/>
        </p:nvSpPr>
        <p:spPr bwMode="auto">
          <a:xfrm>
            <a:off x="0" y="6766560"/>
            <a:ext cx="9143640" cy="91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pic>
        <p:nvPicPr>
          <p:cNvPr id="806476385" name="图片 11"/>
          <p:cNvPicPr/>
          <p:nvPr/>
        </p:nvPicPr>
        <p:blipFill rotWithShape="1">
          <a:blip r:embed="rId15"/>
          <a:stretch/>
        </p:blipFill>
        <p:spPr bwMode="auto">
          <a:xfrm>
            <a:off x="493920" y="168480"/>
            <a:ext cx="1517400" cy="401040"/>
          </a:xfrm>
          <a:prstGeom prst="rect">
            <a:avLst/>
          </a:prstGeom>
          <a:ln w="0">
            <a:noFill/>
          </a:ln>
        </p:spPr>
      </p:pic>
      <p:sp>
        <p:nvSpPr>
          <p:cNvPr id="523615733" name="矩形 12" hidden="1"/>
          <p:cNvSpPr/>
          <p:nvPr/>
        </p:nvSpPr>
        <p:spPr bwMode="auto">
          <a:xfrm>
            <a:off x="0" y="0"/>
            <a:ext cx="9143640" cy="107640"/>
          </a:xfrm>
          <a:prstGeom prst="rect">
            <a:avLst/>
          </a:prstGeom>
          <a:solidFill>
            <a:srgbClr val="004098"/>
          </a:solidFill>
          <a:ln>
            <a:noFill/>
          </a:ln>
        </p:spPr>
        <p:style>
          <a:lnRef idx="2">
            <a:schemeClr val="accent1">
              <a:shade val="50000"/>
            </a:schemeClr>
          </a:lnRef>
          <a:fillRef idx="1">
            <a:schemeClr val="accent1"/>
          </a:fillRef>
          <a:effectRef idx="0">
            <a:schemeClr val="accent1"/>
          </a:effectRef>
          <a:fontRef idx="minor"/>
        </p:style>
      </p:sp>
      <p:pic>
        <p:nvPicPr>
          <p:cNvPr id="1959567908" name="图片 13"/>
          <p:cNvPicPr/>
          <p:nvPr/>
        </p:nvPicPr>
        <p:blipFill rotWithShape="1">
          <a:blip r:embed="rId16">
            <a:extLst>
              <a:ext uri="{96DAC541-7B7A-43D3-8B79-37D633B846F1}">
                <asvg:svgBlip xmlns:asvg="http://schemas.microsoft.com/office/drawing/2016/SVG/main" r:embed="rId17"/>
              </a:ext>
            </a:extLst>
          </a:blip>
          <a:stretch/>
        </p:blipFill>
        <p:spPr bwMode="auto">
          <a:xfrm>
            <a:off x="11520" y="1086480"/>
            <a:ext cx="9143640" cy="332280"/>
          </a:xfrm>
          <a:prstGeom prst="rect">
            <a:avLst/>
          </a:prstGeom>
          <a:ln w="0">
            <a:noFill/>
          </a:ln>
        </p:spPr>
      </p:pic>
      <p:pic>
        <p:nvPicPr>
          <p:cNvPr id="2031619026" name="图片 8"/>
          <p:cNvPicPr/>
          <p:nvPr/>
        </p:nvPicPr>
        <p:blipFill rotWithShape="1">
          <a:blip r:embed="rId14"/>
          <a:stretch/>
        </p:blipFill>
        <p:spPr bwMode="auto">
          <a:xfrm>
            <a:off x="0" y="0"/>
            <a:ext cx="9144360" cy="664200"/>
          </a:xfrm>
          <a:prstGeom prst="rect">
            <a:avLst/>
          </a:prstGeom>
          <a:ln w="0">
            <a:noFill/>
          </a:ln>
        </p:spPr>
      </p:pic>
      <p:sp>
        <p:nvSpPr>
          <p:cNvPr id="1400197654" name="矩形 10" hidden="1"/>
          <p:cNvSpPr/>
          <p:nvPr/>
        </p:nvSpPr>
        <p:spPr bwMode="auto">
          <a:xfrm>
            <a:off x="0" y="6766560"/>
            <a:ext cx="9143640" cy="91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pic>
        <p:nvPicPr>
          <p:cNvPr id="901795752" name="图片 14"/>
          <p:cNvPicPr/>
          <p:nvPr/>
        </p:nvPicPr>
        <p:blipFill rotWithShape="1">
          <a:blip r:embed="rId15"/>
          <a:stretch/>
        </p:blipFill>
        <p:spPr bwMode="auto">
          <a:xfrm>
            <a:off x="493920" y="168480"/>
            <a:ext cx="1517400" cy="401040"/>
          </a:xfrm>
          <a:prstGeom prst="rect">
            <a:avLst/>
          </a:prstGeom>
          <a:ln w="0">
            <a:noFill/>
          </a:ln>
        </p:spPr>
      </p:pic>
      <p:sp>
        <p:nvSpPr>
          <p:cNvPr id="2018784145" name="矩形 15" hidden="1"/>
          <p:cNvSpPr/>
          <p:nvPr/>
        </p:nvSpPr>
        <p:spPr bwMode="auto">
          <a:xfrm>
            <a:off x="0" y="0"/>
            <a:ext cx="9143640" cy="107640"/>
          </a:xfrm>
          <a:prstGeom prst="rect">
            <a:avLst/>
          </a:prstGeom>
          <a:solidFill>
            <a:srgbClr val="004098"/>
          </a:solidFill>
          <a:ln>
            <a:noFill/>
          </a:ln>
        </p:spPr>
        <p:style>
          <a:lnRef idx="2">
            <a:schemeClr val="accent1">
              <a:shade val="50000"/>
            </a:schemeClr>
          </a:lnRef>
          <a:fillRef idx="1">
            <a:schemeClr val="accent1"/>
          </a:fillRef>
          <a:effectRef idx="0">
            <a:schemeClr val="accent1"/>
          </a:effectRef>
          <a:fontRef idx="minor"/>
        </p:style>
      </p:sp>
      <p:pic>
        <p:nvPicPr>
          <p:cNvPr id="1479002767" name="图片 16"/>
          <p:cNvPicPr/>
          <p:nvPr/>
        </p:nvPicPr>
        <p:blipFill rotWithShape="1">
          <a:blip r:embed="rId16">
            <a:extLst>
              <a:ext uri="{96DAC541-7B7A-43D3-8B79-37D633B846F1}">
                <asvg:svgBlip xmlns:asvg="http://schemas.microsoft.com/office/drawing/2016/SVG/main" r:embed="rId17"/>
              </a:ext>
            </a:extLst>
          </a:blip>
          <a:stretch/>
        </p:blipFill>
        <p:spPr bwMode="auto">
          <a:xfrm>
            <a:off x="11520" y="1086480"/>
            <a:ext cx="9143640" cy="332280"/>
          </a:xfrm>
          <a:prstGeom prst="rect">
            <a:avLst/>
          </a:prstGeom>
          <a:ln w="0">
            <a:noFill/>
          </a:ln>
        </p:spPr>
      </p:pic>
      <p:sp>
        <p:nvSpPr>
          <p:cNvPr id="1252366611" name="灯片编号占位符 5" hidden="1"/>
          <p:cNvSpPr/>
          <p:nvPr/>
        </p:nvSpPr>
        <p:spPr bwMode="auto">
          <a:xfrm>
            <a:off x="8563680" y="311760"/>
            <a:ext cx="632520" cy="310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defRPr/>
            </a:pPr>
            <a:fld id="{1AE0C3AC-652B-4B64-9165-FA071E7731AA}" type="slidenum">
              <a:rPr lang="en-US" sz="1200" b="0" strike="noStrike" spc="-60">
                <a:solidFill>
                  <a:srgbClr val="FFFFFF"/>
                </a:solidFill>
                <a:latin typeface="微软雅黑"/>
                <a:ea typeface="微软雅黑"/>
              </a:rPr>
              <a:t>‹#›</a:t>
            </a:fld>
            <a:endParaRPr lang="en-US" sz="1200" b="0" strike="noStrike" spc="-1">
              <a:latin typeface="Arial"/>
            </a:endParaRPr>
          </a:p>
        </p:txBody>
      </p:sp>
      <p:sp>
        <p:nvSpPr>
          <p:cNvPr id="1271589709" name="文本框 7" hidden="1"/>
          <p:cNvSpPr/>
          <p:nvPr/>
        </p:nvSpPr>
        <p:spPr bwMode="auto">
          <a:xfrm>
            <a:off x="8252640" y="311760"/>
            <a:ext cx="536400" cy="272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defRPr/>
            </a:pPr>
            <a:r>
              <a:rPr lang="en-US" sz="1200" b="0" strike="noStrike" spc="-60">
                <a:solidFill>
                  <a:srgbClr val="FFFFFF"/>
                </a:solidFill>
                <a:latin typeface="微软雅黑"/>
                <a:ea typeface="微软雅黑"/>
              </a:rPr>
              <a:t>Page.</a:t>
            </a:r>
            <a:endParaRPr lang="en-US" sz="1200" b="0" strike="noStrike" spc="-1">
              <a:latin typeface="Arial"/>
            </a:endParaRPr>
          </a:p>
        </p:txBody>
      </p:sp>
      <p:pic>
        <p:nvPicPr>
          <p:cNvPr id="1878182407" name="图片 9"/>
          <p:cNvPicPr/>
          <p:nvPr/>
        </p:nvPicPr>
        <p:blipFill rotWithShape="1">
          <a:blip r:embed="rId14"/>
          <a:stretch/>
        </p:blipFill>
        <p:spPr bwMode="auto">
          <a:xfrm>
            <a:off x="0" y="0"/>
            <a:ext cx="9144360" cy="664200"/>
          </a:xfrm>
          <a:prstGeom prst="rect">
            <a:avLst/>
          </a:prstGeom>
          <a:ln w="0">
            <a:noFill/>
          </a:ln>
        </p:spPr>
      </p:pic>
      <p:sp>
        <p:nvSpPr>
          <p:cNvPr id="712824056" name="矩形 6"/>
          <p:cNvSpPr/>
          <p:nvPr/>
        </p:nvSpPr>
        <p:spPr bwMode="auto">
          <a:xfrm>
            <a:off x="0" y="5821560"/>
            <a:ext cx="9143640" cy="103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pic>
        <p:nvPicPr>
          <p:cNvPr id="148573790" name="图片 7"/>
          <p:cNvPicPr/>
          <p:nvPr/>
        </p:nvPicPr>
        <p:blipFill rotWithShape="1">
          <a:blip r:embed="rId18"/>
          <a:stretch/>
        </p:blipFill>
        <p:spPr bwMode="auto">
          <a:xfrm>
            <a:off x="6667200" y="6100920"/>
            <a:ext cx="1958040" cy="518040"/>
          </a:xfrm>
          <a:prstGeom prst="rect">
            <a:avLst/>
          </a:prstGeom>
          <a:ln w="0">
            <a:noFill/>
          </a:ln>
        </p:spPr>
      </p:pic>
      <p:sp>
        <p:nvSpPr>
          <p:cNvPr id="379502596" name="PlaceHolder 1"/>
          <p:cNvSpPr>
            <a:spLocks noGrp="1"/>
          </p:cNvSpPr>
          <p:nvPr>
            <p:ph type="title"/>
          </p:nvPr>
        </p:nvSpPr>
        <p:spPr bwMode="auto">
          <a:xfrm>
            <a:off x="324000" y="235080"/>
            <a:ext cx="6474240" cy="336960"/>
          </a:xfrm>
          <a:prstGeom prst="rect">
            <a:avLst/>
          </a:prstGeom>
          <a:noFill/>
          <a:ln w="0">
            <a:noFill/>
          </a:ln>
        </p:spPr>
        <p:txBody>
          <a:bodyPr anchor="ctr">
            <a:noAutofit/>
          </a:bodyPr>
          <a:lstStyle/>
          <a:p>
            <a:pPr>
              <a:lnSpc>
                <a:spcPct val="90000"/>
              </a:lnSpc>
              <a:buNone/>
              <a:defRPr/>
            </a:pPr>
            <a:r>
              <a:rPr lang="zh-CN" sz="2000" b="0" strike="noStrike" spc="-1">
                <a:solidFill>
                  <a:srgbClr val="FFFFFF"/>
                </a:solidFill>
                <a:latin typeface="等线"/>
                <a:ea typeface="等线"/>
              </a:rPr>
              <a:t>单击此处编辑母版标题样式</a:t>
            </a:r>
            <a:endParaRPr lang="en-US" sz="2000" b="0" strike="noStrike" spc="-1">
              <a:solidFill>
                <a:srgbClr val="000000"/>
              </a:solidFill>
              <a:latin typeface="等线 Light"/>
            </a:endParaRPr>
          </a:p>
        </p:txBody>
      </p:sp>
      <p:sp>
        <p:nvSpPr>
          <p:cNvPr id="1530368313" name="矩形 12"/>
          <p:cNvSpPr/>
          <p:nvPr/>
        </p:nvSpPr>
        <p:spPr bwMode="auto">
          <a:xfrm>
            <a:off x="0" y="0"/>
            <a:ext cx="9143640" cy="107640"/>
          </a:xfrm>
          <a:prstGeom prst="rect">
            <a:avLst/>
          </a:prstGeom>
          <a:solidFill>
            <a:srgbClr val="004098"/>
          </a:solidFill>
          <a:ln>
            <a:noFill/>
          </a:ln>
        </p:spPr>
        <p:style>
          <a:lnRef idx="2">
            <a:schemeClr val="accent1">
              <a:shade val="50000"/>
            </a:schemeClr>
          </a:lnRef>
          <a:fillRef idx="1">
            <a:schemeClr val="accent1"/>
          </a:fillRef>
          <a:effectRef idx="0">
            <a:schemeClr val="accent1"/>
          </a:effectRef>
          <a:fontRef idx="minor"/>
        </p:style>
      </p:sp>
      <p:pic>
        <p:nvPicPr>
          <p:cNvPr id="1355793528" name="图片 2"/>
          <p:cNvPicPr/>
          <p:nvPr/>
        </p:nvPicPr>
        <p:blipFill rotWithShape="1">
          <a:blip r:embed="rId19"/>
          <a:stretch/>
        </p:blipFill>
        <p:spPr bwMode="auto">
          <a:xfrm>
            <a:off x="0" y="651240"/>
            <a:ext cx="9143640" cy="5184720"/>
          </a:xfrm>
          <a:prstGeom prst="rect">
            <a:avLst/>
          </a:prstGeom>
          <a:ln w="0">
            <a:noFill/>
          </a:ln>
        </p:spPr>
      </p:pic>
      <p:pic>
        <p:nvPicPr>
          <p:cNvPr id="123038012" name="图片 8"/>
          <p:cNvPicPr/>
          <p:nvPr/>
        </p:nvPicPr>
        <p:blipFill rotWithShape="1">
          <a:blip r:embed="rId14"/>
          <a:stretch/>
        </p:blipFill>
        <p:spPr bwMode="auto">
          <a:xfrm>
            <a:off x="0" y="0"/>
            <a:ext cx="9144360" cy="664200"/>
          </a:xfrm>
          <a:prstGeom prst="rect">
            <a:avLst/>
          </a:prstGeom>
          <a:ln w="0">
            <a:noFill/>
          </a:ln>
        </p:spPr>
      </p:pic>
      <p:sp>
        <p:nvSpPr>
          <p:cNvPr id="887289823" name="矩形 10"/>
          <p:cNvSpPr/>
          <p:nvPr/>
        </p:nvSpPr>
        <p:spPr bwMode="auto">
          <a:xfrm>
            <a:off x="0" y="0"/>
            <a:ext cx="9143640" cy="107640"/>
          </a:xfrm>
          <a:prstGeom prst="rect">
            <a:avLst/>
          </a:prstGeom>
          <a:solidFill>
            <a:srgbClr val="004098"/>
          </a:solidFill>
          <a:ln>
            <a:noFill/>
          </a:ln>
        </p:spPr>
        <p:style>
          <a:lnRef idx="2">
            <a:schemeClr val="accent1">
              <a:shade val="50000"/>
            </a:schemeClr>
          </a:lnRef>
          <a:fillRef idx="1">
            <a:schemeClr val="accent1"/>
          </a:fillRef>
          <a:effectRef idx="0">
            <a:schemeClr val="accent1"/>
          </a:effectRef>
          <a:fontRef idx="minor"/>
        </p:style>
      </p:sp>
      <p:pic>
        <p:nvPicPr>
          <p:cNvPr id="746102576" name="图片 11"/>
          <p:cNvPicPr/>
          <p:nvPr/>
        </p:nvPicPr>
        <p:blipFill rotWithShape="1">
          <a:blip r:embed="rId19"/>
          <a:stretch/>
        </p:blipFill>
        <p:spPr bwMode="auto">
          <a:xfrm>
            <a:off x="0" y="651240"/>
            <a:ext cx="9143640" cy="5184720"/>
          </a:xfrm>
          <a:prstGeom prst="rect">
            <a:avLst/>
          </a:prstGeom>
          <a:ln w="0">
            <a:noFill/>
          </a:ln>
        </p:spPr>
      </p:pic>
      <p:sp>
        <p:nvSpPr>
          <p:cNvPr id="1826378939" name="灯片编号占位符 5"/>
          <p:cNvSpPr/>
          <p:nvPr/>
        </p:nvSpPr>
        <p:spPr bwMode="auto">
          <a:xfrm>
            <a:off x="8563680" y="311760"/>
            <a:ext cx="632520" cy="310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defRPr/>
            </a:pPr>
            <a:fld id="{741885CC-9F99-4476-B73D-68FAAD58FDED}" type="slidenum">
              <a:rPr lang="en-US" sz="1200" b="0" strike="noStrike" spc="-60">
                <a:solidFill>
                  <a:srgbClr val="FFFFFF"/>
                </a:solidFill>
                <a:latin typeface="微软雅黑"/>
                <a:ea typeface="微软雅黑"/>
              </a:rPr>
              <a:t>‹#›</a:t>
            </a:fld>
            <a:endParaRPr lang="en-US" sz="1200" b="0" strike="noStrike" spc="-1">
              <a:latin typeface="Arial"/>
            </a:endParaRPr>
          </a:p>
        </p:txBody>
      </p:sp>
      <p:sp>
        <p:nvSpPr>
          <p:cNvPr id="2034197989" name="文本框 4"/>
          <p:cNvSpPr/>
          <p:nvPr/>
        </p:nvSpPr>
        <p:spPr bwMode="auto">
          <a:xfrm>
            <a:off x="8252640" y="311760"/>
            <a:ext cx="536400" cy="272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defRPr/>
            </a:pPr>
            <a:r>
              <a:rPr lang="en-US" sz="1200" b="0" strike="noStrike" spc="-60">
                <a:solidFill>
                  <a:srgbClr val="FFFFFF"/>
                </a:solidFill>
                <a:latin typeface="微软雅黑"/>
                <a:ea typeface="微软雅黑"/>
              </a:rPr>
              <a:t>Page.</a:t>
            </a:r>
            <a:endParaRPr lang="en-US" sz="1200" b="0" strike="noStrike" spc="-1">
              <a:latin typeface="Arial"/>
            </a:endParaRPr>
          </a:p>
        </p:txBody>
      </p:sp>
      <p:sp>
        <p:nvSpPr>
          <p:cNvPr id="1777100212" name="PlaceHolder 2"/>
          <p:cNvSpPr>
            <a:spLocks noGrp="1"/>
          </p:cNvSpPr>
          <p:nvPr>
            <p:ph type="body"/>
          </p:nvPr>
        </p:nvSpPr>
        <p:spPr bwMode="auto">
          <a:xfrm>
            <a:off x="457200" y="1604520"/>
            <a:ext cx="8229240" cy="3977280"/>
          </a:xfrm>
          <a:prstGeom prst="rect">
            <a:avLst/>
          </a:prstGeom>
          <a:noFill/>
          <a:ln w="0">
            <a:noFill/>
          </a:ln>
        </p:spPr>
        <p:txBody>
          <a:bodyPr lIns="0" tIns="0" rIns="0" bIns="0" anchor="t">
            <a:normAutofit/>
          </a:bodyPr>
          <a:lstStyle/>
          <a:p>
            <a:pPr marL="432000" indent="-324000">
              <a:lnSpc>
                <a:spcPct val="120000"/>
              </a:lnSpc>
              <a:spcBef>
                <a:spcPts val="1417"/>
              </a:spcBef>
              <a:buClr>
                <a:srgbClr val="000000"/>
              </a:buClr>
              <a:buSzPct val="45000"/>
              <a:buFont typeface="Wingdings"/>
              <a:buChar char=""/>
              <a:defRPr/>
            </a:pPr>
            <a:r>
              <a:rPr lang="zh-CN" sz="2800" b="0" strike="noStrike" spc="-1">
                <a:solidFill>
                  <a:srgbClr val="000000"/>
                </a:solidFill>
                <a:latin typeface="等线 Light"/>
              </a:rPr>
              <a:t>点击以编辑提纲文本格式</a:t>
            </a:r>
            <a:endParaRPr lang="en-US" sz="2800" b="0" strike="noStrike" spc="-1">
              <a:solidFill>
                <a:srgbClr val="000000"/>
              </a:solidFill>
              <a:latin typeface="等线 Light"/>
            </a:endParaRPr>
          </a:p>
          <a:p>
            <a:pPr marL="864000" lvl="1" indent="-324000">
              <a:lnSpc>
                <a:spcPct val="120000"/>
              </a:lnSpc>
              <a:spcBef>
                <a:spcPts val="1134"/>
              </a:spcBef>
              <a:buClr>
                <a:srgbClr val="000000"/>
              </a:buClr>
              <a:buSzPct val="75000"/>
              <a:buFont typeface="Symbol"/>
              <a:buChar char=""/>
              <a:defRPr/>
            </a:pPr>
            <a:r>
              <a:rPr lang="zh-CN" sz="2000" b="0" strike="noStrike" spc="-1">
                <a:solidFill>
                  <a:srgbClr val="000000"/>
                </a:solidFill>
                <a:latin typeface="等线 Light"/>
              </a:rPr>
              <a:t>第二提纲级别</a:t>
            </a:r>
            <a:endParaRPr lang="en-US" sz="2000" b="0" strike="noStrike" spc="-1">
              <a:solidFill>
                <a:srgbClr val="000000"/>
              </a:solidFill>
              <a:latin typeface="等线 Light"/>
            </a:endParaRPr>
          </a:p>
          <a:p>
            <a:pPr marL="1296000" lvl="2" indent="-288000">
              <a:lnSpc>
                <a:spcPct val="120000"/>
              </a:lnSpc>
              <a:spcBef>
                <a:spcPts val="850"/>
              </a:spcBef>
              <a:buClr>
                <a:srgbClr val="000000"/>
              </a:buClr>
              <a:buSzPct val="45000"/>
              <a:buFont typeface="Wingdings"/>
              <a:buChar char=""/>
              <a:defRPr/>
            </a:pPr>
            <a:r>
              <a:rPr lang="zh-CN" sz="1800" b="0" strike="noStrike" spc="-1">
                <a:solidFill>
                  <a:srgbClr val="000000"/>
                </a:solidFill>
                <a:latin typeface="等线 Light"/>
              </a:rPr>
              <a:t>第三提纲级别</a:t>
            </a:r>
            <a:endParaRPr lang="en-US" sz="1800" b="0" strike="noStrike" spc="-1">
              <a:solidFill>
                <a:srgbClr val="000000"/>
              </a:solidFill>
              <a:latin typeface="等线 Light"/>
            </a:endParaRPr>
          </a:p>
          <a:p>
            <a:pPr marL="1728000" lvl="3" indent="-216000">
              <a:lnSpc>
                <a:spcPct val="120000"/>
              </a:lnSpc>
              <a:spcBef>
                <a:spcPts val="567"/>
              </a:spcBef>
              <a:buClr>
                <a:srgbClr val="000000"/>
              </a:buClr>
              <a:buSzPct val="75000"/>
              <a:buFont typeface="Symbol"/>
              <a:buChar char=""/>
              <a:defRPr/>
            </a:pPr>
            <a:r>
              <a:rPr lang="zh-CN" sz="1800" b="0" strike="noStrike" spc="-1">
                <a:solidFill>
                  <a:srgbClr val="000000"/>
                </a:solidFill>
                <a:latin typeface="等线 Light"/>
              </a:rPr>
              <a:t>第四提纲级别</a:t>
            </a:r>
            <a:endParaRPr lang="en-US" sz="1800" b="0" strike="noStrike" spc="-1">
              <a:solidFill>
                <a:srgbClr val="000000"/>
              </a:solidFill>
              <a:latin typeface="等线 Light"/>
            </a:endParaRPr>
          </a:p>
          <a:p>
            <a:pPr marL="2160000" lvl="4" indent="-216000">
              <a:lnSpc>
                <a:spcPct val="120000"/>
              </a:lnSpc>
              <a:spcBef>
                <a:spcPts val="283"/>
              </a:spcBef>
              <a:buClr>
                <a:srgbClr val="000000"/>
              </a:buClr>
              <a:buSzPct val="45000"/>
              <a:buFont typeface="Wingdings"/>
              <a:buChar char=""/>
              <a:defRPr/>
            </a:pPr>
            <a:r>
              <a:rPr lang="zh-CN" sz="2000" b="0" strike="noStrike" spc="-1">
                <a:solidFill>
                  <a:srgbClr val="000000"/>
                </a:solidFill>
                <a:latin typeface="等线 Light"/>
              </a:rPr>
              <a:t>第五提纲级别</a:t>
            </a:r>
            <a:endParaRPr lang="en-US" sz="2000" b="0" strike="noStrike" spc="-1">
              <a:solidFill>
                <a:srgbClr val="000000"/>
              </a:solidFill>
              <a:latin typeface="等线 Light"/>
            </a:endParaRPr>
          </a:p>
          <a:p>
            <a:pPr marL="2592000" lvl="5" indent="-216000">
              <a:lnSpc>
                <a:spcPct val="120000"/>
              </a:lnSpc>
              <a:spcBef>
                <a:spcPts val="283"/>
              </a:spcBef>
              <a:buClr>
                <a:srgbClr val="000000"/>
              </a:buClr>
              <a:buSzPct val="45000"/>
              <a:buFont typeface="Wingdings"/>
              <a:buChar char=""/>
              <a:defRPr/>
            </a:pPr>
            <a:r>
              <a:rPr lang="zh-CN" sz="2000" b="0" strike="noStrike" spc="-1">
                <a:solidFill>
                  <a:srgbClr val="000000"/>
                </a:solidFill>
                <a:latin typeface="等线 Light"/>
              </a:rPr>
              <a:t>第六提纲级别</a:t>
            </a:r>
            <a:endParaRPr lang="en-US" sz="2000" b="0" strike="noStrike" spc="-1">
              <a:solidFill>
                <a:srgbClr val="000000"/>
              </a:solidFill>
              <a:latin typeface="等线 Light"/>
            </a:endParaRPr>
          </a:p>
          <a:p>
            <a:pPr marL="3024000" lvl="6" indent="-216000">
              <a:lnSpc>
                <a:spcPct val="120000"/>
              </a:lnSpc>
              <a:spcBef>
                <a:spcPts val="283"/>
              </a:spcBef>
              <a:buClr>
                <a:srgbClr val="000000"/>
              </a:buClr>
              <a:buSzPct val="45000"/>
              <a:buFont typeface="Wingdings"/>
              <a:buChar char=""/>
              <a:defRPr/>
            </a:pPr>
            <a:r>
              <a:rPr lang="zh-CN" sz="2000" b="0" strike="noStrike" spc="-1">
                <a:solidFill>
                  <a:srgbClr val="000000"/>
                </a:solidFill>
                <a:latin typeface="等线 Light"/>
              </a:rPr>
              <a:t>第七提纲级别</a:t>
            </a:r>
            <a:endParaRPr lang="en-US" sz="2000" b="0" strike="noStrike" spc="-1">
              <a:solidFill>
                <a:srgbClr val="000000"/>
              </a:solidFill>
              <a:latin typeface="等线 Light"/>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bwMode="auto">
        <a:xfrm>
          <a:off x="0" y="0"/>
          <a:ext cx="0" cy="0"/>
          <a:chOff x="0" y="0"/>
          <a:chExt cx="0" cy="0"/>
        </a:xfrm>
      </p:grpSpPr>
      <p:pic>
        <p:nvPicPr>
          <p:cNvPr id="1422127627" name="图片 1"/>
          <p:cNvPicPr/>
          <p:nvPr/>
        </p:nvPicPr>
        <p:blipFill rotWithShape="1">
          <a:blip r:embed="rId14"/>
          <a:stretch/>
        </p:blipFill>
        <p:spPr bwMode="auto">
          <a:xfrm>
            <a:off x="0" y="0"/>
            <a:ext cx="9144360" cy="664200"/>
          </a:xfrm>
          <a:prstGeom prst="rect">
            <a:avLst/>
          </a:prstGeom>
          <a:ln w="0">
            <a:noFill/>
          </a:ln>
        </p:spPr>
      </p:pic>
      <p:sp>
        <p:nvSpPr>
          <p:cNvPr id="1350452005" name="矩形 9"/>
          <p:cNvSpPr/>
          <p:nvPr/>
        </p:nvSpPr>
        <p:spPr bwMode="auto">
          <a:xfrm>
            <a:off x="0" y="6766560"/>
            <a:ext cx="9143640" cy="91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pic>
        <p:nvPicPr>
          <p:cNvPr id="455510545" name="图片 11"/>
          <p:cNvPicPr/>
          <p:nvPr/>
        </p:nvPicPr>
        <p:blipFill rotWithShape="1">
          <a:blip r:embed="rId15"/>
          <a:stretch/>
        </p:blipFill>
        <p:spPr bwMode="auto">
          <a:xfrm>
            <a:off x="493920" y="168480"/>
            <a:ext cx="1517400" cy="401040"/>
          </a:xfrm>
          <a:prstGeom prst="rect">
            <a:avLst/>
          </a:prstGeom>
          <a:ln w="0">
            <a:noFill/>
          </a:ln>
        </p:spPr>
      </p:pic>
      <p:sp>
        <p:nvSpPr>
          <p:cNvPr id="2130627943" name="矩形 12"/>
          <p:cNvSpPr/>
          <p:nvPr/>
        </p:nvSpPr>
        <p:spPr bwMode="auto">
          <a:xfrm>
            <a:off x="0" y="0"/>
            <a:ext cx="9143640" cy="107640"/>
          </a:xfrm>
          <a:prstGeom prst="rect">
            <a:avLst/>
          </a:prstGeom>
          <a:solidFill>
            <a:srgbClr val="004098"/>
          </a:solidFill>
          <a:ln>
            <a:noFill/>
          </a:ln>
        </p:spPr>
        <p:style>
          <a:lnRef idx="2">
            <a:schemeClr val="accent1">
              <a:shade val="50000"/>
            </a:schemeClr>
          </a:lnRef>
          <a:fillRef idx="1">
            <a:schemeClr val="accent1"/>
          </a:fillRef>
          <a:effectRef idx="0">
            <a:schemeClr val="accent1"/>
          </a:effectRef>
          <a:fontRef idx="minor"/>
        </p:style>
      </p:sp>
      <p:pic>
        <p:nvPicPr>
          <p:cNvPr id="912643661" name="图片 13"/>
          <p:cNvPicPr/>
          <p:nvPr/>
        </p:nvPicPr>
        <p:blipFill rotWithShape="1">
          <a:blip r:embed="rId16">
            <a:extLst>
              <a:ext uri="{96DAC541-7B7A-43D3-8B79-37D633B846F1}">
                <asvg:svgBlip xmlns:asvg="http://schemas.microsoft.com/office/drawing/2016/SVG/main" r:embed="rId17"/>
              </a:ext>
            </a:extLst>
          </a:blip>
          <a:stretch/>
        </p:blipFill>
        <p:spPr bwMode="auto">
          <a:xfrm>
            <a:off x="11520" y="1086480"/>
            <a:ext cx="9143640" cy="332280"/>
          </a:xfrm>
          <a:prstGeom prst="rect">
            <a:avLst/>
          </a:prstGeom>
          <a:ln w="0">
            <a:noFill/>
          </a:ln>
        </p:spPr>
      </p:pic>
      <p:pic>
        <p:nvPicPr>
          <p:cNvPr id="1059046057" name="图片 8"/>
          <p:cNvPicPr/>
          <p:nvPr/>
        </p:nvPicPr>
        <p:blipFill rotWithShape="1">
          <a:blip r:embed="rId14"/>
          <a:stretch/>
        </p:blipFill>
        <p:spPr bwMode="auto">
          <a:xfrm>
            <a:off x="0" y="0"/>
            <a:ext cx="9144360" cy="664200"/>
          </a:xfrm>
          <a:prstGeom prst="rect">
            <a:avLst/>
          </a:prstGeom>
          <a:ln w="0">
            <a:noFill/>
          </a:ln>
        </p:spPr>
      </p:pic>
      <p:sp>
        <p:nvSpPr>
          <p:cNvPr id="136851968" name="矩形 10"/>
          <p:cNvSpPr/>
          <p:nvPr/>
        </p:nvSpPr>
        <p:spPr bwMode="auto">
          <a:xfrm>
            <a:off x="0" y="6766560"/>
            <a:ext cx="9143640" cy="91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pic>
        <p:nvPicPr>
          <p:cNvPr id="1739772899" name="图片 14"/>
          <p:cNvPicPr/>
          <p:nvPr/>
        </p:nvPicPr>
        <p:blipFill rotWithShape="1">
          <a:blip r:embed="rId15"/>
          <a:stretch/>
        </p:blipFill>
        <p:spPr bwMode="auto">
          <a:xfrm>
            <a:off x="493920" y="168480"/>
            <a:ext cx="1517400" cy="401040"/>
          </a:xfrm>
          <a:prstGeom prst="rect">
            <a:avLst/>
          </a:prstGeom>
          <a:ln w="0">
            <a:noFill/>
          </a:ln>
        </p:spPr>
      </p:pic>
      <p:sp>
        <p:nvSpPr>
          <p:cNvPr id="1688698649" name="矩形 15"/>
          <p:cNvSpPr/>
          <p:nvPr/>
        </p:nvSpPr>
        <p:spPr bwMode="auto">
          <a:xfrm>
            <a:off x="0" y="0"/>
            <a:ext cx="9143640" cy="107640"/>
          </a:xfrm>
          <a:prstGeom prst="rect">
            <a:avLst/>
          </a:prstGeom>
          <a:solidFill>
            <a:srgbClr val="004098"/>
          </a:solidFill>
          <a:ln>
            <a:noFill/>
          </a:ln>
        </p:spPr>
        <p:style>
          <a:lnRef idx="2">
            <a:schemeClr val="accent1">
              <a:shade val="50000"/>
            </a:schemeClr>
          </a:lnRef>
          <a:fillRef idx="1">
            <a:schemeClr val="accent1"/>
          </a:fillRef>
          <a:effectRef idx="0">
            <a:schemeClr val="accent1"/>
          </a:effectRef>
          <a:fontRef idx="minor"/>
        </p:style>
      </p:sp>
      <p:pic>
        <p:nvPicPr>
          <p:cNvPr id="494637307" name="图片 16"/>
          <p:cNvPicPr/>
          <p:nvPr/>
        </p:nvPicPr>
        <p:blipFill rotWithShape="1">
          <a:blip r:embed="rId16">
            <a:extLst>
              <a:ext uri="{96DAC541-7B7A-43D3-8B79-37D633B846F1}">
                <asvg:svgBlip xmlns:asvg="http://schemas.microsoft.com/office/drawing/2016/SVG/main" r:embed="rId17"/>
              </a:ext>
            </a:extLst>
          </a:blip>
          <a:stretch/>
        </p:blipFill>
        <p:spPr bwMode="auto">
          <a:xfrm>
            <a:off x="11520" y="1086480"/>
            <a:ext cx="9143640" cy="332280"/>
          </a:xfrm>
          <a:prstGeom prst="rect">
            <a:avLst/>
          </a:prstGeom>
          <a:ln w="0">
            <a:noFill/>
          </a:ln>
        </p:spPr>
      </p:pic>
      <p:sp>
        <p:nvSpPr>
          <p:cNvPr id="857466128" name="灯片编号占位符 5"/>
          <p:cNvSpPr/>
          <p:nvPr/>
        </p:nvSpPr>
        <p:spPr bwMode="auto">
          <a:xfrm>
            <a:off x="8563680" y="311760"/>
            <a:ext cx="632520" cy="310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defRPr/>
            </a:pPr>
            <a:fld id="{B0D39674-65D2-490A-9771-1081615077E5}" type="slidenum">
              <a:rPr lang="en-US" sz="1200" b="0" strike="noStrike" spc="-60">
                <a:solidFill>
                  <a:srgbClr val="FFFFFF"/>
                </a:solidFill>
                <a:latin typeface="微软雅黑"/>
                <a:ea typeface="微软雅黑"/>
              </a:rPr>
              <a:t>‹#›</a:t>
            </a:fld>
            <a:endParaRPr lang="en-US" sz="1200" b="0" strike="noStrike" spc="-1">
              <a:latin typeface="Arial"/>
            </a:endParaRPr>
          </a:p>
        </p:txBody>
      </p:sp>
      <p:sp>
        <p:nvSpPr>
          <p:cNvPr id="1619549057" name="文本框 7"/>
          <p:cNvSpPr/>
          <p:nvPr/>
        </p:nvSpPr>
        <p:spPr bwMode="auto">
          <a:xfrm>
            <a:off x="8252640" y="311760"/>
            <a:ext cx="536400" cy="272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defRPr/>
            </a:pPr>
            <a:r>
              <a:rPr lang="en-US" sz="1200" b="0" strike="noStrike" spc="-60">
                <a:solidFill>
                  <a:srgbClr val="FFFFFF"/>
                </a:solidFill>
                <a:latin typeface="微软雅黑"/>
                <a:ea typeface="微软雅黑"/>
              </a:rPr>
              <a:t>Page.</a:t>
            </a:r>
            <a:endParaRPr lang="en-US" sz="1200" b="0" strike="noStrike" spc="-1">
              <a:latin typeface="Arial"/>
            </a:endParaRPr>
          </a:p>
        </p:txBody>
      </p:sp>
      <p:sp>
        <p:nvSpPr>
          <p:cNvPr id="705162215" name="PlaceHolder 1"/>
          <p:cNvSpPr>
            <a:spLocks noGrp="1"/>
          </p:cNvSpPr>
          <p:nvPr>
            <p:ph type="body"/>
          </p:nvPr>
        </p:nvSpPr>
        <p:spPr bwMode="auto">
          <a:xfrm>
            <a:off x="493920" y="1685520"/>
            <a:ext cx="8371800" cy="4921200"/>
          </a:xfrm>
          <a:prstGeom prst="rect">
            <a:avLst/>
          </a:prstGeom>
          <a:noFill/>
          <a:ln w="0">
            <a:noFill/>
          </a:ln>
        </p:spPr>
        <p:txBody>
          <a:bodyPr anchor="t">
            <a:normAutofit/>
          </a:bodyPr>
          <a:lstStyle/>
          <a:p>
            <a:pPr marL="228600" indent="-228600">
              <a:lnSpc>
                <a:spcPct val="120000"/>
              </a:lnSpc>
              <a:spcBef>
                <a:spcPts val="1001"/>
              </a:spcBef>
              <a:buClr>
                <a:srgbClr val="004098"/>
              </a:buClr>
              <a:buFont typeface="Calibri"/>
              <a:buChar char="▪"/>
              <a:defRPr/>
            </a:pPr>
            <a:r>
              <a:rPr lang="zh-CN" sz="2000" b="0" strike="noStrike" spc="-1">
                <a:solidFill>
                  <a:srgbClr val="000000"/>
                </a:solidFill>
                <a:latin typeface="等线 Light"/>
                <a:ea typeface="等线"/>
              </a:rPr>
              <a:t>编辑母版文本样式</a:t>
            </a:r>
            <a:endParaRPr lang="en-US" sz="2000" b="0" strike="noStrike" spc="-1">
              <a:solidFill>
                <a:srgbClr val="000000"/>
              </a:solidFill>
              <a:latin typeface="等线 Light"/>
            </a:endParaRPr>
          </a:p>
          <a:p>
            <a:pPr marL="685800" lvl="1" indent="-228600">
              <a:lnSpc>
                <a:spcPct val="120000"/>
              </a:lnSpc>
              <a:spcBef>
                <a:spcPts val="499"/>
              </a:spcBef>
              <a:buClr>
                <a:srgbClr val="004098"/>
              </a:buClr>
              <a:buFont typeface="Calibri"/>
              <a:buChar char="▪"/>
              <a:defRPr/>
            </a:pPr>
            <a:r>
              <a:rPr lang="zh-CN" sz="1800" b="0" strike="noStrike" spc="-1">
                <a:solidFill>
                  <a:srgbClr val="000000"/>
                </a:solidFill>
                <a:latin typeface="等线 Light"/>
                <a:ea typeface="等线"/>
              </a:rPr>
              <a:t>第二级</a:t>
            </a:r>
            <a:endParaRPr lang="en-US" sz="1800" b="0" strike="noStrike" spc="-1">
              <a:solidFill>
                <a:srgbClr val="000000"/>
              </a:solidFill>
              <a:latin typeface="等线 Light"/>
            </a:endParaRPr>
          </a:p>
          <a:p>
            <a:pPr marL="1143000" lvl="2" indent="-228600">
              <a:lnSpc>
                <a:spcPct val="120000"/>
              </a:lnSpc>
              <a:spcBef>
                <a:spcPts val="499"/>
              </a:spcBef>
              <a:buClr>
                <a:srgbClr val="004098"/>
              </a:buClr>
              <a:buFont typeface="Calibri"/>
              <a:buChar char="▪"/>
              <a:defRPr/>
            </a:pPr>
            <a:r>
              <a:rPr lang="zh-CN" sz="1600" b="0" strike="noStrike" spc="-1">
                <a:solidFill>
                  <a:srgbClr val="000000"/>
                </a:solidFill>
                <a:latin typeface="等线 Light"/>
                <a:ea typeface="等线"/>
              </a:rPr>
              <a:t>第三级</a:t>
            </a:r>
            <a:endParaRPr lang="en-US" sz="1600" b="0" strike="noStrike" spc="-1">
              <a:solidFill>
                <a:srgbClr val="000000"/>
              </a:solidFill>
              <a:latin typeface="等线 Light"/>
            </a:endParaRPr>
          </a:p>
          <a:p>
            <a:pPr marL="1600200" lvl="3" indent="-228600">
              <a:lnSpc>
                <a:spcPct val="120000"/>
              </a:lnSpc>
              <a:spcBef>
                <a:spcPts val="499"/>
              </a:spcBef>
              <a:buClr>
                <a:srgbClr val="004098"/>
              </a:buClr>
              <a:buFont typeface="Calibri"/>
              <a:buChar char="▪"/>
              <a:defRPr/>
            </a:pPr>
            <a:r>
              <a:rPr lang="zh-CN" sz="1400" b="0" strike="noStrike" spc="-1">
                <a:solidFill>
                  <a:srgbClr val="000000"/>
                </a:solidFill>
                <a:latin typeface="等线 Light"/>
                <a:ea typeface="等线"/>
              </a:rPr>
              <a:t>第四级</a:t>
            </a:r>
            <a:endParaRPr lang="en-US" sz="1400" b="0" strike="noStrike" spc="-1">
              <a:solidFill>
                <a:srgbClr val="000000"/>
              </a:solidFill>
              <a:latin typeface="等线 Light"/>
            </a:endParaRPr>
          </a:p>
          <a:p>
            <a:pPr marL="2057400" lvl="4" indent="-228600">
              <a:lnSpc>
                <a:spcPct val="120000"/>
              </a:lnSpc>
              <a:spcBef>
                <a:spcPts val="499"/>
              </a:spcBef>
              <a:buClr>
                <a:srgbClr val="004098"/>
              </a:buClr>
              <a:buFont typeface="Calibri"/>
              <a:buChar char="▪"/>
              <a:defRPr/>
            </a:pPr>
            <a:r>
              <a:rPr lang="zh-CN" sz="1400" b="0" strike="noStrike" spc="-1">
                <a:solidFill>
                  <a:srgbClr val="000000"/>
                </a:solidFill>
                <a:latin typeface="等线 Light"/>
                <a:ea typeface="等线"/>
              </a:rPr>
              <a:t>第五级</a:t>
            </a:r>
            <a:endParaRPr lang="en-US" sz="1400" b="0" strike="noStrike" spc="-1">
              <a:solidFill>
                <a:srgbClr val="000000"/>
              </a:solidFill>
              <a:latin typeface="等线 Light"/>
            </a:endParaRPr>
          </a:p>
        </p:txBody>
      </p:sp>
      <p:sp>
        <p:nvSpPr>
          <p:cNvPr id="262602053" name="PlaceHolder 2"/>
          <p:cNvSpPr>
            <a:spLocks noGrp="1"/>
          </p:cNvSpPr>
          <p:nvPr>
            <p:ph type="title"/>
          </p:nvPr>
        </p:nvSpPr>
        <p:spPr bwMode="auto">
          <a:xfrm>
            <a:off x="493920" y="974160"/>
            <a:ext cx="8371800" cy="573840"/>
          </a:xfrm>
          <a:prstGeom prst="rect">
            <a:avLst/>
          </a:prstGeom>
          <a:noFill/>
          <a:ln w="0">
            <a:noFill/>
          </a:ln>
        </p:spPr>
        <p:txBody>
          <a:bodyPr anchor="ctr">
            <a:noAutofit/>
          </a:bodyPr>
          <a:lstStyle/>
          <a:p>
            <a:pPr>
              <a:lnSpc>
                <a:spcPct val="90000"/>
              </a:lnSpc>
              <a:buNone/>
              <a:defRPr/>
            </a:pPr>
            <a:r>
              <a:rPr lang="zh-CN" sz="3200" b="1" strike="noStrike" spc="-1">
                <a:solidFill>
                  <a:srgbClr val="004098"/>
                </a:solidFill>
                <a:latin typeface="等线"/>
                <a:ea typeface="等线"/>
              </a:rPr>
              <a:t>单击此处编辑母版标题样式</a:t>
            </a:r>
            <a:endParaRPr lang="en-US" sz="3200" b="0" strike="noStrike" spc="-1">
              <a:solidFill>
                <a:srgbClr val="000000"/>
              </a:solidFill>
              <a:latin typeface="等线 Light"/>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9.gif"/></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25.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5.xml"/><Relationship Id="rId4" Type="http://schemas.openxmlformats.org/officeDocument/2006/relationships/image" Target="../media/image18.gif"/></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5.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5.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5.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5.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5.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5.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5.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5.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a:extLst>
              <a:ext uri="{FF2B5EF4-FFF2-40B4-BE49-F238E27FC236}">
                <a16:creationId xmlns:a16="http://schemas.microsoft.com/office/drawing/2014/main" id="{FA5371EA-CF4B-885D-6A04-EE176B343175}"/>
              </a:ext>
            </a:extLst>
          </p:cNvPr>
          <p:cNvSpPr txBox="1">
            <a:spLocks/>
          </p:cNvSpPr>
          <p:nvPr/>
        </p:nvSpPr>
        <p:spPr bwMode="auto">
          <a:xfrm>
            <a:off x="1766122" y="4025941"/>
            <a:ext cx="5611752" cy="1093474"/>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defRPr/>
            </a:pPr>
            <a:r>
              <a:rPr lang="en-US" sz="3200">
                <a:solidFill>
                  <a:schemeClr val="bg1"/>
                </a:solidFill>
                <a:latin typeface="Times New Roman"/>
                <a:cs typeface="Times New Roman"/>
              </a:rPr>
              <a:t>GraspGen-</a:t>
            </a:r>
            <a:r>
              <a:rPr lang="zh-CN" sz="3200">
                <a:solidFill>
                  <a:schemeClr val="bg1"/>
                </a:solidFill>
                <a:latin typeface="Times New Roman"/>
                <a:cs typeface="Times New Roman"/>
              </a:rPr>
              <a:t>第十六周汇报</a:t>
            </a:r>
          </a:p>
        </p:txBody>
      </p:sp>
      <p:sp>
        <p:nvSpPr>
          <p:cNvPr id="3" name="副标题 4">
            <a:extLst>
              <a:ext uri="{FF2B5EF4-FFF2-40B4-BE49-F238E27FC236}">
                <a16:creationId xmlns:a16="http://schemas.microsoft.com/office/drawing/2014/main" id="{D60651EF-DAB7-206E-B7C7-C5F4329A1D74}"/>
              </a:ext>
            </a:extLst>
          </p:cNvPr>
          <p:cNvSpPr txBox="1">
            <a:spLocks/>
          </p:cNvSpPr>
          <p:nvPr/>
        </p:nvSpPr>
        <p:spPr bwMode="auto">
          <a:xfrm>
            <a:off x="1516507" y="5207099"/>
            <a:ext cx="6850876" cy="1093474"/>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2000" b="1">
                <a:solidFill>
                  <a:schemeClr val="bg1"/>
                </a:solidFill>
                <a:latin typeface="Times New Roman"/>
                <a:ea typeface="微软雅黑"/>
                <a:cs typeface="Times New Roman"/>
              </a:rPr>
              <a:t>姓名：李政磊 </a:t>
            </a:r>
            <a:r>
              <a:rPr lang="en-US" altLang="zh-CN" sz="2000" b="1">
                <a:solidFill>
                  <a:schemeClr val="bg1"/>
                </a:solidFill>
                <a:latin typeface="Times New Roman"/>
                <a:ea typeface="微软雅黑"/>
                <a:cs typeface="Times New Roman"/>
              </a:rPr>
              <a:t>| </a:t>
            </a:r>
            <a:r>
              <a:rPr lang="zh-CN" altLang="en-US" sz="2000" b="1">
                <a:solidFill>
                  <a:schemeClr val="bg1"/>
                </a:solidFill>
                <a:latin typeface="Times New Roman"/>
                <a:ea typeface="微软雅黑"/>
                <a:cs typeface="Times New Roman"/>
              </a:rPr>
              <a:t>胡靖秋</a:t>
            </a:r>
          </a:p>
          <a:p>
            <a:pPr>
              <a:defRPr/>
            </a:pPr>
            <a:r>
              <a:rPr lang="zh-CN" altLang="en-US" sz="2000" b="1">
                <a:solidFill>
                  <a:schemeClr val="bg1"/>
                </a:solidFill>
                <a:latin typeface="Times New Roman"/>
                <a:ea typeface="微软雅黑"/>
                <a:cs typeface="Times New Roman"/>
              </a:rPr>
              <a:t>日期：</a:t>
            </a:r>
            <a:r>
              <a:rPr lang="en-US" altLang="zh-CN" sz="2000" b="1">
                <a:solidFill>
                  <a:schemeClr val="bg1"/>
                </a:solidFill>
                <a:latin typeface="Times New Roman"/>
                <a:ea typeface="微软雅黑"/>
                <a:cs typeface="Times New Roman"/>
              </a:rPr>
              <a:t>2026</a:t>
            </a:r>
            <a:r>
              <a:rPr lang="zh-CN" altLang="en-US" sz="2000" b="1">
                <a:solidFill>
                  <a:schemeClr val="bg1"/>
                </a:solidFill>
                <a:latin typeface="Times New Roman"/>
                <a:ea typeface="微软雅黑"/>
                <a:cs typeface="Times New Roman"/>
              </a:rPr>
              <a:t>年</a:t>
            </a:r>
            <a:r>
              <a:rPr lang="en-US" altLang="zh-CN" sz="2000" b="1">
                <a:solidFill>
                  <a:schemeClr val="bg1"/>
                </a:solidFill>
                <a:latin typeface="Times New Roman"/>
                <a:ea typeface="微软雅黑"/>
                <a:cs typeface="Times New Roman"/>
              </a:rPr>
              <a:t>06</a:t>
            </a:r>
            <a:r>
              <a:rPr lang="zh-CN" altLang="en-US" sz="2000" b="1">
                <a:solidFill>
                  <a:schemeClr val="bg1"/>
                </a:solidFill>
                <a:latin typeface="Times New Roman"/>
                <a:ea typeface="微软雅黑"/>
                <a:cs typeface="Times New Roman"/>
              </a:rPr>
              <a:t>月</a:t>
            </a:r>
            <a:r>
              <a:rPr lang="en-US" altLang="zh-CN" sz="2000" b="1">
                <a:solidFill>
                  <a:schemeClr val="bg1"/>
                </a:solidFill>
                <a:latin typeface="Times New Roman"/>
                <a:ea typeface="微软雅黑"/>
                <a:cs typeface="Times New Roman"/>
              </a:rPr>
              <a:t>14</a:t>
            </a:r>
            <a:r>
              <a:rPr lang="zh-CN" altLang="en-US" sz="2000" b="1">
                <a:solidFill>
                  <a:schemeClr val="bg1"/>
                </a:solidFill>
                <a:latin typeface="Times New Roman"/>
                <a:ea typeface="微软雅黑"/>
                <a:cs typeface="Times New Roman"/>
              </a:rPr>
              <a:t>日</a:t>
            </a:r>
            <a:endParaRPr lang="zh-CN" altLang="en-US">
              <a:solidFill>
                <a:schemeClr val="bg1"/>
              </a:solidFill>
            </a:endParaRPr>
          </a:p>
        </p:txBody>
      </p:sp>
    </p:spTree>
    <p:extLst>
      <p:ext uri="{BB962C8B-B14F-4D97-AF65-F5344CB8AC3E}">
        <p14:creationId xmlns:p14="http://schemas.microsoft.com/office/powerpoint/2010/main" val="3607616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78503969" name="标题 1"/>
          <p:cNvSpPr>
            <a:spLocks noGrp="1"/>
          </p:cNvSpPr>
          <p:nvPr>
            <p:ph type="title"/>
          </p:nvPr>
        </p:nvSpPr>
        <p:spPr bwMode="auto">
          <a:xfrm>
            <a:off x="117468" y="1124744"/>
            <a:ext cx="0" cy="0"/>
          </a:xfrm>
        </p:spPr>
        <p:txBody>
          <a:bodyPr>
            <a:normAutofit fontScale="90000"/>
          </a:bodyPr>
          <a:lstStyle/>
          <a:p>
            <a:pPr>
              <a:defRPr/>
            </a:pPr>
            <a:r>
              <a:rPr lang="zh-CN" altLang="en-US" sz="2400" b="1" dirty="0">
                <a:solidFill>
                  <a:srgbClr val="004993"/>
                </a:solidFill>
                <a:latin typeface="Noto Sans CJK SC"/>
                <a:ea typeface="等线"/>
              </a:rPr>
              <a:t>目录</a:t>
            </a:r>
            <a:r>
              <a:rPr lang="en-US" altLang="zh-CN" sz="2400" b="1" dirty="0">
                <a:solidFill>
                  <a:srgbClr val="004993"/>
                </a:solidFill>
                <a:latin typeface="Noto Sans CJK SC"/>
                <a:ea typeface="等线"/>
              </a:rPr>
              <a:t>Contents</a:t>
            </a:r>
            <a:endParaRPr lang="zh-CN" altLang="en-US" sz="2400" b="1" dirty="0">
              <a:solidFill>
                <a:srgbClr val="004993"/>
              </a:solidFill>
              <a:latin typeface="Noto Sans CJK SC"/>
              <a:ea typeface="等线"/>
            </a:endParaRPr>
          </a:p>
        </p:txBody>
      </p:sp>
      <p:grpSp>
        <p:nvGrpSpPr>
          <p:cNvPr id="321881616" name="组合 39"/>
          <p:cNvGrpSpPr/>
          <p:nvPr/>
        </p:nvGrpSpPr>
        <p:grpSpPr bwMode="auto">
          <a:xfrm>
            <a:off x="1187624" y="2772356"/>
            <a:ext cx="6523034" cy="443226"/>
            <a:chOff x="1655106" y="966198"/>
            <a:chExt cx="6523034" cy="443226"/>
          </a:xfrm>
        </p:grpSpPr>
        <p:grpSp>
          <p:nvGrpSpPr>
            <p:cNvPr id="1173204193" name="组合 2"/>
            <p:cNvGrpSpPr/>
            <p:nvPr/>
          </p:nvGrpSpPr>
          <p:grpSpPr bwMode="auto">
            <a:xfrm>
              <a:off x="1655106" y="966198"/>
              <a:ext cx="843426" cy="443226"/>
              <a:chOff x="666810" y="2586036"/>
              <a:chExt cx="468000" cy="245936"/>
            </a:xfrm>
            <a:solidFill>
              <a:srgbClr val="004098"/>
            </a:solidFill>
          </p:grpSpPr>
          <p:sp>
            <p:nvSpPr>
              <p:cNvPr id="1265443089" name="Freeform 10"/>
              <p:cNvSpPr/>
              <p:nvPr userDrawn="1"/>
            </p:nvSpPr>
            <p:spPr bwMode="auto">
              <a:xfrm>
                <a:off x="666810" y="2621441"/>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extrusionOk="0">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noAutofit/>
              </a:bodyPr>
              <a:lstStyle/>
              <a:p>
                <a:pPr algn="ctr">
                  <a:defRPr/>
                </a:pPr>
                <a:endParaRPr lang="zh-CN" sz="3200" b="1"/>
              </a:p>
            </p:txBody>
          </p:sp>
          <p:sp>
            <p:nvSpPr>
              <p:cNvPr id="512308792" name="文本框 4"/>
              <p:cNvSpPr txBox="1"/>
              <p:nvPr userDrawn="1"/>
            </p:nvSpPr>
            <p:spPr bwMode="auto">
              <a:xfrm>
                <a:off x="794493" y="2586036"/>
                <a:ext cx="212632" cy="245936"/>
              </a:xfrm>
              <a:prstGeom prst="rect">
                <a:avLst/>
              </a:prstGeom>
              <a:grpFill/>
            </p:spPr>
            <p:txBody>
              <a:bodyPr wrap="none" rtlCol="0" anchor="ctr">
                <a:noAutofit/>
              </a:bodyPr>
              <a:lstStyle/>
              <a:p>
                <a:pPr algn="ctr">
                  <a:defRPr/>
                </a:pPr>
                <a:r>
                  <a:rPr lang="en-US" b="1">
                    <a:solidFill>
                      <a:schemeClr val="bg1"/>
                    </a:solidFill>
                    <a:latin typeface="微软雅黑"/>
                    <a:ea typeface="微软雅黑"/>
                  </a:rPr>
                  <a:t>2</a:t>
                </a:r>
                <a:endParaRPr lang="zh-CN" b="1">
                  <a:solidFill>
                    <a:schemeClr val="bg1"/>
                  </a:solidFill>
                  <a:latin typeface="微软雅黑"/>
                  <a:ea typeface="微软雅黑"/>
                </a:endParaRPr>
              </a:p>
            </p:txBody>
          </p:sp>
        </p:grpSp>
        <p:sp>
          <p:nvSpPr>
            <p:cNvPr id="525549811" name="文本框 10"/>
            <p:cNvSpPr txBox="1"/>
            <p:nvPr/>
          </p:nvSpPr>
          <p:spPr bwMode="auto">
            <a:xfrm>
              <a:off x="2728638" y="990351"/>
              <a:ext cx="5449502" cy="400109"/>
            </a:xfrm>
            <a:prstGeom prst="rect">
              <a:avLst/>
            </a:prstGeom>
            <a:noFill/>
          </p:spPr>
          <p:txBody>
            <a:bodyPr wrap="square" rtlCol="0">
              <a:spAutoFit/>
            </a:bodyPr>
            <a:lstStyle/>
            <a:p>
              <a:pPr>
                <a:defRPr/>
              </a:pPr>
              <a:r>
                <a:rPr lang="en-US" sz="2000">
                  <a:latin typeface="微软雅黑"/>
                  <a:ea typeface="微软雅黑"/>
                </a:rPr>
                <a:t>RGBD</a:t>
              </a:r>
              <a:r>
                <a:rPr lang="zh-CN" sz="2000">
                  <a:latin typeface="微软雅黑"/>
                  <a:ea typeface="微软雅黑"/>
                </a:rPr>
                <a:t>图片</a:t>
              </a:r>
              <a:r>
                <a:rPr lang="en-US" sz="2000">
                  <a:latin typeface="微软雅黑"/>
                  <a:ea typeface="微软雅黑"/>
                </a:rPr>
                <a:t>-&gt;</a:t>
              </a:r>
              <a:r>
                <a:rPr lang="zh-CN" sz="2000">
                  <a:latin typeface="微软雅黑"/>
                  <a:ea typeface="微软雅黑"/>
                </a:rPr>
                <a:t>去噪后点云</a:t>
              </a:r>
              <a:endParaRPr/>
            </a:p>
          </p:txBody>
        </p:sp>
        <p:cxnSp>
          <p:nvCxnSpPr>
            <p:cNvPr id="864202428" name="直接连接符 29"/>
            <p:cNvCxnSpPr/>
            <p:nvPr/>
          </p:nvCxnSpPr>
          <p:spPr bwMode="auto">
            <a:xfrm>
              <a:off x="2347601" y="1370941"/>
              <a:ext cx="575136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232096395" name="组合 30"/>
          <p:cNvGrpSpPr/>
          <p:nvPr/>
        </p:nvGrpSpPr>
        <p:grpSpPr bwMode="auto">
          <a:xfrm>
            <a:off x="1187617" y="3555871"/>
            <a:ext cx="7003700" cy="443226"/>
            <a:chOff x="1655106" y="2481526"/>
            <a:chExt cx="7003700" cy="443226"/>
          </a:xfrm>
        </p:grpSpPr>
        <p:grpSp>
          <p:nvGrpSpPr>
            <p:cNvPr id="46330270" name="组合 40"/>
            <p:cNvGrpSpPr/>
            <p:nvPr/>
          </p:nvGrpSpPr>
          <p:grpSpPr bwMode="auto">
            <a:xfrm>
              <a:off x="1655106" y="2481526"/>
              <a:ext cx="6443863" cy="443226"/>
              <a:chOff x="1655106" y="1886175"/>
              <a:chExt cx="6443863" cy="443226"/>
            </a:xfrm>
          </p:grpSpPr>
          <p:grpSp>
            <p:nvGrpSpPr>
              <p:cNvPr id="2115306451" name="组合 11"/>
              <p:cNvGrpSpPr/>
              <p:nvPr/>
            </p:nvGrpSpPr>
            <p:grpSpPr bwMode="auto">
              <a:xfrm>
                <a:off x="1655106" y="1886175"/>
                <a:ext cx="843426" cy="443226"/>
                <a:chOff x="666810" y="2586038"/>
                <a:chExt cx="468000" cy="245936"/>
              </a:xfrm>
              <a:solidFill>
                <a:srgbClr val="004098"/>
              </a:solidFill>
            </p:grpSpPr>
            <p:sp>
              <p:nvSpPr>
                <p:cNvPr id="455154395" name="Freeform 10"/>
                <p:cNvSpPr/>
                <p:nvPr/>
              </p:nvSpPr>
              <p:spPr bwMode="auto">
                <a:xfrm>
                  <a:off x="666810" y="2621441"/>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extrusionOk="0">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noAutofit/>
                </a:bodyPr>
                <a:lstStyle/>
                <a:p>
                  <a:pPr algn="ctr">
                    <a:defRPr/>
                  </a:pPr>
                  <a:endParaRPr lang="zh-CN" sz="3200" b="1"/>
                </a:p>
              </p:txBody>
            </p:sp>
            <p:sp>
              <p:nvSpPr>
                <p:cNvPr id="663286450" name="文本框 13"/>
                <p:cNvSpPr txBox="1"/>
                <p:nvPr/>
              </p:nvSpPr>
              <p:spPr bwMode="auto">
                <a:xfrm>
                  <a:off x="794493" y="2586036"/>
                  <a:ext cx="212632" cy="245936"/>
                </a:xfrm>
                <a:prstGeom prst="rect">
                  <a:avLst/>
                </a:prstGeom>
                <a:grpFill/>
              </p:spPr>
              <p:txBody>
                <a:bodyPr wrap="none" rtlCol="0" anchor="ctr">
                  <a:noAutofit/>
                </a:bodyPr>
                <a:lstStyle/>
                <a:p>
                  <a:pPr algn="ctr">
                    <a:defRPr/>
                  </a:pPr>
                  <a:r>
                    <a:rPr lang="en-US" b="1">
                      <a:solidFill>
                        <a:schemeClr val="bg1"/>
                      </a:solidFill>
                      <a:latin typeface="微软雅黑"/>
                      <a:ea typeface="微软雅黑"/>
                    </a:rPr>
                    <a:t>3</a:t>
                  </a:r>
                  <a:endParaRPr lang="zh-CN" b="1">
                    <a:solidFill>
                      <a:schemeClr val="bg1"/>
                    </a:solidFill>
                    <a:latin typeface="微软雅黑"/>
                    <a:ea typeface="微软雅黑"/>
                  </a:endParaRPr>
                </a:p>
              </p:txBody>
            </p:sp>
          </p:grpSp>
          <p:cxnSp>
            <p:nvCxnSpPr>
              <p:cNvPr id="822310292" name="直接连接符 14"/>
              <p:cNvCxnSpPr>
                <a:stCxn id="455154395" idx="6"/>
              </p:cNvCxnSpPr>
              <p:nvPr/>
            </p:nvCxnSpPr>
            <p:spPr bwMode="auto">
              <a:xfrm>
                <a:off x="2347605" y="2293837"/>
                <a:ext cx="575136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297572725" name="文本框 56"/>
            <p:cNvSpPr txBox="1"/>
            <p:nvPr/>
          </p:nvSpPr>
          <p:spPr bwMode="auto">
            <a:xfrm>
              <a:off x="2728642" y="2499273"/>
              <a:ext cx="5930164" cy="400109"/>
            </a:xfrm>
            <a:prstGeom prst="rect">
              <a:avLst/>
            </a:prstGeom>
            <a:noFill/>
          </p:spPr>
          <p:txBody>
            <a:bodyPr wrap="square" rtlCol="0">
              <a:spAutoFit/>
            </a:bodyPr>
            <a:lstStyle/>
            <a:p>
              <a:pPr>
                <a:defRPr/>
              </a:pPr>
              <a:r>
                <a:rPr lang="zh-CN" sz="2000">
                  <a:latin typeface="微软雅黑"/>
                  <a:ea typeface="微软雅黑"/>
                </a:rPr>
                <a:t>特征聚合机制与训练策略</a:t>
              </a:r>
              <a:endParaRPr/>
            </a:p>
          </p:txBody>
        </p:sp>
      </p:grpSp>
      <p:grpSp>
        <p:nvGrpSpPr>
          <p:cNvPr id="947373185" name="组合 40"/>
          <p:cNvGrpSpPr/>
          <p:nvPr/>
        </p:nvGrpSpPr>
        <p:grpSpPr bwMode="auto">
          <a:xfrm>
            <a:off x="1187617" y="4339386"/>
            <a:ext cx="6443863" cy="443226"/>
            <a:chOff x="1655106" y="1886175"/>
            <a:chExt cx="6443863" cy="443226"/>
          </a:xfrm>
        </p:grpSpPr>
        <p:grpSp>
          <p:nvGrpSpPr>
            <p:cNvPr id="461070990" name="组合 11"/>
            <p:cNvGrpSpPr/>
            <p:nvPr/>
          </p:nvGrpSpPr>
          <p:grpSpPr bwMode="auto">
            <a:xfrm>
              <a:off x="1655106" y="1886175"/>
              <a:ext cx="843426" cy="443226"/>
              <a:chOff x="666810" y="2586038"/>
              <a:chExt cx="468000" cy="245936"/>
            </a:xfrm>
            <a:solidFill>
              <a:srgbClr val="004098"/>
            </a:solidFill>
          </p:grpSpPr>
          <p:sp>
            <p:nvSpPr>
              <p:cNvPr id="977984189" name="Freeform 10"/>
              <p:cNvSpPr/>
              <p:nvPr/>
            </p:nvSpPr>
            <p:spPr bwMode="auto">
              <a:xfrm>
                <a:off x="666810" y="2621441"/>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extrusionOk="0">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noAutofit/>
              </a:bodyPr>
              <a:lstStyle/>
              <a:p>
                <a:pPr algn="ctr">
                  <a:defRPr/>
                </a:pPr>
                <a:endParaRPr lang="zh-CN" sz="3200" b="1"/>
              </a:p>
            </p:txBody>
          </p:sp>
          <p:sp>
            <p:nvSpPr>
              <p:cNvPr id="444918487" name="文本框 13"/>
              <p:cNvSpPr txBox="1"/>
              <p:nvPr/>
            </p:nvSpPr>
            <p:spPr bwMode="auto">
              <a:xfrm>
                <a:off x="794493" y="2586036"/>
                <a:ext cx="212632" cy="245936"/>
              </a:xfrm>
              <a:prstGeom prst="rect">
                <a:avLst/>
              </a:prstGeom>
              <a:grpFill/>
            </p:spPr>
            <p:txBody>
              <a:bodyPr wrap="none" rtlCol="0" anchor="ctr">
                <a:noAutofit/>
              </a:bodyPr>
              <a:lstStyle/>
              <a:p>
                <a:pPr algn="ctr">
                  <a:defRPr/>
                </a:pPr>
                <a:r>
                  <a:rPr lang="en-US" b="1">
                    <a:solidFill>
                      <a:schemeClr val="bg1"/>
                    </a:solidFill>
                    <a:latin typeface="微软雅黑"/>
                    <a:ea typeface="微软雅黑"/>
                  </a:rPr>
                  <a:t>4</a:t>
                </a:r>
                <a:endParaRPr lang="zh-CN" b="1">
                  <a:solidFill>
                    <a:schemeClr val="bg1"/>
                  </a:solidFill>
                  <a:latin typeface="微软雅黑"/>
                  <a:ea typeface="微软雅黑"/>
                </a:endParaRPr>
              </a:p>
            </p:txBody>
          </p:sp>
        </p:grpSp>
        <p:cxnSp>
          <p:nvCxnSpPr>
            <p:cNvPr id="348205685" name="直接连接符 14"/>
            <p:cNvCxnSpPr>
              <a:stCxn id="977984189" idx="6"/>
            </p:cNvCxnSpPr>
            <p:nvPr/>
          </p:nvCxnSpPr>
          <p:spPr bwMode="auto">
            <a:xfrm>
              <a:off x="2347605" y="2293837"/>
              <a:ext cx="575136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366035806" name="文本框 56"/>
          <p:cNvSpPr txBox="1"/>
          <p:nvPr/>
        </p:nvSpPr>
        <p:spPr bwMode="auto">
          <a:xfrm>
            <a:off x="2261153" y="4375063"/>
            <a:ext cx="5751365" cy="400109"/>
          </a:xfrm>
          <a:prstGeom prst="rect">
            <a:avLst/>
          </a:prstGeom>
        </p:spPr>
        <p:txBody>
          <a:bodyPr wrap="square" rtlCol="0">
            <a:spAutoFit/>
          </a:bodyPr>
          <a:lstStyle/>
          <a:p>
            <a:pPr>
              <a:defRPr/>
            </a:pPr>
            <a:r>
              <a:rPr lang="zh-CN" altLang="en-US" sz="2000" dirty="0">
                <a:latin typeface="微软雅黑"/>
                <a:ea typeface="微软雅黑"/>
              </a:rPr>
              <a:t>综合评估结果</a:t>
            </a:r>
            <a:endParaRPr dirty="0"/>
          </a:p>
        </p:txBody>
      </p:sp>
      <p:grpSp>
        <p:nvGrpSpPr>
          <p:cNvPr id="683391286" name="组合 40"/>
          <p:cNvGrpSpPr/>
          <p:nvPr/>
        </p:nvGrpSpPr>
        <p:grpSpPr bwMode="auto">
          <a:xfrm>
            <a:off x="1187617" y="5122903"/>
            <a:ext cx="6443863" cy="443226"/>
            <a:chOff x="1655106" y="1886175"/>
            <a:chExt cx="6443863" cy="443226"/>
          </a:xfrm>
        </p:grpSpPr>
        <p:grpSp>
          <p:nvGrpSpPr>
            <p:cNvPr id="817092453" name="组合 11"/>
            <p:cNvGrpSpPr/>
            <p:nvPr/>
          </p:nvGrpSpPr>
          <p:grpSpPr bwMode="auto">
            <a:xfrm>
              <a:off x="1655106" y="1886175"/>
              <a:ext cx="843426" cy="443226"/>
              <a:chOff x="666810" y="2586038"/>
              <a:chExt cx="468000" cy="245936"/>
            </a:xfrm>
            <a:solidFill>
              <a:srgbClr val="004098"/>
            </a:solidFill>
          </p:grpSpPr>
          <p:sp>
            <p:nvSpPr>
              <p:cNvPr id="1810103635" name="Freeform 10"/>
              <p:cNvSpPr/>
              <p:nvPr/>
            </p:nvSpPr>
            <p:spPr bwMode="auto">
              <a:xfrm>
                <a:off x="666810" y="2621441"/>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extrusionOk="0">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noAutofit/>
              </a:bodyPr>
              <a:lstStyle/>
              <a:p>
                <a:pPr algn="ctr">
                  <a:defRPr/>
                </a:pPr>
                <a:endParaRPr lang="zh-CN" sz="3200" b="1"/>
              </a:p>
            </p:txBody>
          </p:sp>
          <p:sp>
            <p:nvSpPr>
              <p:cNvPr id="54284504" name="文本框 13"/>
              <p:cNvSpPr txBox="1"/>
              <p:nvPr/>
            </p:nvSpPr>
            <p:spPr bwMode="auto">
              <a:xfrm>
                <a:off x="794493" y="2586036"/>
                <a:ext cx="212632" cy="245936"/>
              </a:xfrm>
              <a:prstGeom prst="rect">
                <a:avLst/>
              </a:prstGeom>
              <a:grpFill/>
            </p:spPr>
            <p:txBody>
              <a:bodyPr wrap="none" rtlCol="0" anchor="ctr">
                <a:noAutofit/>
              </a:bodyPr>
              <a:lstStyle/>
              <a:p>
                <a:pPr algn="ctr">
                  <a:defRPr/>
                </a:pPr>
                <a:r>
                  <a:rPr lang="en-US" b="1">
                    <a:solidFill>
                      <a:schemeClr val="bg1"/>
                    </a:solidFill>
                    <a:latin typeface="微软雅黑"/>
                    <a:ea typeface="微软雅黑"/>
                  </a:rPr>
                  <a:t>5</a:t>
                </a:r>
                <a:endParaRPr lang="zh-CN" b="1">
                  <a:solidFill>
                    <a:schemeClr val="bg1"/>
                  </a:solidFill>
                  <a:latin typeface="微软雅黑"/>
                  <a:ea typeface="微软雅黑"/>
                </a:endParaRPr>
              </a:p>
            </p:txBody>
          </p:sp>
        </p:grpSp>
        <p:cxnSp>
          <p:nvCxnSpPr>
            <p:cNvPr id="1295851095" name="直接连接符 14"/>
            <p:cNvCxnSpPr>
              <a:stCxn id="1810103635" idx="6"/>
            </p:cNvCxnSpPr>
            <p:nvPr/>
          </p:nvCxnSpPr>
          <p:spPr bwMode="auto">
            <a:xfrm>
              <a:off x="2347605" y="2293837"/>
              <a:ext cx="575136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639645368" name="组合 36"/>
          <p:cNvGrpSpPr/>
          <p:nvPr/>
        </p:nvGrpSpPr>
        <p:grpSpPr bwMode="auto">
          <a:xfrm>
            <a:off x="1187624" y="1988840"/>
            <a:ext cx="6443856" cy="443226"/>
            <a:chOff x="1655106" y="966198"/>
            <a:chExt cx="6443856" cy="443226"/>
          </a:xfrm>
        </p:grpSpPr>
        <p:grpSp>
          <p:nvGrpSpPr>
            <p:cNvPr id="914238112" name="组合 37"/>
            <p:cNvGrpSpPr/>
            <p:nvPr/>
          </p:nvGrpSpPr>
          <p:grpSpPr bwMode="auto">
            <a:xfrm>
              <a:off x="1655106" y="966198"/>
              <a:ext cx="843426" cy="443226"/>
              <a:chOff x="666810" y="2586036"/>
              <a:chExt cx="468000" cy="245936"/>
            </a:xfrm>
            <a:solidFill>
              <a:srgbClr val="004098"/>
            </a:solidFill>
          </p:grpSpPr>
          <p:sp>
            <p:nvSpPr>
              <p:cNvPr id="660979478" name="Freeform 10"/>
              <p:cNvSpPr/>
              <p:nvPr userDrawn="1"/>
            </p:nvSpPr>
            <p:spPr bwMode="auto">
              <a:xfrm>
                <a:off x="666810" y="2621441"/>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extrusionOk="0">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noAutofit/>
              </a:bodyPr>
              <a:lstStyle/>
              <a:p>
                <a:pPr algn="ctr">
                  <a:defRPr/>
                </a:pPr>
                <a:endParaRPr lang="zh-CN" sz="3200" b="1"/>
              </a:p>
            </p:txBody>
          </p:sp>
          <p:sp>
            <p:nvSpPr>
              <p:cNvPr id="2029364781" name="文本框 43"/>
              <p:cNvSpPr txBox="1"/>
              <p:nvPr userDrawn="1"/>
            </p:nvSpPr>
            <p:spPr bwMode="auto">
              <a:xfrm>
                <a:off x="794493" y="2586036"/>
                <a:ext cx="212632" cy="245936"/>
              </a:xfrm>
              <a:prstGeom prst="rect">
                <a:avLst/>
              </a:prstGeom>
              <a:grpFill/>
            </p:spPr>
            <p:txBody>
              <a:bodyPr wrap="none" rtlCol="0" anchor="ctr">
                <a:noAutofit/>
              </a:bodyPr>
              <a:lstStyle/>
              <a:p>
                <a:pPr algn="ctr">
                  <a:defRPr/>
                </a:pPr>
                <a:r>
                  <a:rPr lang="en-US" b="1">
                    <a:solidFill>
                      <a:schemeClr val="bg1"/>
                    </a:solidFill>
                    <a:latin typeface="微软雅黑"/>
                    <a:ea typeface="微软雅黑"/>
                  </a:rPr>
                  <a:t>1</a:t>
                </a:r>
                <a:endParaRPr lang="zh-CN" b="1">
                  <a:solidFill>
                    <a:schemeClr val="bg1"/>
                  </a:solidFill>
                  <a:latin typeface="微软雅黑"/>
                  <a:ea typeface="微软雅黑"/>
                </a:endParaRPr>
              </a:p>
            </p:txBody>
          </p:sp>
        </p:grpSp>
        <p:sp>
          <p:nvSpPr>
            <p:cNvPr id="425412138" name="文本框 38"/>
            <p:cNvSpPr txBox="1"/>
            <p:nvPr/>
          </p:nvSpPr>
          <p:spPr bwMode="auto">
            <a:xfrm>
              <a:off x="2728638" y="990351"/>
              <a:ext cx="4760239" cy="400109"/>
            </a:xfrm>
            <a:prstGeom prst="rect">
              <a:avLst/>
            </a:prstGeom>
            <a:noFill/>
          </p:spPr>
          <p:txBody>
            <a:bodyPr wrap="square" rtlCol="0">
              <a:spAutoFit/>
            </a:bodyPr>
            <a:lstStyle/>
            <a:p>
              <a:pPr>
                <a:defRPr/>
              </a:pPr>
              <a:r>
                <a:rPr lang="en-US" sz="2000">
                  <a:latin typeface="微软雅黑"/>
                  <a:ea typeface="微软雅黑"/>
                </a:rPr>
                <a:t>GraspGen</a:t>
              </a:r>
              <a:r>
                <a:rPr lang="zh-CN" sz="2000">
                  <a:latin typeface="微软雅黑"/>
                  <a:ea typeface="微软雅黑"/>
                </a:rPr>
                <a:t>介绍</a:t>
              </a:r>
              <a:endParaRPr/>
            </a:p>
          </p:txBody>
        </p:sp>
        <p:cxnSp>
          <p:nvCxnSpPr>
            <p:cNvPr id="1845931319" name="直接连接符 41"/>
            <p:cNvCxnSpPr/>
            <p:nvPr/>
          </p:nvCxnSpPr>
          <p:spPr bwMode="auto">
            <a:xfrm>
              <a:off x="2347601" y="1370941"/>
              <a:ext cx="575136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978765694" name="文本框 56"/>
          <p:cNvSpPr txBox="1"/>
          <p:nvPr/>
        </p:nvSpPr>
        <p:spPr bwMode="auto">
          <a:xfrm>
            <a:off x="2261153" y="5166015"/>
            <a:ext cx="5751365" cy="400109"/>
          </a:xfrm>
          <a:prstGeom prst="rect">
            <a:avLst/>
          </a:prstGeom>
        </p:spPr>
        <p:txBody>
          <a:bodyPr wrap="square" rtlCol="0">
            <a:spAutoFit/>
          </a:bodyPr>
          <a:lstStyle/>
          <a:p>
            <a:pPr>
              <a:defRPr/>
            </a:pPr>
            <a:r>
              <a:rPr lang="zh-CN" altLang="en-US" sz="2000" dirty="0">
                <a:latin typeface="微软雅黑"/>
                <a:ea typeface="微软雅黑"/>
              </a:rPr>
              <a:t>抓取可视化与</a:t>
            </a:r>
            <a:r>
              <a:rPr lang="en-US" altLang="zh-CN" sz="2000" dirty="0" err="1">
                <a:latin typeface="微软雅黑"/>
                <a:ea typeface="微软雅黑"/>
              </a:rPr>
              <a:t>失败模式总结</a:t>
            </a:r>
            <a:r>
              <a:rPr lang="en-US" altLang="zh-CN" sz="2000" dirty="0">
                <a:latin typeface="微软雅黑"/>
                <a:ea typeface="微软雅黑"/>
              </a:rPr>
              <a:t> </a:t>
            </a:r>
            <a:endParaRPr sz="2000" dirty="0">
              <a:latin typeface="微软雅黑"/>
              <a:ea typeface="微软雅黑"/>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33334888" name="PlaceHolder 1"/>
          <p:cNvSpPr>
            <a:spLocks noGrp="1"/>
          </p:cNvSpPr>
          <p:nvPr>
            <p:ph type="title"/>
          </p:nvPr>
        </p:nvSpPr>
        <p:spPr bwMode="auto">
          <a:xfrm>
            <a:off x="320040" y="960120"/>
            <a:ext cx="8366400" cy="411120"/>
          </a:xfrm>
          <a:prstGeom prst="rect">
            <a:avLst/>
          </a:prstGeom>
          <a:noFill/>
          <a:ln w="0">
            <a:noFill/>
          </a:ln>
        </p:spPr>
        <p:txBody>
          <a:bodyPr anchor="ctr">
            <a:normAutofit/>
          </a:bodyPr>
          <a:lstStyle/>
          <a:p>
            <a:pPr>
              <a:lnSpc>
                <a:spcPct val="90000"/>
              </a:lnSpc>
              <a:buNone/>
              <a:defRPr/>
            </a:pPr>
            <a:r>
              <a:rPr lang="en-US" sz="2200" b="1" strike="noStrike" spc="0" dirty="0">
                <a:solidFill>
                  <a:srgbClr val="004993"/>
                </a:solidFill>
                <a:latin typeface="Noto Sans CJK SC"/>
                <a:ea typeface="等线"/>
              </a:rPr>
              <a:t>1. </a:t>
            </a:r>
            <a:r>
              <a:rPr lang="zh-CN" sz="2200" b="1" strike="noStrike" spc="0" dirty="0">
                <a:solidFill>
                  <a:srgbClr val="004993"/>
                </a:solidFill>
                <a:latin typeface="Noto Sans CJK SC"/>
                <a:ea typeface="等线"/>
              </a:rPr>
              <a:t>项目概述</a:t>
            </a:r>
            <a:endParaRPr lang="en-US" sz="2200" b="1" strike="noStrike" spc="0" dirty="0">
              <a:solidFill>
                <a:srgbClr val="000000"/>
              </a:solidFill>
              <a:latin typeface="等线 Light"/>
            </a:endParaRPr>
          </a:p>
        </p:txBody>
      </p:sp>
      <p:sp>
        <p:nvSpPr>
          <p:cNvPr id="1938333432" name="Rounded Rectangle 3"/>
          <p:cNvSpPr/>
          <p:nvPr/>
        </p:nvSpPr>
        <p:spPr bwMode="auto">
          <a:xfrm>
            <a:off x="360000" y="1545480"/>
            <a:ext cx="8460000" cy="511452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sp>
        <p:nvSpPr>
          <p:cNvPr id="924539557" name="TextBox 4"/>
          <p:cNvSpPr/>
          <p:nvPr/>
        </p:nvSpPr>
        <p:spPr bwMode="auto">
          <a:xfrm>
            <a:off x="594360" y="1874520"/>
            <a:ext cx="3748680" cy="36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00000"/>
              </a:lnSpc>
              <a:buNone/>
              <a:defRPr/>
            </a:pPr>
            <a:r>
              <a:rPr lang="zh-CN" sz="1800" b="1" strike="noStrike" spc="0">
                <a:solidFill>
                  <a:srgbClr val="004993"/>
                </a:solidFill>
                <a:latin typeface="Noto Sans CJK SC"/>
                <a:ea typeface="等线"/>
              </a:rPr>
              <a:t>本项目要解决什么问题？</a:t>
            </a:r>
            <a:endParaRPr lang="en-US" sz="1800" b="0" strike="noStrike" spc="0">
              <a:latin typeface="Arial"/>
            </a:endParaRPr>
          </a:p>
        </p:txBody>
      </p:sp>
      <p:sp>
        <p:nvSpPr>
          <p:cNvPr id="2015448609" name="TextBox 5"/>
          <p:cNvSpPr/>
          <p:nvPr/>
        </p:nvSpPr>
        <p:spPr bwMode="auto">
          <a:xfrm>
            <a:off x="594360" y="2286000"/>
            <a:ext cx="3794400" cy="23749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10000"/>
              </a:lnSpc>
              <a:spcBef>
                <a:spcPts val="566"/>
              </a:spcBef>
              <a:spcAft>
                <a:spcPts val="509"/>
              </a:spcAft>
              <a:buNone/>
              <a:defRPr/>
            </a:pPr>
            <a:r>
              <a:rPr lang="en-US" sz="1400" b="0" strike="noStrike" spc="0" dirty="0">
                <a:solidFill>
                  <a:srgbClr val="263143"/>
                </a:solidFill>
                <a:latin typeface="Noto Sans CJK SC"/>
                <a:ea typeface="等线"/>
              </a:rPr>
              <a:t>• </a:t>
            </a:r>
            <a:r>
              <a:rPr lang="zh-CN" sz="1400" b="0" strike="noStrike" spc="0" dirty="0">
                <a:solidFill>
                  <a:srgbClr val="263143"/>
                </a:solidFill>
                <a:latin typeface="Noto Sans CJK SC"/>
                <a:ea typeface="等线"/>
              </a:rPr>
              <a:t>从 </a:t>
            </a:r>
            <a:r>
              <a:rPr lang="en-US" sz="1400" b="0" strike="noStrike" spc="0" dirty="0">
                <a:solidFill>
                  <a:srgbClr val="263143"/>
                </a:solidFill>
                <a:latin typeface="Noto Sans CJK SC"/>
                <a:ea typeface="等线"/>
              </a:rPr>
              <a:t>RGB-D </a:t>
            </a:r>
            <a:r>
              <a:rPr lang="zh-CN" sz="1400" b="0" strike="noStrike" spc="0" dirty="0">
                <a:solidFill>
                  <a:srgbClr val="263143"/>
                </a:solidFill>
                <a:latin typeface="Noto Sans CJK SC"/>
                <a:ea typeface="等线"/>
              </a:rPr>
              <a:t>图像</a:t>
            </a:r>
            <a:r>
              <a:rPr lang="en-US" sz="1400" b="0" strike="noStrike" spc="0" dirty="0">
                <a:solidFill>
                  <a:srgbClr val="263143"/>
                </a:solidFill>
                <a:latin typeface="Noto Sans CJK SC"/>
                <a:ea typeface="等线"/>
              </a:rPr>
              <a:t>/</a:t>
            </a:r>
            <a:r>
              <a:rPr lang="zh-CN" sz="1400" b="0" strike="noStrike" spc="0" dirty="0">
                <a:solidFill>
                  <a:srgbClr val="263143"/>
                </a:solidFill>
                <a:latin typeface="Noto Sans CJK SC"/>
                <a:ea typeface="等线"/>
              </a:rPr>
              <a:t>深度图得到局部三维点云，完成三维视觉预处理。</a:t>
            </a:r>
            <a:endParaRPr lang="en-US" sz="1400" b="0" strike="noStrike" spc="0" dirty="0">
              <a:latin typeface="Arial"/>
            </a:endParaRPr>
          </a:p>
          <a:p>
            <a:pPr>
              <a:lnSpc>
                <a:spcPct val="110000"/>
              </a:lnSpc>
              <a:spcBef>
                <a:spcPts val="566"/>
              </a:spcBef>
              <a:spcAft>
                <a:spcPts val="509"/>
              </a:spcAft>
              <a:buNone/>
              <a:defRPr/>
            </a:pPr>
            <a:r>
              <a:rPr lang="en-US" sz="1400" b="0" strike="noStrike" spc="0" dirty="0">
                <a:solidFill>
                  <a:srgbClr val="263143"/>
                </a:solidFill>
                <a:latin typeface="Noto Sans CJK SC"/>
                <a:ea typeface="等线"/>
              </a:rPr>
              <a:t>• </a:t>
            </a:r>
            <a:r>
              <a:rPr lang="zh-CN" sz="1400" b="0" strike="noStrike" spc="0" dirty="0">
                <a:solidFill>
                  <a:srgbClr val="263143"/>
                </a:solidFill>
                <a:latin typeface="Noto Sans CJK SC"/>
                <a:ea typeface="等线"/>
              </a:rPr>
              <a:t>以局部点云为输入，调用 </a:t>
            </a:r>
            <a:r>
              <a:rPr lang="en-US" sz="1400" b="0" strike="noStrike" spc="0" dirty="0" err="1">
                <a:solidFill>
                  <a:srgbClr val="263143"/>
                </a:solidFill>
                <a:latin typeface="Noto Sans CJK SC"/>
                <a:ea typeface="等线"/>
              </a:rPr>
              <a:t>GraspGen</a:t>
            </a:r>
            <a:r>
              <a:rPr lang="en-US" sz="1400" b="0" strike="noStrike" spc="0" dirty="0">
                <a:solidFill>
                  <a:srgbClr val="263143"/>
                </a:solidFill>
                <a:latin typeface="Noto Sans CJK SC"/>
                <a:ea typeface="等线"/>
              </a:rPr>
              <a:t> </a:t>
            </a:r>
            <a:r>
              <a:rPr lang="zh-CN" sz="1400" b="0" strike="noStrike" spc="0" dirty="0">
                <a:solidFill>
                  <a:srgbClr val="263143"/>
                </a:solidFill>
                <a:latin typeface="Noto Sans CJK SC"/>
                <a:ea typeface="等线"/>
              </a:rPr>
              <a:t>生成候选抓取位姿。</a:t>
            </a:r>
            <a:endParaRPr lang="en-US" sz="1400" b="0" strike="noStrike" spc="0" dirty="0">
              <a:latin typeface="Arial"/>
            </a:endParaRPr>
          </a:p>
          <a:p>
            <a:pPr>
              <a:lnSpc>
                <a:spcPct val="110000"/>
              </a:lnSpc>
              <a:spcBef>
                <a:spcPts val="566"/>
              </a:spcBef>
              <a:spcAft>
                <a:spcPts val="509"/>
              </a:spcAft>
              <a:buNone/>
              <a:defRPr/>
            </a:pPr>
            <a:r>
              <a:rPr lang="en-US" sz="1400" b="0" strike="noStrike" spc="0" dirty="0">
                <a:solidFill>
                  <a:srgbClr val="263143"/>
                </a:solidFill>
                <a:latin typeface="Noto Sans CJK SC"/>
                <a:ea typeface="等线"/>
              </a:rPr>
              <a:t>• </a:t>
            </a:r>
            <a:r>
              <a:rPr lang="zh-CN" sz="1400" b="0" strike="noStrike" spc="0" dirty="0">
                <a:solidFill>
                  <a:srgbClr val="263143"/>
                </a:solidFill>
                <a:latin typeface="Noto Sans CJK SC"/>
                <a:ea typeface="等线"/>
              </a:rPr>
              <a:t>输出夹爪在三维空间中的平移向量 </a:t>
            </a:r>
            <a:r>
              <a:rPr lang="en-US" sz="1400" b="0" strike="noStrike" spc="0" dirty="0">
                <a:solidFill>
                  <a:srgbClr val="263143"/>
                </a:solidFill>
                <a:latin typeface="Noto Sans CJK SC"/>
                <a:ea typeface="等线"/>
              </a:rPr>
              <a:t>t</a:t>
            </a:r>
            <a:r>
              <a:rPr lang="zh-CN" sz="1400" b="0" strike="noStrike" spc="0" dirty="0">
                <a:solidFill>
                  <a:srgbClr val="263143"/>
                </a:solidFill>
                <a:latin typeface="Noto Sans CJK SC"/>
                <a:ea typeface="等线"/>
              </a:rPr>
              <a:t>、旋转矩阵 </a:t>
            </a:r>
            <a:r>
              <a:rPr lang="en-US" sz="1400" b="0" strike="noStrike" spc="0" dirty="0">
                <a:solidFill>
                  <a:srgbClr val="263143"/>
                </a:solidFill>
                <a:latin typeface="Noto Sans CJK SC"/>
                <a:ea typeface="等线"/>
              </a:rPr>
              <a:t>R </a:t>
            </a:r>
            <a:r>
              <a:rPr lang="zh-CN" sz="1400" b="0" strike="noStrike" spc="0" dirty="0">
                <a:solidFill>
                  <a:srgbClr val="263143"/>
                </a:solidFill>
                <a:latin typeface="Noto Sans CJK SC"/>
                <a:ea typeface="等线"/>
              </a:rPr>
              <a:t>与抓取质量评分。</a:t>
            </a:r>
            <a:endParaRPr lang="en-US" sz="1400" b="0" strike="noStrike" spc="0" dirty="0">
              <a:latin typeface="Arial"/>
            </a:endParaRPr>
          </a:p>
          <a:p>
            <a:pPr>
              <a:lnSpc>
                <a:spcPct val="110000"/>
              </a:lnSpc>
              <a:spcBef>
                <a:spcPts val="566"/>
              </a:spcBef>
              <a:spcAft>
                <a:spcPts val="509"/>
              </a:spcAft>
              <a:buNone/>
              <a:defRPr/>
            </a:pPr>
            <a:r>
              <a:rPr lang="en-US" sz="1400" b="0" strike="noStrike" spc="0" dirty="0">
                <a:solidFill>
                  <a:srgbClr val="263143"/>
                </a:solidFill>
                <a:latin typeface="Noto Sans CJK SC"/>
                <a:ea typeface="等线"/>
              </a:rPr>
              <a:t>• </a:t>
            </a:r>
            <a:r>
              <a:rPr lang="zh-CN" sz="1400" b="0" strike="noStrike" spc="0" dirty="0">
                <a:solidFill>
                  <a:srgbClr val="263143"/>
                </a:solidFill>
                <a:latin typeface="Noto Sans CJK SC"/>
                <a:ea typeface="等线"/>
              </a:rPr>
              <a:t>通过 </a:t>
            </a:r>
            <a:r>
              <a:rPr lang="en-US" sz="1400" b="0" strike="noStrike" spc="0" dirty="0">
                <a:solidFill>
                  <a:srgbClr val="263143"/>
                </a:solidFill>
                <a:latin typeface="Noto Sans CJK SC"/>
                <a:ea typeface="等线"/>
              </a:rPr>
              <a:t>Open3D </a:t>
            </a:r>
            <a:r>
              <a:rPr lang="zh-CN" sz="1400" b="0" strike="noStrike" spc="0" dirty="0">
                <a:solidFill>
                  <a:srgbClr val="263143"/>
                </a:solidFill>
                <a:latin typeface="Noto Sans CJK SC"/>
                <a:ea typeface="等线"/>
              </a:rPr>
              <a:t>可视化、碰撞检查与接触区域分析验证结果。</a:t>
            </a:r>
            <a:endParaRPr lang="en-US" sz="1400" b="0" strike="noStrike" spc="0" dirty="0">
              <a:latin typeface="Arial"/>
            </a:endParaRPr>
          </a:p>
        </p:txBody>
      </p:sp>
      <p:sp>
        <p:nvSpPr>
          <p:cNvPr id="1352450036" name="Rounded Rectangle 7"/>
          <p:cNvSpPr/>
          <p:nvPr/>
        </p:nvSpPr>
        <p:spPr bwMode="auto">
          <a:xfrm>
            <a:off x="540000" y="4860000"/>
            <a:ext cx="4320000" cy="540000"/>
          </a:xfrm>
          <a:prstGeom prst="roundRect">
            <a:avLst>
              <a:gd name="adj" fmla="val 16667"/>
            </a:avLst>
          </a:prstGeom>
          <a:solidFill>
            <a:srgbClr val="DFEDFA"/>
          </a:solidFill>
          <a:ln>
            <a:solidFill>
              <a:srgbClr val="DFEDFA"/>
            </a:solidFill>
          </a:ln>
        </p:spPr>
        <p:style>
          <a:lnRef idx="1">
            <a:schemeClr val="accent1"/>
          </a:lnRef>
          <a:fillRef idx="3">
            <a:schemeClr val="accent1"/>
          </a:fillRef>
          <a:effectRef idx="2">
            <a:schemeClr val="accent1"/>
          </a:effectRef>
          <a:fontRef idx="minor"/>
        </p:style>
        <p:txBody>
          <a:bodyPr lIns="90000" tIns="45000" rIns="90000" bIns="45000" anchor="ctr">
            <a:normAutofit lnSpcReduction="10000"/>
          </a:bodyPr>
          <a:lstStyle/>
          <a:p>
            <a:pPr>
              <a:lnSpc>
                <a:spcPct val="100000"/>
              </a:lnSpc>
              <a:buNone/>
              <a:defRPr/>
            </a:pPr>
            <a:r>
              <a:rPr lang="zh-CN" sz="1400" b="1" strike="noStrike" spc="0">
                <a:solidFill>
                  <a:srgbClr val="004993"/>
                </a:solidFill>
                <a:latin typeface="Noto Sans CJK SC"/>
                <a:ea typeface="等线"/>
              </a:rPr>
              <a:t>核心目标：</a:t>
            </a:r>
            <a:endParaRPr lang="en-US" sz="1400" b="1" strike="noStrike" spc="0">
              <a:latin typeface="Arial"/>
            </a:endParaRPr>
          </a:p>
          <a:p>
            <a:pPr>
              <a:lnSpc>
                <a:spcPct val="100000"/>
              </a:lnSpc>
              <a:buNone/>
              <a:defRPr/>
            </a:pPr>
            <a:r>
              <a:rPr lang="zh-CN" sz="1400" b="1" strike="noStrike" spc="0">
                <a:solidFill>
                  <a:srgbClr val="004993"/>
                </a:solidFill>
                <a:latin typeface="Noto Sans CJK SC"/>
                <a:ea typeface="等线"/>
              </a:rPr>
              <a:t>局部点云 → </a:t>
            </a:r>
            <a:r>
              <a:rPr lang="en-US" sz="1400" b="1" strike="noStrike" spc="0">
                <a:solidFill>
                  <a:srgbClr val="004993"/>
                </a:solidFill>
                <a:latin typeface="Noto Sans CJK SC"/>
                <a:ea typeface="等线"/>
              </a:rPr>
              <a:t>6-DoF </a:t>
            </a:r>
            <a:r>
              <a:rPr lang="zh-CN" sz="1400" b="1" strike="noStrike" spc="0">
                <a:solidFill>
                  <a:srgbClr val="004993"/>
                </a:solidFill>
                <a:latin typeface="Noto Sans CJK SC"/>
                <a:ea typeface="等线"/>
              </a:rPr>
              <a:t>抓取候选 → 可视化验证</a:t>
            </a:r>
            <a:endParaRPr lang="en-US" sz="1400" b="1" strike="noStrike" spc="0">
              <a:latin typeface="Arial"/>
            </a:endParaRPr>
          </a:p>
        </p:txBody>
      </p:sp>
      <p:sp>
        <p:nvSpPr>
          <p:cNvPr id="1852927478" name="TextBox 8"/>
          <p:cNvSpPr/>
          <p:nvPr/>
        </p:nvSpPr>
        <p:spPr bwMode="auto">
          <a:xfrm>
            <a:off x="980460" y="5625499"/>
            <a:ext cx="3474360" cy="2268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00000"/>
              </a:lnSpc>
              <a:buNone/>
              <a:defRPr/>
            </a:pPr>
            <a:r>
              <a:rPr lang="zh-CN" sz="900" b="0" strike="noStrike" spc="0" dirty="0">
                <a:solidFill>
                  <a:srgbClr val="5B6678"/>
                </a:solidFill>
                <a:latin typeface="Noto Sans CJK SC"/>
                <a:ea typeface="等线"/>
              </a:rPr>
              <a:t>图源：</a:t>
            </a:r>
            <a:r>
              <a:rPr lang="en-US" sz="900" b="0" strike="noStrike" spc="0" dirty="0" err="1">
                <a:solidFill>
                  <a:srgbClr val="5B6678"/>
                </a:solidFill>
                <a:latin typeface="Noto Sans CJK SC"/>
                <a:ea typeface="等线"/>
              </a:rPr>
              <a:t>NVlabs</a:t>
            </a:r>
            <a:r>
              <a:rPr lang="en-US" sz="900" b="0" strike="noStrike" spc="0" dirty="0">
                <a:solidFill>
                  <a:srgbClr val="5B6678"/>
                </a:solidFill>
                <a:latin typeface="Noto Sans CJK SC"/>
                <a:ea typeface="等线"/>
              </a:rPr>
              <a:t> / </a:t>
            </a:r>
            <a:r>
              <a:rPr lang="en-US" sz="900" b="0" strike="noStrike" spc="0" dirty="0" err="1">
                <a:solidFill>
                  <a:srgbClr val="5B6678"/>
                </a:solidFill>
                <a:latin typeface="Noto Sans CJK SC"/>
                <a:ea typeface="等线"/>
              </a:rPr>
              <a:t>GraspGen</a:t>
            </a:r>
            <a:r>
              <a:rPr lang="en-US" sz="900" b="0" strike="noStrike" spc="0" dirty="0">
                <a:solidFill>
                  <a:srgbClr val="5B6678"/>
                </a:solidFill>
                <a:latin typeface="Noto Sans CJK SC"/>
                <a:ea typeface="等线"/>
              </a:rPr>
              <a:t> </a:t>
            </a:r>
            <a:r>
              <a:rPr lang="zh-CN" sz="900" b="0" strike="noStrike" spc="0" dirty="0">
                <a:solidFill>
                  <a:srgbClr val="5B6678"/>
                </a:solidFill>
                <a:latin typeface="Noto Sans CJK SC"/>
                <a:ea typeface="等线"/>
              </a:rPr>
              <a:t>官方项目图</a:t>
            </a:r>
            <a:endParaRPr lang="en-US" sz="900" b="0" strike="noStrike" spc="0" dirty="0">
              <a:latin typeface="Arial"/>
            </a:endParaRPr>
          </a:p>
        </p:txBody>
      </p:sp>
      <p:pic>
        <p:nvPicPr>
          <p:cNvPr id="1355788663" name="图片 1355788662"/>
          <p:cNvPicPr/>
          <p:nvPr/>
        </p:nvPicPr>
        <p:blipFill rotWithShape="1">
          <a:blip r:embed="rId3"/>
          <a:stretch/>
        </p:blipFill>
        <p:spPr bwMode="auto">
          <a:xfrm rot="31200">
            <a:off x="5050080" y="1634040"/>
            <a:ext cx="3083040" cy="2311920"/>
          </a:xfrm>
          <a:prstGeom prst="rect">
            <a:avLst/>
          </a:prstGeom>
          <a:ln w="0">
            <a:noFill/>
          </a:ln>
        </p:spPr>
      </p:pic>
      <p:pic>
        <p:nvPicPr>
          <p:cNvPr id="2084075434" name="图片 2084075433"/>
          <p:cNvPicPr/>
          <p:nvPr/>
        </p:nvPicPr>
        <p:blipFill rotWithShape="1">
          <a:blip r:embed="rId4"/>
          <a:stretch/>
        </p:blipFill>
        <p:spPr bwMode="auto">
          <a:xfrm>
            <a:off x="5075279" y="4140000"/>
            <a:ext cx="3024720" cy="225000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63404533" name="PlaceHolder 1"/>
          <p:cNvSpPr>
            <a:spLocks noGrp="1"/>
          </p:cNvSpPr>
          <p:nvPr>
            <p:ph/>
          </p:nvPr>
        </p:nvSpPr>
        <p:spPr bwMode="auto">
          <a:xfrm>
            <a:off x="493920" y="1685520"/>
            <a:ext cx="8371800" cy="4921199"/>
          </a:xfrm>
          <a:prstGeom prst="rect">
            <a:avLst/>
          </a:prstGeom>
          <a:noFill/>
          <a:ln w="0">
            <a:noFill/>
          </a:ln>
        </p:spPr>
        <p:txBody>
          <a:bodyPr anchor="t">
            <a:noAutofit/>
          </a:bodyPr>
          <a:lstStyle/>
          <a:p>
            <a:pPr>
              <a:lnSpc>
                <a:spcPct val="120000"/>
              </a:lnSpc>
              <a:spcBef>
                <a:spcPts val="1416"/>
              </a:spcBef>
              <a:buNone/>
              <a:defRPr/>
            </a:pPr>
            <a:endParaRPr lang="en-US" sz="2800" b="0" strike="noStrike" spc="0">
              <a:solidFill>
                <a:srgbClr val="000000"/>
              </a:solidFill>
              <a:latin typeface="等线 Light"/>
            </a:endParaRPr>
          </a:p>
        </p:txBody>
      </p:sp>
      <p:sp>
        <p:nvSpPr>
          <p:cNvPr id="2040377765" name="PlaceHolder 2"/>
          <p:cNvSpPr>
            <a:spLocks noGrp="1"/>
          </p:cNvSpPr>
          <p:nvPr>
            <p:ph type="title"/>
          </p:nvPr>
        </p:nvSpPr>
        <p:spPr bwMode="auto">
          <a:xfrm>
            <a:off x="320040" y="960120"/>
            <a:ext cx="8366400" cy="411120"/>
          </a:xfrm>
          <a:prstGeom prst="rect">
            <a:avLst/>
          </a:prstGeom>
          <a:noFill/>
          <a:ln w="0">
            <a:noFill/>
          </a:ln>
        </p:spPr>
        <p:txBody>
          <a:bodyPr anchor="ctr">
            <a:normAutofit/>
          </a:bodyPr>
          <a:lstStyle/>
          <a:p>
            <a:pPr>
              <a:lnSpc>
                <a:spcPct val="90000"/>
              </a:lnSpc>
              <a:buNone/>
              <a:defRPr/>
            </a:pPr>
            <a:r>
              <a:rPr lang="en-US" sz="2200" b="1" strike="noStrike" spc="0">
                <a:solidFill>
                  <a:srgbClr val="004993"/>
                </a:solidFill>
                <a:latin typeface="Noto Sans CJK SC"/>
                <a:ea typeface="等线"/>
              </a:rPr>
              <a:t>1.1 </a:t>
            </a:r>
            <a:r>
              <a:rPr lang="zh-CN" sz="2200" b="1" strike="noStrike" spc="0">
                <a:solidFill>
                  <a:srgbClr val="004993"/>
                </a:solidFill>
                <a:latin typeface="Noto Sans CJK SC"/>
                <a:ea typeface="等线"/>
              </a:rPr>
              <a:t>任务目标与输入输出</a:t>
            </a:r>
            <a:endParaRPr lang="en-US" sz="2200" b="0" strike="noStrike" spc="0">
              <a:solidFill>
                <a:srgbClr val="000000"/>
              </a:solidFill>
              <a:latin typeface="等线 Light"/>
            </a:endParaRPr>
          </a:p>
        </p:txBody>
      </p:sp>
      <p:sp>
        <p:nvSpPr>
          <p:cNvPr id="994623606" name="Rounded Rectangle 3"/>
          <p:cNvSpPr/>
          <p:nvPr/>
        </p:nvSpPr>
        <p:spPr bwMode="auto">
          <a:xfrm>
            <a:off x="320040" y="1600200"/>
            <a:ext cx="8165160" cy="475452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sp>
        <p:nvSpPr>
          <p:cNvPr id="1831396400" name="Rounded Rectangle 4"/>
          <p:cNvSpPr/>
          <p:nvPr/>
        </p:nvSpPr>
        <p:spPr bwMode="auto">
          <a:xfrm>
            <a:off x="640080" y="1920240"/>
            <a:ext cx="2059920" cy="383760"/>
          </a:xfrm>
          <a:prstGeom prst="roundRect">
            <a:avLst>
              <a:gd name="adj" fmla="val 16667"/>
            </a:avLst>
          </a:prstGeom>
          <a:solidFill>
            <a:srgbClr val="DFEDFA"/>
          </a:solidFill>
          <a:ln>
            <a:solidFill>
              <a:srgbClr val="DFEDFA"/>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nSpc>
                <a:spcPct val="100000"/>
              </a:lnSpc>
              <a:buNone/>
              <a:defRPr/>
            </a:pPr>
            <a:r>
              <a:rPr lang="zh-CN" sz="1300" b="1" strike="noStrike" spc="0">
                <a:solidFill>
                  <a:srgbClr val="004993"/>
                </a:solidFill>
                <a:latin typeface="Noto Sans CJK SC"/>
                <a:ea typeface="等线"/>
              </a:rPr>
              <a:t>输入</a:t>
            </a:r>
            <a:endParaRPr lang="en-US" sz="1300" b="0" strike="noStrike" spc="0">
              <a:latin typeface="Arial"/>
            </a:endParaRPr>
          </a:p>
        </p:txBody>
      </p:sp>
      <p:sp>
        <p:nvSpPr>
          <p:cNvPr id="634209264" name="TextBox 5"/>
          <p:cNvSpPr/>
          <p:nvPr/>
        </p:nvSpPr>
        <p:spPr bwMode="auto">
          <a:xfrm>
            <a:off x="685800" y="2468880"/>
            <a:ext cx="2514240" cy="8697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10000"/>
              </a:lnSpc>
              <a:spcAft>
                <a:spcPts val="498"/>
              </a:spcAft>
              <a:buNone/>
              <a:defRPr/>
            </a:pPr>
            <a:r>
              <a:rPr lang="en-US" sz="1300" b="0" strike="noStrike" spc="0">
                <a:solidFill>
                  <a:srgbClr val="263143"/>
                </a:solidFill>
                <a:latin typeface="Noto Sans CJK SC"/>
                <a:ea typeface="等线"/>
              </a:rPr>
              <a:t>• RGB-D </a:t>
            </a:r>
            <a:r>
              <a:rPr lang="zh-CN" sz="1300" b="0" strike="noStrike" spc="0">
                <a:solidFill>
                  <a:srgbClr val="263143"/>
                </a:solidFill>
                <a:latin typeface="Noto Sans CJK SC"/>
                <a:ea typeface="等线"/>
              </a:rPr>
              <a:t>图像</a:t>
            </a:r>
            <a:r>
              <a:rPr lang="en-US" sz="1300" b="0" strike="noStrike" spc="0">
                <a:solidFill>
                  <a:srgbClr val="263143"/>
                </a:solidFill>
                <a:latin typeface="Noto Sans CJK SC"/>
                <a:ea typeface="等线"/>
              </a:rPr>
              <a:t>/</a:t>
            </a:r>
            <a:r>
              <a:rPr lang="zh-CN" sz="1300" b="0" strike="noStrike" spc="0">
                <a:solidFill>
                  <a:srgbClr val="263143"/>
                </a:solidFill>
                <a:latin typeface="Noto Sans CJK SC"/>
                <a:ea typeface="等线"/>
              </a:rPr>
              <a:t>深度图</a:t>
            </a:r>
            <a:endParaRPr lang="en-US" sz="1300" b="0" strike="noStrike" spc="0">
              <a:latin typeface="Arial"/>
            </a:endParaRPr>
          </a:p>
          <a:p>
            <a:pPr>
              <a:lnSpc>
                <a:spcPct val="110000"/>
              </a:lnSpc>
              <a:spcAft>
                <a:spcPts val="498"/>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相机内参矩阵 </a:t>
            </a:r>
            <a:r>
              <a:rPr lang="en-US" sz="1300" b="0" strike="noStrike" spc="0">
                <a:solidFill>
                  <a:srgbClr val="263143"/>
                </a:solidFill>
                <a:latin typeface="Noto Sans CJK SC"/>
                <a:ea typeface="等线"/>
              </a:rPr>
              <a:t>K</a:t>
            </a:r>
            <a:endParaRPr lang="en-US" sz="1300" b="0" strike="noStrike" spc="0">
              <a:latin typeface="Arial"/>
            </a:endParaRPr>
          </a:p>
          <a:p>
            <a:pPr>
              <a:lnSpc>
                <a:spcPct val="110000"/>
              </a:lnSpc>
              <a:spcAft>
                <a:spcPts val="498"/>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物体局部区域或分割掩膜</a:t>
            </a:r>
            <a:endParaRPr lang="en-US" sz="1300" b="0" strike="noStrike" spc="0">
              <a:latin typeface="Arial"/>
            </a:endParaRPr>
          </a:p>
        </p:txBody>
      </p:sp>
      <p:sp>
        <p:nvSpPr>
          <p:cNvPr id="254800126" name="Rounded Rectangle 6"/>
          <p:cNvSpPr/>
          <p:nvPr/>
        </p:nvSpPr>
        <p:spPr bwMode="auto">
          <a:xfrm>
            <a:off x="3429000" y="1920240"/>
            <a:ext cx="2511000" cy="383760"/>
          </a:xfrm>
          <a:prstGeom prst="roundRect">
            <a:avLst>
              <a:gd name="adj" fmla="val 16667"/>
            </a:avLst>
          </a:prstGeom>
          <a:solidFill>
            <a:srgbClr val="DFEDFA"/>
          </a:solidFill>
          <a:ln>
            <a:solidFill>
              <a:srgbClr val="DFEDFA"/>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nSpc>
                <a:spcPct val="100000"/>
              </a:lnSpc>
              <a:buNone/>
              <a:defRPr/>
            </a:pPr>
            <a:r>
              <a:rPr lang="zh-CN" sz="1300" b="1" strike="noStrike" spc="0">
                <a:solidFill>
                  <a:srgbClr val="004993"/>
                </a:solidFill>
                <a:latin typeface="Noto Sans CJK SC"/>
                <a:ea typeface="等线"/>
              </a:rPr>
              <a:t>处理</a:t>
            </a:r>
            <a:endParaRPr lang="en-US" sz="1300" b="0" strike="noStrike" spc="0">
              <a:latin typeface="Arial"/>
            </a:endParaRPr>
          </a:p>
        </p:txBody>
      </p:sp>
      <p:sp>
        <p:nvSpPr>
          <p:cNvPr id="445499339" name="TextBox 7"/>
          <p:cNvSpPr/>
          <p:nvPr/>
        </p:nvSpPr>
        <p:spPr bwMode="auto">
          <a:xfrm>
            <a:off x="3474720" y="2468880"/>
            <a:ext cx="2468518" cy="1087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10000"/>
              </a:lnSpc>
              <a:spcAft>
                <a:spcPts val="498"/>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深度转点云</a:t>
            </a:r>
            <a:endParaRPr lang="en-US" sz="1300" b="0" strike="noStrike" spc="0">
              <a:latin typeface="Arial"/>
            </a:endParaRPr>
          </a:p>
          <a:p>
            <a:pPr>
              <a:lnSpc>
                <a:spcPct val="110000"/>
              </a:lnSpc>
              <a:spcAft>
                <a:spcPts val="498"/>
              </a:spcAft>
              <a:buNone/>
              <a:defRPr/>
            </a:pPr>
            <a:r>
              <a:rPr lang="en-US" sz="1300" b="0" strike="noStrike" spc="0">
                <a:solidFill>
                  <a:srgbClr val="263143"/>
                </a:solidFill>
                <a:latin typeface="Noto Sans CJK SC"/>
                <a:ea typeface="等线"/>
              </a:rPr>
              <a:t>• ROI </a:t>
            </a:r>
            <a:r>
              <a:rPr lang="zh-CN" sz="1300" b="0" strike="noStrike" spc="0">
                <a:solidFill>
                  <a:srgbClr val="263143"/>
                </a:solidFill>
                <a:latin typeface="Noto Sans CJK SC"/>
                <a:ea typeface="等线"/>
              </a:rPr>
              <a:t>裁剪、降采样、离群点剔除</a:t>
            </a:r>
            <a:endParaRPr lang="en-US" sz="1300" b="0" strike="noStrike" spc="0">
              <a:latin typeface="Arial"/>
            </a:endParaRPr>
          </a:p>
          <a:p>
            <a:pPr>
              <a:lnSpc>
                <a:spcPct val="110000"/>
              </a:lnSpc>
              <a:spcAft>
                <a:spcPts val="498"/>
              </a:spcAft>
              <a:buNone/>
              <a:defRPr/>
            </a:pPr>
            <a:r>
              <a:rPr lang="en-US" sz="1300" b="0" strike="noStrike" spc="0">
                <a:solidFill>
                  <a:srgbClr val="263143"/>
                </a:solidFill>
                <a:latin typeface="Noto Sans CJK SC"/>
                <a:ea typeface="等线"/>
              </a:rPr>
              <a:t>• GraspGen </a:t>
            </a:r>
            <a:r>
              <a:rPr lang="zh-CN" sz="1300" b="0" strike="noStrike" spc="0">
                <a:solidFill>
                  <a:srgbClr val="263143"/>
                </a:solidFill>
                <a:latin typeface="Noto Sans CJK SC"/>
                <a:ea typeface="等线"/>
              </a:rPr>
              <a:t>推理与排序</a:t>
            </a:r>
            <a:endParaRPr lang="en-US" sz="1300" b="0" strike="noStrike" spc="0">
              <a:latin typeface="Arial"/>
            </a:endParaRPr>
          </a:p>
        </p:txBody>
      </p:sp>
      <p:sp>
        <p:nvSpPr>
          <p:cNvPr id="472314444" name="Rounded Rectangle 8"/>
          <p:cNvSpPr/>
          <p:nvPr/>
        </p:nvSpPr>
        <p:spPr bwMode="auto">
          <a:xfrm>
            <a:off x="6217920" y="1920240"/>
            <a:ext cx="1702080" cy="383760"/>
          </a:xfrm>
          <a:prstGeom prst="roundRect">
            <a:avLst>
              <a:gd name="adj" fmla="val 16667"/>
            </a:avLst>
          </a:prstGeom>
          <a:solidFill>
            <a:srgbClr val="DFEDFA"/>
          </a:solidFill>
          <a:ln>
            <a:solidFill>
              <a:srgbClr val="DFEDFA"/>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nSpc>
                <a:spcPct val="100000"/>
              </a:lnSpc>
              <a:buNone/>
              <a:defRPr/>
            </a:pPr>
            <a:r>
              <a:rPr lang="zh-CN" sz="1300" b="1" strike="noStrike" spc="0">
                <a:solidFill>
                  <a:srgbClr val="004993"/>
                </a:solidFill>
                <a:latin typeface="Noto Sans CJK SC"/>
                <a:ea typeface="等线"/>
              </a:rPr>
              <a:t>输出</a:t>
            </a:r>
            <a:endParaRPr lang="en-US" sz="1300" b="0" strike="noStrike" spc="0">
              <a:latin typeface="Arial"/>
            </a:endParaRPr>
          </a:p>
        </p:txBody>
      </p:sp>
      <p:sp>
        <p:nvSpPr>
          <p:cNvPr id="1609733899" name="TextBox 9"/>
          <p:cNvSpPr/>
          <p:nvPr/>
        </p:nvSpPr>
        <p:spPr bwMode="auto">
          <a:xfrm>
            <a:off x="6263640" y="2468880"/>
            <a:ext cx="1919880" cy="1087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10000"/>
              </a:lnSpc>
              <a:spcAft>
                <a:spcPts val="498"/>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夹爪位置 </a:t>
            </a:r>
            <a:r>
              <a:rPr lang="en-US" sz="1300" b="0" strike="noStrike" spc="0">
                <a:solidFill>
                  <a:srgbClr val="263143"/>
                </a:solidFill>
                <a:latin typeface="Noto Sans CJK SC"/>
                <a:ea typeface="等线"/>
              </a:rPr>
              <a:t>t</a:t>
            </a:r>
            <a:endParaRPr lang="en-US" sz="1300" b="0" strike="noStrike" spc="0">
              <a:latin typeface="Arial"/>
            </a:endParaRPr>
          </a:p>
          <a:p>
            <a:pPr>
              <a:lnSpc>
                <a:spcPct val="110000"/>
              </a:lnSpc>
              <a:spcAft>
                <a:spcPts val="498"/>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旋转矩阵 </a:t>
            </a:r>
            <a:r>
              <a:rPr lang="en-US" sz="1300" b="0" strike="noStrike" spc="0">
                <a:solidFill>
                  <a:srgbClr val="263143"/>
                </a:solidFill>
                <a:latin typeface="Noto Sans CJK SC"/>
                <a:ea typeface="等线"/>
              </a:rPr>
              <a:t>R</a:t>
            </a:r>
            <a:endParaRPr lang="en-US" sz="1300" b="0" strike="noStrike" spc="0">
              <a:latin typeface="Arial"/>
            </a:endParaRPr>
          </a:p>
          <a:p>
            <a:pPr>
              <a:lnSpc>
                <a:spcPct val="110000"/>
              </a:lnSpc>
              <a:spcAft>
                <a:spcPts val="498"/>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质量评分 </a:t>
            </a:r>
            <a:r>
              <a:rPr lang="en-US" sz="1300" b="0" strike="noStrike" spc="0">
                <a:solidFill>
                  <a:srgbClr val="263143"/>
                </a:solidFill>
                <a:latin typeface="Noto Sans CJK SC"/>
                <a:ea typeface="等线"/>
              </a:rPr>
              <a:t>q </a:t>
            </a:r>
            <a:r>
              <a:rPr lang="zh-CN" sz="1300" b="0" strike="noStrike" spc="0">
                <a:solidFill>
                  <a:srgbClr val="263143"/>
                </a:solidFill>
                <a:latin typeface="Noto Sans CJK SC"/>
                <a:ea typeface="等线"/>
              </a:rPr>
              <a:t>与 </a:t>
            </a:r>
            <a:r>
              <a:rPr lang="en-US" sz="1300" b="0" strike="noStrike" spc="0">
                <a:solidFill>
                  <a:srgbClr val="263143"/>
                </a:solidFill>
                <a:latin typeface="Noto Sans CJK SC"/>
                <a:ea typeface="等线"/>
              </a:rPr>
              <a:t>Top-k </a:t>
            </a:r>
            <a:r>
              <a:rPr lang="zh-CN" sz="1300" b="0" strike="noStrike" spc="0">
                <a:solidFill>
                  <a:srgbClr val="263143"/>
                </a:solidFill>
                <a:latin typeface="Noto Sans CJK SC"/>
                <a:ea typeface="等线"/>
              </a:rPr>
              <a:t>抓取</a:t>
            </a:r>
            <a:endParaRPr lang="en-US" sz="1300" b="0" strike="noStrike" spc="0">
              <a:latin typeface="Arial"/>
            </a:endParaRPr>
          </a:p>
        </p:txBody>
      </p:sp>
      <p:sp>
        <p:nvSpPr>
          <p:cNvPr id="88556504" name="Rounded Rectangle 10"/>
          <p:cNvSpPr/>
          <p:nvPr/>
        </p:nvSpPr>
        <p:spPr bwMode="auto">
          <a:xfrm>
            <a:off x="559440" y="3674880"/>
            <a:ext cx="7360560" cy="502560"/>
          </a:xfrm>
          <a:prstGeom prst="roundRect">
            <a:avLst>
              <a:gd name="adj" fmla="val 16667"/>
            </a:avLst>
          </a:prstGeom>
          <a:solidFill>
            <a:srgbClr val="EEF4FC"/>
          </a:solidFill>
          <a:ln>
            <a:solidFill>
              <a:srgbClr val="EEF4FC"/>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gn="ctr">
              <a:lnSpc>
                <a:spcPct val="100000"/>
              </a:lnSpc>
              <a:buNone/>
              <a:defRPr/>
            </a:pPr>
            <a:r>
              <a:rPr lang="zh-CN" sz="1500" b="1" strike="noStrike" spc="0">
                <a:solidFill>
                  <a:srgbClr val="004993"/>
                </a:solidFill>
                <a:latin typeface="Noto Sans CJK SC"/>
                <a:ea typeface="等线"/>
              </a:rPr>
              <a:t>最终结果表达：</a:t>
            </a:r>
            <a:r>
              <a:rPr lang="en-US" sz="1500" b="1" strike="noStrike" spc="0">
                <a:solidFill>
                  <a:srgbClr val="004993"/>
                </a:solidFill>
                <a:latin typeface="Noto Sans CJK SC"/>
                <a:ea typeface="等线"/>
              </a:rPr>
              <a:t>G = {R ∈ SO(3), t ∈ R³, q ∈ [0,1]}</a:t>
            </a:r>
            <a:endParaRPr lang="en-US" sz="1500" b="0" strike="noStrike" spc="0">
              <a:latin typeface="Arial"/>
            </a:endParaRPr>
          </a:p>
        </p:txBody>
      </p:sp>
      <p:pic>
        <p:nvPicPr>
          <p:cNvPr id="1312228234" name="Picture 11" descr="graspgen_coordinate.png"/>
          <p:cNvPicPr/>
          <p:nvPr/>
        </p:nvPicPr>
        <p:blipFill rotWithShape="1">
          <a:blip r:embed="rId3"/>
          <a:stretch/>
        </p:blipFill>
        <p:spPr bwMode="auto">
          <a:xfrm>
            <a:off x="5002920" y="4320000"/>
            <a:ext cx="2737080" cy="1887480"/>
          </a:xfrm>
          <a:prstGeom prst="rect">
            <a:avLst/>
          </a:prstGeom>
          <a:ln w="0">
            <a:noFill/>
          </a:ln>
        </p:spPr>
      </p:pic>
      <p:sp>
        <p:nvSpPr>
          <p:cNvPr id="1348777507" name="TextBox 12"/>
          <p:cNvSpPr/>
          <p:nvPr/>
        </p:nvSpPr>
        <p:spPr bwMode="auto">
          <a:xfrm>
            <a:off x="720000" y="4446360"/>
            <a:ext cx="3702960" cy="1673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00000"/>
              </a:lnSpc>
              <a:buNone/>
              <a:defRPr/>
            </a:pPr>
            <a:r>
              <a:rPr lang="en-US" sz="1300" b="1" strike="noStrike" spc="0">
                <a:solidFill>
                  <a:srgbClr val="3465A4"/>
                </a:solidFill>
                <a:latin typeface="Noto Sans CJK SC"/>
                <a:ea typeface="等线"/>
              </a:rPr>
              <a:t>GraspGen </a:t>
            </a:r>
            <a:r>
              <a:rPr lang="zh-CN" sz="1300" b="1" strike="noStrike" spc="0">
                <a:solidFill>
                  <a:srgbClr val="3465A4"/>
                </a:solidFill>
                <a:latin typeface="Noto Sans CJK SC"/>
                <a:ea typeface="等线"/>
              </a:rPr>
              <a:t>根据输入点云预测夹爪的 </a:t>
            </a:r>
            <a:r>
              <a:rPr lang="en-US" sz="1300" b="1" strike="noStrike" spc="0">
                <a:solidFill>
                  <a:srgbClr val="3465A4"/>
                </a:solidFill>
                <a:latin typeface="Noto Sans CJK SC"/>
                <a:ea typeface="等线"/>
              </a:rPr>
              <a:t>6 </a:t>
            </a:r>
            <a:r>
              <a:rPr lang="zh-CN" sz="1300" b="1" strike="noStrike" spc="0">
                <a:solidFill>
                  <a:srgbClr val="3465A4"/>
                </a:solidFill>
                <a:latin typeface="Noto Sans CJK SC"/>
                <a:ea typeface="等线"/>
              </a:rPr>
              <a:t>自由度抓取位姿</a:t>
            </a:r>
            <a:endParaRPr lang="en-US" sz="1300" b="0" strike="noStrike" spc="0">
              <a:latin typeface="Arial"/>
            </a:endParaRPr>
          </a:p>
          <a:p>
            <a:pPr>
              <a:lnSpc>
                <a:spcPct val="100000"/>
              </a:lnSpc>
              <a:buNone/>
              <a:defRPr/>
            </a:pPr>
            <a:r>
              <a:rPr lang="zh-CN" sz="1300" b="0" strike="noStrike" spc="0">
                <a:solidFill>
                  <a:srgbClr val="263143"/>
                </a:solidFill>
                <a:latin typeface="Noto Sans CJK SC"/>
                <a:ea typeface="等线"/>
              </a:rPr>
              <a:t>即夹爪中心位置 </a:t>
            </a:r>
            <a:r>
              <a:rPr lang="en-US" sz="1300" b="0" strike="noStrike" spc="0">
                <a:solidFill>
                  <a:srgbClr val="263143"/>
                </a:solidFill>
                <a:latin typeface="Noto Sans CJK SC"/>
                <a:ea typeface="等线"/>
              </a:rPr>
              <a:t>((x,y,z))</a:t>
            </a:r>
            <a:r>
              <a:rPr lang="zh-CN" sz="1300" b="0" strike="noStrike" spc="0">
                <a:solidFill>
                  <a:srgbClr val="263143"/>
                </a:solidFill>
                <a:latin typeface="Noto Sans CJK SC"/>
                <a:ea typeface="等线"/>
              </a:rPr>
              <a:t>、旋转方向 </a:t>
            </a:r>
            <a:r>
              <a:rPr lang="en-US" sz="1300" b="0" strike="noStrike" spc="0">
                <a:solidFill>
                  <a:srgbClr val="263143"/>
                </a:solidFill>
                <a:latin typeface="Noto Sans CJK SC"/>
                <a:ea typeface="等线"/>
              </a:rPr>
              <a:t>(R)</a:t>
            </a:r>
            <a:r>
              <a:rPr lang="zh-CN" sz="1300" b="0" strike="noStrike" spc="0">
                <a:solidFill>
                  <a:srgbClr val="263143"/>
                </a:solidFill>
                <a:latin typeface="Noto Sans CJK SC"/>
                <a:ea typeface="等线"/>
              </a:rPr>
              <a:t>，同时还会预测</a:t>
            </a:r>
            <a:r>
              <a:rPr lang="en-US" sz="1300" b="0" strike="noStrike" spc="0">
                <a:solidFill>
                  <a:srgbClr val="263143"/>
                </a:solidFill>
                <a:latin typeface="Noto Sans CJK SC"/>
                <a:ea typeface="等线"/>
              </a:rPr>
              <a:t>/</a:t>
            </a:r>
            <a:r>
              <a:rPr lang="zh-CN" sz="1300" b="0" strike="noStrike" spc="0">
                <a:solidFill>
                  <a:srgbClr val="263143"/>
                </a:solidFill>
                <a:latin typeface="Noto Sans CJK SC"/>
                <a:ea typeface="等线"/>
              </a:rPr>
              <a:t>确定夹爪开口宽度 </a:t>
            </a:r>
            <a:r>
              <a:rPr lang="en-US" sz="1300" b="0" strike="noStrike" spc="0">
                <a:solidFill>
                  <a:srgbClr val="263143"/>
                </a:solidFill>
                <a:latin typeface="Noto Sans CJK SC"/>
                <a:ea typeface="等线"/>
              </a:rPr>
              <a:t>Width</a:t>
            </a:r>
            <a:r>
              <a:rPr lang="zh-CN" sz="1300" b="0" strike="noStrike" spc="0">
                <a:solidFill>
                  <a:srgbClr val="263143"/>
                </a:solidFill>
                <a:latin typeface="Noto Sans CJK SC"/>
                <a:ea typeface="等线"/>
              </a:rPr>
              <a:t>、抓取深度 </a:t>
            </a:r>
            <a:r>
              <a:rPr lang="en-US" sz="1300" b="0" strike="noStrike" spc="0">
                <a:solidFill>
                  <a:srgbClr val="263143"/>
                </a:solidFill>
                <a:latin typeface="Noto Sans CJK SC"/>
                <a:ea typeface="等线"/>
              </a:rPr>
              <a:t>Depth ;</a:t>
            </a:r>
            <a:endParaRPr lang="en-US" sz="1300" b="0" strike="noStrike" spc="0">
              <a:latin typeface="Arial"/>
            </a:endParaRPr>
          </a:p>
          <a:p>
            <a:pPr>
              <a:lnSpc>
                <a:spcPct val="100000"/>
              </a:lnSpc>
              <a:buNone/>
              <a:defRPr/>
            </a:pPr>
            <a:r>
              <a:rPr lang="zh-CN" sz="1300" b="0" strike="noStrike" spc="0">
                <a:solidFill>
                  <a:srgbClr val="263143"/>
                </a:solidFill>
                <a:latin typeface="Noto Sans CJK SC"/>
                <a:ea typeface="等线"/>
              </a:rPr>
              <a:t>并根据这些参数生成夹爪模型进一步用于碰撞检测接触判断和抓取质量评估</a:t>
            </a:r>
            <a:endParaRPr lang="en-US" sz="1300" b="0" strike="noStrike" spc="0">
              <a:latin typeface="Arial"/>
            </a:endParaRPr>
          </a:p>
          <a:p>
            <a:pPr>
              <a:lnSpc>
                <a:spcPct val="100000"/>
              </a:lnSpc>
              <a:buNone/>
              <a:defRPr/>
            </a:pPr>
            <a:endParaRPr lang="en-US" sz="1300" b="0" strike="noStrike" spc="0">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3849602" name="PlaceHolder 1"/>
          <p:cNvSpPr>
            <a:spLocks noGrp="1"/>
          </p:cNvSpPr>
          <p:nvPr>
            <p:ph/>
          </p:nvPr>
        </p:nvSpPr>
        <p:spPr bwMode="auto">
          <a:xfrm>
            <a:off x="493920" y="1685520"/>
            <a:ext cx="8371800" cy="4921199"/>
          </a:xfrm>
          <a:prstGeom prst="rect">
            <a:avLst/>
          </a:prstGeom>
          <a:noFill/>
          <a:ln w="0">
            <a:noFill/>
          </a:ln>
        </p:spPr>
        <p:txBody>
          <a:bodyPr anchor="t">
            <a:noAutofit/>
          </a:bodyPr>
          <a:lstStyle/>
          <a:p>
            <a:pPr>
              <a:lnSpc>
                <a:spcPct val="120000"/>
              </a:lnSpc>
              <a:spcBef>
                <a:spcPts val="1416"/>
              </a:spcBef>
              <a:buNone/>
              <a:defRPr/>
            </a:pPr>
            <a:endParaRPr lang="en-US" sz="2800" b="0" strike="noStrike" spc="0">
              <a:solidFill>
                <a:srgbClr val="000000"/>
              </a:solidFill>
              <a:latin typeface="等线 Light"/>
            </a:endParaRPr>
          </a:p>
        </p:txBody>
      </p:sp>
      <p:sp>
        <p:nvSpPr>
          <p:cNvPr id="1631576622" name="PlaceHolder 2"/>
          <p:cNvSpPr>
            <a:spLocks noGrp="1"/>
          </p:cNvSpPr>
          <p:nvPr>
            <p:ph type="title"/>
          </p:nvPr>
        </p:nvSpPr>
        <p:spPr bwMode="auto">
          <a:xfrm>
            <a:off x="320040" y="960120"/>
            <a:ext cx="8366400" cy="411120"/>
          </a:xfrm>
          <a:prstGeom prst="rect">
            <a:avLst/>
          </a:prstGeom>
          <a:noFill/>
          <a:ln w="0">
            <a:noFill/>
          </a:ln>
        </p:spPr>
        <p:txBody>
          <a:bodyPr anchor="ctr">
            <a:normAutofit/>
          </a:bodyPr>
          <a:lstStyle/>
          <a:p>
            <a:pPr>
              <a:lnSpc>
                <a:spcPct val="90000"/>
              </a:lnSpc>
              <a:buNone/>
              <a:defRPr/>
            </a:pPr>
            <a:r>
              <a:rPr lang="en-US" sz="2200" b="1" strike="noStrike" spc="0">
                <a:solidFill>
                  <a:srgbClr val="004993"/>
                </a:solidFill>
                <a:latin typeface="Noto Sans CJK SC"/>
                <a:ea typeface="等线"/>
              </a:rPr>
              <a:t>1.2 </a:t>
            </a:r>
            <a:r>
              <a:rPr lang="zh-CN" sz="2200" b="1" strike="noStrike" spc="0">
                <a:solidFill>
                  <a:srgbClr val="004993"/>
                </a:solidFill>
                <a:latin typeface="Noto Sans CJK SC"/>
                <a:ea typeface="等线"/>
              </a:rPr>
              <a:t>整体技术路线</a:t>
            </a:r>
            <a:endParaRPr lang="en-US" sz="2200" b="0" strike="noStrike" spc="0">
              <a:solidFill>
                <a:srgbClr val="000000"/>
              </a:solidFill>
              <a:latin typeface="等线 Light"/>
            </a:endParaRPr>
          </a:p>
        </p:txBody>
      </p:sp>
      <p:sp>
        <p:nvSpPr>
          <p:cNvPr id="721263886" name="Rounded Rectangle 3"/>
          <p:cNvSpPr/>
          <p:nvPr/>
        </p:nvSpPr>
        <p:spPr bwMode="auto">
          <a:xfrm>
            <a:off x="320040" y="1600200"/>
            <a:ext cx="8165160" cy="475452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sp>
        <p:nvSpPr>
          <p:cNvPr id="380387453" name="Connector 4"/>
          <p:cNvSpPr/>
          <p:nvPr/>
        </p:nvSpPr>
        <p:spPr bwMode="auto">
          <a:xfrm>
            <a:off x="1600200" y="2386440"/>
            <a:ext cx="320040" cy="360"/>
          </a:xfrm>
          <a:prstGeom prst="line">
            <a:avLst/>
          </a:prstGeom>
          <a:ln w="19050">
            <a:solidFill>
              <a:srgbClr val="004993"/>
            </a:solidFill>
          </a:ln>
        </p:spPr>
        <p:style>
          <a:lnRef idx="2">
            <a:schemeClr val="accent1"/>
          </a:lnRef>
          <a:fillRef idx="0">
            <a:schemeClr val="accent1"/>
          </a:fillRef>
          <a:effectRef idx="1">
            <a:schemeClr val="accent1"/>
          </a:effectRef>
          <a:fontRef idx="minor"/>
        </p:style>
      </p:sp>
      <p:sp>
        <p:nvSpPr>
          <p:cNvPr id="391909490" name="Connector 5"/>
          <p:cNvSpPr/>
          <p:nvPr/>
        </p:nvSpPr>
        <p:spPr bwMode="auto">
          <a:xfrm>
            <a:off x="2926080" y="2386440"/>
            <a:ext cx="320040" cy="360"/>
          </a:xfrm>
          <a:prstGeom prst="line">
            <a:avLst/>
          </a:prstGeom>
          <a:ln w="19050">
            <a:solidFill>
              <a:srgbClr val="004993"/>
            </a:solidFill>
          </a:ln>
        </p:spPr>
        <p:style>
          <a:lnRef idx="2">
            <a:schemeClr val="accent1"/>
          </a:lnRef>
          <a:fillRef idx="0">
            <a:schemeClr val="accent1"/>
          </a:fillRef>
          <a:effectRef idx="1">
            <a:schemeClr val="accent1"/>
          </a:effectRef>
          <a:fontRef idx="minor"/>
        </p:style>
      </p:sp>
      <p:sp>
        <p:nvSpPr>
          <p:cNvPr id="1648000944" name="Connector 6"/>
          <p:cNvSpPr/>
          <p:nvPr/>
        </p:nvSpPr>
        <p:spPr bwMode="auto">
          <a:xfrm>
            <a:off x="4251960" y="2386440"/>
            <a:ext cx="320040" cy="360"/>
          </a:xfrm>
          <a:prstGeom prst="line">
            <a:avLst/>
          </a:prstGeom>
          <a:ln w="19050">
            <a:solidFill>
              <a:srgbClr val="004993"/>
            </a:solidFill>
          </a:ln>
        </p:spPr>
        <p:style>
          <a:lnRef idx="2">
            <a:schemeClr val="accent1"/>
          </a:lnRef>
          <a:fillRef idx="0">
            <a:schemeClr val="accent1"/>
          </a:fillRef>
          <a:effectRef idx="1">
            <a:schemeClr val="accent1"/>
          </a:effectRef>
          <a:fontRef idx="minor"/>
        </p:style>
      </p:sp>
      <p:sp>
        <p:nvSpPr>
          <p:cNvPr id="916251181" name="Connector 7"/>
          <p:cNvSpPr/>
          <p:nvPr/>
        </p:nvSpPr>
        <p:spPr bwMode="auto">
          <a:xfrm>
            <a:off x="5577840" y="2386440"/>
            <a:ext cx="320040" cy="360"/>
          </a:xfrm>
          <a:prstGeom prst="line">
            <a:avLst/>
          </a:prstGeom>
          <a:ln w="19050">
            <a:solidFill>
              <a:srgbClr val="004993"/>
            </a:solidFill>
          </a:ln>
        </p:spPr>
        <p:style>
          <a:lnRef idx="2">
            <a:schemeClr val="accent1"/>
          </a:lnRef>
          <a:fillRef idx="0">
            <a:schemeClr val="accent1"/>
          </a:fillRef>
          <a:effectRef idx="1">
            <a:schemeClr val="accent1"/>
          </a:effectRef>
          <a:fontRef idx="minor"/>
        </p:style>
      </p:sp>
      <p:sp>
        <p:nvSpPr>
          <p:cNvPr id="2113023067" name="Connector 8"/>
          <p:cNvSpPr/>
          <p:nvPr/>
        </p:nvSpPr>
        <p:spPr bwMode="auto">
          <a:xfrm>
            <a:off x="6903720" y="2386440"/>
            <a:ext cx="320040" cy="360"/>
          </a:xfrm>
          <a:prstGeom prst="line">
            <a:avLst/>
          </a:prstGeom>
          <a:ln w="19050">
            <a:solidFill>
              <a:srgbClr val="004993"/>
            </a:solidFill>
          </a:ln>
        </p:spPr>
        <p:style>
          <a:lnRef idx="2">
            <a:schemeClr val="accent1"/>
          </a:lnRef>
          <a:fillRef idx="0">
            <a:schemeClr val="accent1"/>
          </a:fillRef>
          <a:effectRef idx="1">
            <a:schemeClr val="accent1"/>
          </a:effectRef>
          <a:fontRef idx="minor"/>
        </p:style>
      </p:sp>
      <p:sp>
        <p:nvSpPr>
          <p:cNvPr id="1323071243" name="Rounded Rectangle 9"/>
          <p:cNvSpPr/>
          <p:nvPr/>
        </p:nvSpPr>
        <p:spPr bwMode="auto">
          <a:xfrm>
            <a:off x="594360" y="2057400"/>
            <a:ext cx="1005480" cy="658080"/>
          </a:xfrm>
          <a:prstGeom prst="roundRect">
            <a:avLst>
              <a:gd name="adj" fmla="val 16667"/>
            </a:avLst>
          </a:prstGeom>
          <a:solidFill>
            <a:srgbClr val="DFEDFA"/>
          </a:solidFill>
          <a:ln w="12700">
            <a:solidFill>
              <a:srgbClr val="004993"/>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gn="ctr">
              <a:lnSpc>
                <a:spcPct val="100000"/>
              </a:lnSpc>
              <a:buNone/>
              <a:defRPr/>
            </a:pPr>
            <a:r>
              <a:rPr lang="en-US" sz="1200" b="1" strike="noStrike" spc="0">
                <a:solidFill>
                  <a:srgbClr val="004993"/>
                </a:solidFill>
                <a:latin typeface="Noto Sans CJK SC"/>
                <a:ea typeface="等线"/>
              </a:rPr>
              <a:t>RGB-D</a:t>
            </a:r>
            <a:endParaRPr lang="en-US" sz="1200" b="0" strike="noStrike" spc="0">
              <a:latin typeface="Arial"/>
            </a:endParaRPr>
          </a:p>
          <a:p>
            <a:pPr algn="ctr">
              <a:lnSpc>
                <a:spcPct val="100000"/>
              </a:lnSpc>
              <a:buNone/>
              <a:defRPr/>
            </a:pPr>
            <a:r>
              <a:rPr lang="zh-CN" sz="1200" b="1" strike="noStrike" spc="0">
                <a:solidFill>
                  <a:srgbClr val="004993"/>
                </a:solidFill>
                <a:latin typeface="Noto Sans CJK SC"/>
                <a:ea typeface="等线"/>
              </a:rPr>
              <a:t>数据</a:t>
            </a:r>
            <a:endParaRPr lang="en-US" sz="1200" b="0" strike="noStrike" spc="0">
              <a:latin typeface="Arial"/>
            </a:endParaRPr>
          </a:p>
        </p:txBody>
      </p:sp>
      <p:sp>
        <p:nvSpPr>
          <p:cNvPr id="1027639003" name="Rounded Rectangle 10"/>
          <p:cNvSpPr/>
          <p:nvPr/>
        </p:nvSpPr>
        <p:spPr bwMode="auto">
          <a:xfrm>
            <a:off x="1920240" y="2057400"/>
            <a:ext cx="1005480" cy="658080"/>
          </a:xfrm>
          <a:prstGeom prst="roundRect">
            <a:avLst>
              <a:gd name="adj" fmla="val 16667"/>
            </a:avLst>
          </a:prstGeom>
          <a:solidFill>
            <a:srgbClr val="DFEDFA"/>
          </a:solidFill>
          <a:ln w="12700">
            <a:solidFill>
              <a:srgbClr val="004993"/>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gn="ctr">
              <a:lnSpc>
                <a:spcPct val="100000"/>
              </a:lnSpc>
              <a:buNone/>
              <a:defRPr/>
            </a:pPr>
            <a:r>
              <a:rPr lang="zh-CN" sz="1200" b="1" strike="noStrike" spc="0">
                <a:solidFill>
                  <a:srgbClr val="004993"/>
                </a:solidFill>
                <a:latin typeface="Noto Sans CJK SC"/>
                <a:ea typeface="等线"/>
              </a:rPr>
              <a:t>深度→</a:t>
            </a:r>
            <a:endParaRPr lang="en-US" sz="1200" b="0" strike="noStrike" spc="0">
              <a:latin typeface="Arial"/>
            </a:endParaRPr>
          </a:p>
          <a:p>
            <a:pPr algn="ctr">
              <a:lnSpc>
                <a:spcPct val="100000"/>
              </a:lnSpc>
              <a:buNone/>
              <a:defRPr/>
            </a:pPr>
            <a:r>
              <a:rPr lang="zh-CN" sz="1200" b="1" strike="noStrike" spc="0">
                <a:solidFill>
                  <a:srgbClr val="004993"/>
                </a:solidFill>
                <a:latin typeface="Noto Sans CJK SC"/>
                <a:ea typeface="等线"/>
              </a:rPr>
              <a:t>点云</a:t>
            </a:r>
            <a:endParaRPr lang="en-US" sz="1200" b="0" strike="noStrike" spc="0">
              <a:latin typeface="Arial"/>
            </a:endParaRPr>
          </a:p>
        </p:txBody>
      </p:sp>
      <p:sp>
        <p:nvSpPr>
          <p:cNvPr id="1334337572" name="Rounded Rectangle 11"/>
          <p:cNvSpPr/>
          <p:nvPr/>
        </p:nvSpPr>
        <p:spPr bwMode="auto">
          <a:xfrm>
            <a:off x="3246120" y="2057400"/>
            <a:ext cx="1005480" cy="658080"/>
          </a:xfrm>
          <a:prstGeom prst="roundRect">
            <a:avLst>
              <a:gd name="adj" fmla="val 16667"/>
            </a:avLst>
          </a:prstGeom>
          <a:solidFill>
            <a:srgbClr val="DFEDFA"/>
          </a:solidFill>
          <a:ln w="12700">
            <a:solidFill>
              <a:srgbClr val="004993"/>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gn="ctr">
              <a:lnSpc>
                <a:spcPct val="100000"/>
              </a:lnSpc>
              <a:buNone/>
              <a:defRPr/>
            </a:pPr>
            <a:r>
              <a:rPr lang="zh-CN" sz="1200" b="1" strike="noStrike" spc="0">
                <a:solidFill>
                  <a:srgbClr val="004993"/>
                </a:solidFill>
                <a:latin typeface="Noto Sans CJK SC"/>
                <a:ea typeface="等线"/>
              </a:rPr>
              <a:t>点云</a:t>
            </a:r>
            <a:endParaRPr lang="en-US" sz="1200" b="0" strike="noStrike" spc="0">
              <a:latin typeface="Arial"/>
            </a:endParaRPr>
          </a:p>
          <a:p>
            <a:pPr algn="ctr">
              <a:lnSpc>
                <a:spcPct val="100000"/>
              </a:lnSpc>
              <a:buNone/>
              <a:defRPr/>
            </a:pPr>
            <a:r>
              <a:rPr lang="zh-CN" sz="1200" b="1" strike="noStrike" spc="0">
                <a:solidFill>
                  <a:srgbClr val="004993"/>
                </a:solidFill>
                <a:latin typeface="Noto Sans CJK SC"/>
                <a:ea typeface="等线"/>
              </a:rPr>
              <a:t>预处理</a:t>
            </a:r>
            <a:endParaRPr lang="en-US" sz="1200" b="0" strike="noStrike" spc="0">
              <a:latin typeface="Arial"/>
            </a:endParaRPr>
          </a:p>
        </p:txBody>
      </p:sp>
      <p:sp>
        <p:nvSpPr>
          <p:cNvPr id="1922213008" name="Rounded Rectangle 12"/>
          <p:cNvSpPr/>
          <p:nvPr/>
        </p:nvSpPr>
        <p:spPr bwMode="auto">
          <a:xfrm>
            <a:off x="4572000" y="2057400"/>
            <a:ext cx="1005480" cy="658080"/>
          </a:xfrm>
          <a:prstGeom prst="roundRect">
            <a:avLst>
              <a:gd name="adj" fmla="val 16667"/>
            </a:avLst>
          </a:prstGeom>
          <a:solidFill>
            <a:srgbClr val="DFEDFA"/>
          </a:solidFill>
          <a:ln w="12700">
            <a:solidFill>
              <a:srgbClr val="004993"/>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gn="ctr">
              <a:lnSpc>
                <a:spcPct val="100000"/>
              </a:lnSpc>
              <a:buNone/>
              <a:defRPr/>
            </a:pPr>
            <a:r>
              <a:rPr lang="en-US" sz="1200" b="1" strike="noStrike" spc="0">
                <a:solidFill>
                  <a:srgbClr val="004993"/>
                </a:solidFill>
                <a:latin typeface="Noto Sans CJK SC"/>
                <a:ea typeface="等线"/>
              </a:rPr>
              <a:t>GraspGen</a:t>
            </a:r>
            <a:endParaRPr lang="en-US" sz="1200" b="0" strike="noStrike" spc="0">
              <a:latin typeface="Arial"/>
            </a:endParaRPr>
          </a:p>
          <a:p>
            <a:pPr algn="ctr">
              <a:lnSpc>
                <a:spcPct val="100000"/>
              </a:lnSpc>
              <a:buNone/>
              <a:defRPr/>
            </a:pPr>
            <a:r>
              <a:rPr lang="zh-CN" sz="1200" b="1" strike="noStrike" spc="0">
                <a:solidFill>
                  <a:srgbClr val="004993"/>
                </a:solidFill>
                <a:latin typeface="Noto Sans CJK SC"/>
                <a:ea typeface="等线"/>
              </a:rPr>
              <a:t>推理</a:t>
            </a:r>
            <a:endParaRPr lang="en-US" sz="1200" b="0" strike="noStrike" spc="0">
              <a:latin typeface="Arial"/>
            </a:endParaRPr>
          </a:p>
        </p:txBody>
      </p:sp>
      <p:sp>
        <p:nvSpPr>
          <p:cNvPr id="665582421" name="Rounded Rectangle 13"/>
          <p:cNvSpPr/>
          <p:nvPr/>
        </p:nvSpPr>
        <p:spPr bwMode="auto">
          <a:xfrm>
            <a:off x="5897880" y="2057400"/>
            <a:ext cx="1005480" cy="658080"/>
          </a:xfrm>
          <a:prstGeom prst="roundRect">
            <a:avLst>
              <a:gd name="adj" fmla="val 16667"/>
            </a:avLst>
          </a:prstGeom>
          <a:solidFill>
            <a:srgbClr val="DFEDFA"/>
          </a:solidFill>
          <a:ln w="12700">
            <a:solidFill>
              <a:srgbClr val="004993"/>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gn="ctr">
              <a:lnSpc>
                <a:spcPct val="100000"/>
              </a:lnSpc>
              <a:buNone/>
              <a:defRPr/>
            </a:pPr>
            <a:r>
              <a:rPr lang="zh-CN" sz="1200" b="1" strike="noStrike" spc="0">
                <a:solidFill>
                  <a:srgbClr val="004993"/>
                </a:solidFill>
                <a:latin typeface="Noto Sans CJK SC"/>
                <a:ea typeface="等线"/>
              </a:rPr>
              <a:t>候选</a:t>
            </a:r>
            <a:endParaRPr lang="en-US" sz="1200" b="0" strike="noStrike" spc="0">
              <a:latin typeface="Arial"/>
            </a:endParaRPr>
          </a:p>
          <a:p>
            <a:pPr algn="ctr">
              <a:lnSpc>
                <a:spcPct val="100000"/>
              </a:lnSpc>
              <a:buNone/>
              <a:defRPr/>
            </a:pPr>
            <a:r>
              <a:rPr lang="zh-CN" sz="1200" b="1" strike="noStrike" spc="0">
                <a:solidFill>
                  <a:srgbClr val="004993"/>
                </a:solidFill>
                <a:latin typeface="Noto Sans CJK SC"/>
                <a:ea typeface="等线"/>
              </a:rPr>
              <a:t>排序</a:t>
            </a:r>
            <a:endParaRPr lang="en-US" sz="1200" b="0" strike="noStrike" spc="0">
              <a:latin typeface="Arial"/>
            </a:endParaRPr>
          </a:p>
        </p:txBody>
      </p:sp>
      <p:sp>
        <p:nvSpPr>
          <p:cNvPr id="975319057" name="Rounded Rectangle 14"/>
          <p:cNvSpPr/>
          <p:nvPr/>
        </p:nvSpPr>
        <p:spPr bwMode="auto">
          <a:xfrm>
            <a:off x="7223760" y="2057400"/>
            <a:ext cx="1005480" cy="658080"/>
          </a:xfrm>
          <a:prstGeom prst="roundRect">
            <a:avLst>
              <a:gd name="adj" fmla="val 16667"/>
            </a:avLst>
          </a:prstGeom>
          <a:solidFill>
            <a:srgbClr val="DFEDFA"/>
          </a:solidFill>
          <a:ln w="12700">
            <a:solidFill>
              <a:srgbClr val="004993"/>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gn="ctr">
              <a:lnSpc>
                <a:spcPct val="100000"/>
              </a:lnSpc>
              <a:buNone/>
              <a:defRPr/>
            </a:pPr>
            <a:r>
              <a:rPr lang="zh-CN" sz="1200" b="1" strike="noStrike" spc="0">
                <a:solidFill>
                  <a:srgbClr val="004993"/>
                </a:solidFill>
                <a:latin typeface="Noto Sans CJK SC"/>
                <a:ea typeface="等线"/>
              </a:rPr>
              <a:t>可视化</a:t>
            </a:r>
            <a:endParaRPr lang="en-US" sz="1200" b="0" strike="noStrike" spc="0">
              <a:latin typeface="Arial"/>
            </a:endParaRPr>
          </a:p>
          <a:p>
            <a:pPr algn="ctr">
              <a:lnSpc>
                <a:spcPct val="100000"/>
              </a:lnSpc>
              <a:buNone/>
              <a:defRPr/>
            </a:pPr>
            <a:r>
              <a:rPr lang="zh-CN" sz="1200" b="1" strike="noStrike" spc="0">
                <a:solidFill>
                  <a:srgbClr val="004993"/>
                </a:solidFill>
                <a:latin typeface="Noto Sans CJK SC"/>
                <a:ea typeface="等线"/>
              </a:rPr>
              <a:t>验证</a:t>
            </a:r>
            <a:endParaRPr lang="en-US" sz="1200" b="0" strike="noStrike" spc="0">
              <a:latin typeface="Arial"/>
            </a:endParaRPr>
          </a:p>
        </p:txBody>
      </p:sp>
      <p:sp>
        <p:nvSpPr>
          <p:cNvPr id="1555564467" name="TextBox 15"/>
          <p:cNvSpPr/>
          <p:nvPr/>
        </p:nvSpPr>
        <p:spPr bwMode="auto">
          <a:xfrm>
            <a:off x="777240" y="3154680"/>
            <a:ext cx="2194200" cy="3027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00000"/>
              </a:lnSpc>
              <a:buNone/>
              <a:defRPr/>
            </a:pPr>
            <a:r>
              <a:rPr lang="zh-CN" sz="1400" b="1" strike="noStrike" spc="0">
                <a:solidFill>
                  <a:srgbClr val="004993"/>
                </a:solidFill>
                <a:latin typeface="Noto Sans CJK SC"/>
                <a:ea typeface="等线"/>
              </a:rPr>
              <a:t>预处理重点</a:t>
            </a:r>
            <a:endParaRPr lang="en-US" sz="1400" b="0" strike="noStrike" spc="0">
              <a:latin typeface="Arial"/>
            </a:endParaRPr>
          </a:p>
        </p:txBody>
      </p:sp>
      <p:sp>
        <p:nvSpPr>
          <p:cNvPr id="368246420" name="TextBox 16"/>
          <p:cNvSpPr/>
          <p:nvPr/>
        </p:nvSpPr>
        <p:spPr bwMode="auto">
          <a:xfrm>
            <a:off x="777240" y="3520440"/>
            <a:ext cx="2468518" cy="14194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10000"/>
              </a:lnSpc>
              <a:spcAft>
                <a:spcPts val="498"/>
              </a:spcAft>
              <a:buNone/>
              <a:defRPr/>
            </a:pPr>
            <a:r>
              <a:rPr lang="en-US" sz="1200" b="0" strike="noStrike" spc="0">
                <a:solidFill>
                  <a:srgbClr val="263143"/>
                </a:solidFill>
                <a:latin typeface="Noto Sans CJK SC"/>
                <a:ea typeface="等线"/>
              </a:rPr>
              <a:t>• </a:t>
            </a:r>
            <a:r>
              <a:rPr lang="zh-CN" sz="1200" b="0" strike="noStrike" spc="0">
                <a:solidFill>
                  <a:srgbClr val="263143"/>
                </a:solidFill>
                <a:latin typeface="Noto Sans CJK SC"/>
                <a:ea typeface="等线"/>
              </a:rPr>
              <a:t>利用相机内参将深度像素反投影到 </a:t>
            </a:r>
            <a:r>
              <a:rPr lang="en-US" sz="1200" b="0" strike="noStrike" spc="0">
                <a:solidFill>
                  <a:srgbClr val="263143"/>
                </a:solidFill>
                <a:latin typeface="Noto Sans CJK SC"/>
                <a:ea typeface="等线"/>
              </a:rPr>
              <a:t>3D</a:t>
            </a:r>
            <a:r>
              <a:rPr lang="zh-CN" sz="1200" b="0" strike="noStrike" spc="0">
                <a:solidFill>
                  <a:srgbClr val="263143"/>
                </a:solidFill>
                <a:latin typeface="Noto Sans CJK SC"/>
                <a:ea typeface="等线"/>
              </a:rPr>
              <a:t>。</a:t>
            </a:r>
            <a:endParaRPr lang="en-US" sz="1200" b="0" strike="noStrike" spc="0">
              <a:latin typeface="Arial"/>
            </a:endParaRPr>
          </a:p>
          <a:p>
            <a:pPr>
              <a:lnSpc>
                <a:spcPct val="110000"/>
              </a:lnSpc>
              <a:spcAft>
                <a:spcPts val="498"/>
              </a:spcAft>
              <a:buNone/>
              <a:defRPr/>
            </a:pPr>
            <a:r>
              <a:rPr lang="en-US" sz="1200" b="0" strike="noStrike" spc="0">
                <a:solidFill>
                  <a:srgbClr val="263143"/>
                </a:solidFill>
                <a:latin typeface="Noto Sans CJK SC"/>
                <a:ea typeface="等线"/>
              </a:rPr>
              <a:t>• </a:t>
            </a:r>
            <a:r>
              <a:rPr lang="zh-CN" sz="1200" b="0" strike="noStrike" spc="0">
                <a:solidFill>
                  <a:srgbClr val="263143"/>
                </a:solidFill>
                <a:latin typeface="Noto Sans CJK SC"/>
                <a:ea typeface="等线"/>
              </a:rPr>
              <a:t>进行体素降采样和统计离群点剔除。</a:t>
            </a:r>
            <a:endParaRPr lang="en-US" sz="1200" b="0" strike="noStrike" spc="0">
              <a:latin typeface="Arial"/>
            </a:endParaRPr>
          </a:p>
          <a:p>
            <a:pPr>
              <a:lnSpc>
                <a:spcPct val="110000"/>
              </a:lnSpc>
              <a:spcAft>
                <a:spcPts val="498"/>
              </a:spcAft>
              <a:buNone/>
              <a:defRPr/>
            </a:pPr>
            <a:r>
              <a:rPr lang="en-US" sz="1200" b="0" strike="noStrike" spc="0">
                <a:solidFill>
                  <a:srgbClr val="263143"/>
                </a:solidFill>
                <a:latin typeface="Noto Sans CJK SC"/>
                <a:ea typeface="等线"/>
              </a:rPr>
              <a:t>• </a:t>
            </a:r>
            <a:r>
              <a:rPr lang="zh-CN" sz="1200" b="0" strike="noStrike" spc="0">
                <a:solidFill>
                  <a:srgbClr val="263143"/>
                </a:solidFill>
                <a:latin typeface="Noto Sans CJK SC"/>
                <a:ea typeface="等线"/>
              </a:rPr>
              <a:t>保留物体附近局部点云，减少背景干扰。</a:t>
            </a:r>
            <a:endParaRPr lang="en-US" sz="1200" b="0" strike="noStrike" spc="0">
              <a:latin typeface="Arial"/>
            </a:endParaRPr>
          </a:p>
        </p:txBody>
      </p:sp>
      <p:sp>
        <p:nvSpPr>
          <p:cNvPr id="1838041962" name="TextBox 17"/>
          <p:cNvSpPr/>
          <p:nvPr/>
        </p:nvSpPr>
        <p:spPr bwMode="auto">
          <a:xfrm>
            <a:off x="3429000" y="3154680"/>
            <a:ext cx="2194200" cy="3027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00000"/>
              </a:lnSpc>
              <a:buNone/>
              <a:defRPr/>
            </a:pPr>
            <a:r>
              <a:rPr lang="zh-CN" sz="1400" b="1" strike="noStrike" spc="0">
                <a:solidFill>
                  <a:srgbClr val="004993"/>
                </a:solidFill>
                <a:latin typeface="Noto Sans CJK SC"/>
                <a:ea typeface="等线"/>
              </a:rPr>
              <a:t>网络推理重点</a:t>
            </a:r>
            <a:endParaRPr lang="en-US" sz="1400" b="0" strike="noStrike" spc="0">
              <a:latin typeface="Arial"/>
            </a:endParaRPr>
          </a:p>
        </p:txBody>
      </p:sp>
      <p:sp>
        <p:nvSpPr>
          <p:cNvPr id="1169907602" name="TextBox 18"/>
          <p:cNvSpPr/>
          <p:nvPr/>
        </p:nvSpPr>
        <p:spPr bwMode="auto">
          <a:xfrm>
            <a:off x="3429000" y="3520440"/>
            <a:ext cx="2514240" cy="14194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10000"/>
              </a:lnSpc>
              <a:spcAft>
                <a:spcPts val="498"/>
              </a:spcAft>
              <a:buNone/>
              <a:defRPr/>
            </a:pPr>
            <a:r>
              <a:rPr lang="en-US" sz="1200" b="0" strike="noStrike" spc="0">
                <a:solidFill>
                  <a:srgbClr val="263143"/>
                </a:solidFill>
                <a:latin typeface="Noto Sans CJK SC"/>
                <a:ea typeface="等线"/>
              </a:rPr>
              <a:t>• </a:t>
            </a:r>
            <a:r>
              <a:rPr lang="zh-CN" sz="1200" b="0" strike="noStrike" spc="0">
                <a:solidFill>
                  <a:srgbClr val="263143"/>
                </a:solidFill>
                <a:latin typeface="Noto Sans CJK SC"/>
                <a:ea typeface="等线"/>
              </a:rPr>
              <a:t>使用官方预训练 </a:t>
            </a:r>
            <a:r>
              <a:rPr lang="en-US" sz="1200" b="0" strike="noStrike" spc="0">
                <a:solidFill>
                  <a:srgbClr val="263143"/>
                </a:solidFill>
                <a:latin typeface="Noto Sans CJK SC"/>
                <a:ea typeface="等线"/>
              </a:rPr>
              <a:t>GraspGen </a:t>
            </a:r>
            <a:r>
              <a:rPr lang="zh-CN" sz="1200" b="0" strike="noStrike" spc="0">
                <a:solidFill>
                  <a:srgbClr val="263143"/>
                </a:solidFill>
                <a:latin typeface="Noto Sans CJK SC"/>
                <a:ea typeface="等线"/>
              </a:rPr>
              <a:t>模型进行候选采样。</a:t>
            </a:r>
            <a:endParaRPr lang="en-US" sz="1200" b="0" strike="noStrike" spc="0">
              <a:latin typeface="Arial"/>
            </a:endParaRPr>
          </a:p>
          <a:p>
            <a:pPr>
              <a:lnSpc>
                <a:spcPct val="110000"/>
              </a:lnSpc>
              <a:spcAft>
                <a:spcPts val="498"/>
              </a:spcAft>
              <a:buNone/>
              <a:defRPr/>
            </a:pPr>
            <a:r>
              <a:rPr lang="en-US" sz="1200" b="0" strike="noStrike" spc="0">
                <a:solidFill>
                  <a:srgbClr val="263143"/>
                </a:solidFill>
                <a:latin typeface="Noto Sans CJK SC"/>
                <a:ea typeface="等线"/>
              </a:rPr>
              <a:t>• </a:t>
            </a:r>
            <a:r>
              <a:rPr lang="zh-CN" sz="1200" b="0" strike="noStrike" spc="0">
                <a:solidFill>
                  <a:srgbClr val="263143"/>
                </a:solidFill>
                <a:latin typeface="Noto Sans CJK SC"/>
                <a:ea typeface="等线"/>
              </a:rPr>
              <a:t>判别器</a:t>
            </a:r>
            <a:r>
              <a:rPr lang="en-US" sz="1200" b="0" strike="noStrike" spc="0">
                <a:solidFill>
                  <a:srgbClr val="263143"/>
                </a:solidFill>
                <a:latin typeface="Noto Sans CJK SC"/>
                <a:ea typeface="等线"/>
              </a:rPr>
              <a:t>/</a:t>
            </a:r>
            <a:r>
              <a:rPr lang="zh-CN" sz="1200" b="0" strike="noStrike" spc="0">
                <a:solidFill>
                  <a:srgbClr val="263143"/>
                </a:solidFill>
                <a:latin typeface="Noto Sans CJK SC"/>
                <a:ea typeface="等线"/>
              </a:rPr>
              <a:t>评分模块筛选高质量抓取。</a:t>
            </a:r>
            <a:endParaRPr lang="en-US" sz="1200" b="0" strike="noStrike" spc="0">
              <a:latin typeface="Arial"/>
            </a:endParaRPr>
          </a:p>
          <a:p>
            <a:pPr>
              <a:lnSpc>
                <a:spcPct val="110000"/>
              </a:lnSpc>
              <a:spcAft>
                <a:spcPts val="498"/>
              </a:spcAft>
              <a:buNone/>
              <a:defRPr/>
            </a:pPr>
            <a:r>
              <a:rPr lang="en-US" sz="1200" b="0" strike="noStrike" spc="0">
                <a:solidFill>
                  <a:srgbClr val="263143"/>
                </a:solidFill>
                <a:latin typeface="Noto Sans CJK SC"/>
                <a:ea typeface="等线"/>
              </a:rPr>
              <a:t>• </a:t>
            </a:r>
            <a:r>
              <a:rPr lang="zh-CN" sz="1200" b="0" strike="noStrike" spc="0">
                <a:solidFill>
                  <a:srgbClr val="263143"/>
                </a:solidFill>
                <a:latin typeface="Noto Sans CJK SC"/>
                <a:ea typeface="等线"/>
              </a:rPr>
              <a:t>保留 </a:t>
            </a:r>
            <a:r>
              <a:rPr lang="en-US" sz="1200" b="0" strike="noStrike" spc="0">
                <a:solidFill>
                  <a:srgbClr val="263143"/>
                </a:solidFill>
                <a:latin typeface="Noto Sans CJK SC"/>
                <a:ea typeface="等线"/>
              </a:rPr>
              <a:t>Top-k </a:t>
            </a:r>
            <a:r>
              <a:rPr lang="zh-CN" sz="1200" b="0" strike="noStrike" spc="0">
                <a:solidFill>
                  <a:srgbClr val="263143"/>
                </a:solidFill>
                <a:latin typeface="Noto Sans CJK SC"/>
                <a:ea typeface="等线"/>
              </a:rPr>
              <a:t>位姿用于后续渲染与评估。</a:t>
            </a:r>
            <a:endParaRPr lang="en-US" sz="1200" b="0" strike="noStrike" spc="0">
              <a:latin typeface="Arial"/>
            </a:endParaRPr>
          </a:p>
        </p:txBody>
      </p:sp>
      <p:sp>
        <p:nvSpPr>
          <p:cNvPr id="1451817617" name="TextBox 19"/>
          <p:cNvSpPr/>
          <p:nvPr/>
        </p:nvSpPr>
        <p:spPr bwMode="auto">
          <a:xfrm>
            <a:off x="6080760" y="3154680"/>
            <a:ext cx="1919880" cy="3027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00000"/>
              </a:lnSpc>
              <a:buNone/>
              <a:defRPr/>
            </a:pPr>
            <a:r>
              <a:rPr lang="zh-CN" sz="1400" b="1" strike="noStrike" spc="0">
                <a:solidFill>
                  <a:srgbClr val="004993"/>
                </a:solidFill>
                <a:latin typeface="Noto Sans CJK SC"/>
                <a:ea typeface="等线"/>
              </a:rPr>
              <a:t>验证重点</a:t>
            </a:r>
            <a:endParaRPr lang="en-US" sz="1400" b="0" strike="noStrike" spc="0">
              <a:latin typeface="Arial"/>
            </a:endParaRPr>
          </a:p>
        </p:txBody>
      </p:sp>
      <p:sp>
        <p:nvSpPr>
          <p:cNvPr id="1319106052" name="TextBox 20"/>
          <p:cNvSpPr/>
          <p:nvPr/>
        </p:nvSpPr>
        <p:spPr bwMode="auto">
          <a:xfrm>
            <a:off x="6080760" y="3520440"/>
            <a:ext cx="1965600" cy="14194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10000"/>
              </a:lnSpc>
              <a:spcAft>
                <a:spcPts val="498"/>
              </a:spcAft>
              <a:buNone/>
              <a:defRPr/>
            </a:pPr>
            <a:r>
              <a:rPr lang="en-US" sz="1200" b="0" strike="noStrike" spc="0">
                <a:solidFill>
                  <a:srgbClr val="263143"/>
                </a:solidFill>
                <a:latin typeface="Noto Sans CJK SC"/>
                <a:ea typeface="等线"/>
              </a:rPr>
              <a:t>• </a:t>
            </a:r>
            <a:r>
              <a:rPr lang="zh-CN" sz="1200" b="0" strike="noStrike" spc="0">
                <a:solidFill>
                  <a:srgbClr val="263143"/>
                </a:solidFill>
                <a:latin typeface="Noto Sans CJK SC"/>
                <a:ea typeface="等线"/>
              </a:rPr>
              <a:t>检查夹爪与物体点云是否碰撞。</a:t>
            </a:r>
            <a:endParaRPr lang="en-US" sz="1200" b="0" strike="noStrike" spc="0">
              <a:latin typeface="Arial"/>
            </a:endParaRPr>
          </a:p>
          <a:p>
            <a:pPr>
              <a:lnSpc>
                <a:spcPct val="110000"/>
              </a:lnSpc>
              <a:spcAft>
                <a:spcPts val="498"/>
              </a:spcAft>
              <a:buNone/>
              <a:defRPr/>
            </a:pPr>
            <a:r>
              <a:rPr lang="en-US" sz="1200" b="0" strike="noStrike" spc="0">
                <a:solidFill>
                  <a:srgbClr val="263143"/>
                </a:solidFill>
                <a:latin typeface="Noto Sans CJK SC"/>
                <a:ea typeface="等线"/>
              </a:rPr>
              <a:t>• </a:t>
            </a:r>
            <a:r>
              <a:rPr lang="zh-CN" sz="1200" b="0" strike="noStrike" spc="0">
                <a:solidFill>
                  <a:srgbClr val="263143"/>
                </a:solidFill>
                <a:latin typeface="Noto Sans CJK SC"/>
                <a:ea typeface="等线"/>
              </a:rPr>
              <a:t>判断闭合区域内是否存在有效接触点。</a:t>
            </a:r>
            <a:endParaRPr lang="en-US" sz="1200" b="0" strike="noStrike" spc="0">
              <a:latin typeface="Arial"/>
            </a:endParaRPr>
          </a:p>
          <a:p>
            <a:pPr>
              <a:lnSpc>
                <a:spcPct val="110000"/>
              </a:lnSpc>
              <a:spcAft>
                <a:spcPts val="498"/>
              </a:spcAft>
              <a:buNone/>
              <a:defRPr/>
            </a:pPr>
            <a:r>
              <a:rPr lang="en-US" sz="1200" b="0" strike="noStrike" spc="0">
                <a:solidFill>
                  <a:srgbClr val="263143"/>
                </a:solidFill>
                <a:latin typeface="Noto Sans CJK SC"/>
                <a:ea typeface="等线"/>
              </a:rPr>
              <a:t>• </a:t>
            </a:r>
            <a:r>
              <a:rPr lang="zh-CN" sz="1200" b="0" strike="noStrike" spc="0">
                <a:solidFill>
                  <a:srgbClr val="263143"/>
                </a:solidFill>
                <a:latin typeface="Noto Sans CJK SC"/>
                <a:ea typeface="等线"/>
              </a:rPr>
              <a:t>记录失败样例并分析原因。</a:t>
            </a:r>
            <a:endParaRPr lang="en-US" sz="1200" b="0" strike="noStrike" spc="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1780350" name="PlaceHolder 2"/>
          <p:cNvSpPr>
            <a:spLocks noGrp="1"/>
          </p:cNvSpPr>
          <p:nvPr>
            <p:ph type="title"/>
          </p:nvPr>
        </p:nvSpPr>
        <p:spPr bwMode="auto">
          <a:xfrm>
            <a:off x="320040" y="960120"/>
            <a:ext cx="8366400" cy="411120"/>
          </a:xfrm>
          <a:prstGeom prst="rect">
            <a:avLst/>
          </a:prstGeom>
          <a:noFill/>
          <a:ln w="0">
            <a:noFill/>
          </a:ln>
        </p:spPr>
        <p:txBody>
          <a:bodyPr anchor="ctr">
            <a:normAutofit/>
          </a:bodyPr>
          <a:lstStyle/>
          <a:p>
            <a:pPr>
              <a:lnSpc>
                <a:spcPct val="90000"/>
              </a:lnSpc>
              <a:buNone/>
              <a:defRPr/>
            </a:pPr>
            <a:r>
              <a:rPr lang="en-US" sz="2200" b="1" strike="noStrike" spc="0">
                <a:solidFill>
                  <a:srgbClr val="004993"/>
                </a:solidFill>
                <a:latin typeface="Noto Sans CJK SC"/>
                <a:ea typeface="等线"/>
              </a:rPr>
              <a:t>1.3 </a:t>
            </a:r>
            <a:r>
              <a:rPr lang="zh-CN" sz="2200" b="1" strike="noStrike" spc="0">
                <a:solidFill>
                  <a:srgbClr val="004993"/>
                </a:solidFill>
                <a:latin typeface="Noto Sans CJK SC"/>
                <a:ea typeface="等线"/>
              </a:rPr>
              <a:t>网络选型：</a:t>
            </a:r>
            <a:r>
              <a:rPr lang="en-US" sz="2200" b="1" strike="noStrike" spc="0">
                <a:solidFill>
                  <a:srgbClr val="004993"/>
                </a:solidFill>
                <a:latin typeface="Noto Sans CJK SC"/>
                <a:ea typeface="等线"/>
              </a:rPr>
              <a:t>GraspGen</a:t>
            </a:r>
            <a:endParaRPr lang="en-US" sz="2200" b="0" strike="noStrike" spc="0">
              <a:solidFill>
                <a:srgbClr val="000000"/>
              </a:solidFill>
              <a:latin typeface="等线 Light"/>
            </a:endParaRPr>
          </a:p>
        </p:txBody>
      </p:sp>
      <p:sp>
        <p:nvSpPr>
          <p:cNvPr id="1251833982" name="Rounded Rectangle 3"/>
          <p:cNvSpPr/>
          <p:nvPr/>
        </p:nvSpPr>
        <p:spPr bwMode="auto">
          <a:xfrm>
            <a:off x="360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pic>
        <p:nvPicPr>
          <p:cNvPr id="404645110" name="Picture 4" descr="montage_crop_16_9.jpg"/>
          <p:cNvPicPr/>
          <p:nvPr/>
        </p:nvPicPr>
        <p:blipFill rotWithShape="1">
          <a:blip r:embed="rId3"/>
          <a:stretch/>
        </p:blipFill>
        <p:spPr bwMode="auto">
          <a:xfrm>
            <a:off x="675000" y="3240000"/>
            <a:ext cx="3794400" cy="2134800"/>
          </a:xfrm>
          <a:prstGeom prst="rect">
            <a:avLst/>
          </a:prstGeom>
          <a:ln w="0">
            <a:noFill/>
          </a:ln>
        </p:spPr>
      </p:pic>
      <p:sp>
        <p:nvSpPr>
          <p:cNvPr id="1889835214" name="矩形 1889835213"/>
          <p:cNvSpPr/>
          <p:nvPr/>
        </p:nvSpPr>
        <p:spPr bwMode="auto">
          <a:xfrm>
            <a:off x="4617720" y="1874520"/>
            <a:ext cx="2582280" cy="333000"/>
          </a:xfrm>
          <a:prstGeom prst="rect">
            <a:avLst/>
          </a:prstGeom>
          <a:solidFill>
            <a:srgbClr val="DEE6EF"/>
          </a:solidFill>
          <a:ln w="0">
            <a:solidFill>
              <a:srgbClr val="DEE7E5"/>
            </a:solidFill>
          </a:ln>
        </p:spPr>
        <p:style>
          <a:lnRef idx="0">
            <a:scrgbClr r="0" g="0" b="0"/>
          </a:lnRef>
          <a:fillRef idx="0">
            <a:scrgbClr r="0" g="0" b="0"/>
          </a:fillRef>
          <a:effectRef idx="0">
            <a:scrgbClr r="0" g="0" b="0"/>
          </a:effectRef>
          <a:fontRef idx="minor"/>
        </p:style>
      </p:sp>
      <p:sp>
        <p:nvSpPr>
          <p:cNvPr id="1955511260" name="TextBox 5"/>
          <p:cNvSpPr/>
          <p:nvPr/>
        </p:nvSpPr>
        <p:spPr bwMode="auto">
          <a:xfrm>
            <a:off x="4617720" y="1874520"/>
            <a:ext cx="3291480" cy="33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00000"/>
              </a:lnSpc>
              <a:buNone/>
              <a:defRPr/>
            </a:pPr>
            <a:r>
              <a:rPr lang="zh-CN" sz="1600" b="1" strike="noStrike" spc="0">
                <a:solidFill>
                  <a:srgbClr val="004993"/>
                </a:solidFill>
                <a:latin typeface="Noto Sans CJK SC"/>
                <a:ea typeface="等线"/>
              </a:rPr>
              <a:t>选择 </a:t>
            </a:r>
            <a:r>
              <a:rPr lang="en-US" sz="1600" b="1" strike="noStrike" spc="0">
                <a:solidFill>
                  <a:srgbClr val="004993"/>
                </a:solidFill>
                <a:latin typeface="Noto Sans CJK SC"/>
                <a:ea typeface="等线"/>
              </a:rPr>
              <a:t>GraspGen </a:t>
            </a:r>
            <a:r>
              <a:rPr lang="zh-CN" sz="1600" b="1" strike="noStrike" spc="0">
                <a:solidFill>
                  <a:srgbClr val="004993"/>
                </a:solidFill>
                <a:latin typeface="Noto Sans CJK SC"/>
                <a:ea typeface="等线"/>
              </a:rPr>
              <a:t>的原因</a:t>
            </a:r>
            <a:endParaRPr lang="en-US" sz="1600" b="0" strike="noStrike" spc="0">
              <a:latin typeface="Arial"/>
            </a:endParaRPr>
          </a:p>
        </p:txBody>
      </p:sp>
      <p:sp>
        <p:nvSpPr>
          <p:cNvPr id="222497374" name="TextBox 6"/>
          <p:cNvSpPr/>
          <p:nvPr/>
        </p:nvSpPr>
        <p:spPr bwMode="auto">
          <a:xfrm>
            <a:off x="4617720" y="2331720"/>
            <a:ext cx="3520080" cy="25671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10000"/>
              </a:lnSpc>
              <a:spcBef>
                <a:spcPts val="1416"/>
              </a:spcBef>
              <a:spcAft>
                <a:spcPts val="509"/>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模型定位：面向 </a:t>
            </a:r>
            <a:r>
              <a:rPr lang="en-US" sz="1300" b="0" strike="noStrike" spc="0">
                <a:solidFill>
                  <a:srgbClr val="263143"/>
                </a:solidFill>
                <a:latin typeface="Noto Sans CJK SC"/>
                <a:ea typeface="等线"/>
              </a:rPr>
              <a:t>6-DoF </a:t>
            </a:r>
            <a:r>
              <a:rPr lang="zh-CN" sz="1300" b="0" strike="noStrike" spc="0">
                <a:solidFill>
                  <a:srgbClr val="263143"/>
                </a:solidFill>
                <a:latin typeface="Noto Sans CJK SC"/>
                <a:ea typeface="等线"/>
              </a:rPr>
              <a:t>抓取生成的扩散式框架。</a:t>
            </a:r>
            <a:endParaRPr lang="en-US" sz="1300" b="0" strike="noStrike" spc="0">
              <a:latin typeface="Arial"/>
            </a:endParaRPr>
          </a:p>
          <a:p>
            <a:pPr>
              <a:lnSpc>
                <a:spcPct val="110000"/>
              </a:lnSpc>
              <a:spcBef>
                <a:spcPts val="1416"/>
              </a:spcBef>
              <a:spcAft>
                <a:spcPts val="509"/>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输入适配：可直接处理物体</a:t>
            </a:r>
            <a:r>
              <a:rPr lang="en-US" sz="1300" b="0" strike="noStrike" spc="0">
                <a:solidFill>
                  <a:srgbClr val="263143"/>
                </a:solidFill>
                <a:latin typeface="Noto Sans CJK SC"/>
                <a:ea typeface="等线"/>
              </a:rPr>
              <a:t>/</a:t>
            </a:r>
            <a:r>
              <a:rPr lang="zh-CN" sz="1300" b="0" strike="noStrike" spc="0">
                <a:solidFill>
                  <a:srgbClr val="263143"/>
                </a:solidFill>
                <a:latin typeface="Noto Sans CJK SC"/>
                <a:ea typeface="等线"/>
              </a:rPr>
              <a:t>场景点云，符合本项目局部点云输入。</a:t>
            </a:r>
            <a:endParaRPr lang="en-US" sz="1300" b="0" strike="noStrike" spc="0">
              <a:latin typeface="Arial"/>
            </a:endParaRPr>
          </a:p>
          <a:p>
            <a:pPr>
              <a:lnSpc>
                <a:spcPct val="110000"/>
              </a:lnSpc>
              <a:spcBef>
                <a:spcPts val="1416"/>
              </a:spcBef>
              <a:spcAft>
                <a:spcPts val="509"/>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输出完整：生成多个夹爪位姿，并提供评分排序机制。</a:t>
            </a:r>
            <a:endParaRPr lang="en-US" sz="1300" b="0" strike="noStrike" spc="0">
              <a:latin typeface="Arial"/>
            </a:endParaRPr>
          </a:p>
          <a:p>
            <a:pPr>
              <a:lnSpc>
                <a:spcPct val="110000"/>
              </a:lnSpc>
              <a:spcBef>
                <a:spcPts val="1416"/>
              </a:spcBef>
              <a:spcAft>
                <a:spcPts val="509"/>
              </a:spcAft>
              <a:buNone/>
              <a:defRPr/>
            </a:pPr>
            <a:r>
              <a:rPr lang="en-US" sz="1300" b="0" strike="noStrike" spc="0">
                <a:solidFill>
                  <a:srgbClr val="263143"/>
                </a:solidFill>
                <a:latin typeface="Noto Sans CJK SC"/>
                <a:ea typeface="等线"/>
              </a:rPr>
              <a:t>• </a:t>
            </a:r>
            <a:r>
              <a:rPr lang="zh-CN" sz="1300" b="0" strike="noStrike" spc="0">
                <a:solidFill>
                  <a:srgbClr val="263143"/>
                </a:solidFill>
                <a:latin typeface="Noto Sans CJK SC"/>
                <a:ea typeface="等线"/>
              </a:rPr>
              <a:t>实验便利：官方提供推理脚本、检查点与可视化示例，便于快速复现。</a:t>
            </a:r>
            <a:endParaRPr lang="en-US" sz="1300" b="0" strike="noStrike" spc="0">
              <a:latin typeface="Arial"/>
            </a:endParaRPr>
          </a:p>
        </p:txBody>
      </p:sp>
      <p:sp>
        <p:nvSpPr>
          <p:cNvPr id="1940873053" name="Rounded Rectangle 7"/>
          <p:cNvSpPr/>
          <p:nvPr/>
        </p:nvSpPr>
        <p:spPr bwMode="auto">
          <a:xfrm>
            <a:off x="540000" y="5580000"/>
            <a:ext cx="7920000" cy="502560"/>
          </a:xfrm>
          <a:prstGeom prst="roundRect">
            <a:avLst>
              <a:gd name="adj" fmla="val 16667"/>
            </a:avLst>
          </a:prstGeom>
          <a:solidFill>
            <a:srgbClr val="EEF4FC"/>
          </a:solidFill>
          <a:ln>
            <a:solidFill>
              <a:srgbClr val="EEF4FC"/>
            </a:solidFill>
          </a:ln>
        </p:spPr>
        <p:style>
          <a:lnRef idx="1">
            <a:schemeClr val="accent1"/>
          </a:lnRef>
          <a:fillRef idx="3">
            <a:schemeClr val="accent1"/>
          </a:fillRef>
          <a:effectRef idx="2">
            <a:schemeClr val="accent1"/>
          </a:effectRef>
          <a:fontRef idx="minor"/>
        </p:style>
        <p:txBody>
          <a:bodyPr lIns="90000" tIns="45000" rIns="90000" bIns="45000" anchor="ctr">
            <a:normAutofit/>
          </a:bodyPr>
          <a:lstStyle/>
          <a:p>
            <a:pPr algn="ctr">
              <a:lnSpc>
                <a:spcPct val="100000"/>
              </a:lnSpc>
              <a:buNone/>
              <a:defRPr/>
            </a:pPr>
            <a:r>
              <a:rPr lang="zh-CN" sz="1400" b="1" strike="noStrike" spc="0">
                <a:solidFill>
                  <a:srgbClr val="004993"/>
                </a:solidFill>
                <a:latin typeface="Noto Sans CJK SC"/>
                <a:ea typeface="等线"/>
              </a:rPr>
              <a:t>本项目使用：官方预训练模型 </a:t>
            </a:r>
            <a:r>
              <a:rPr lang="en-US" sz="1400" b="1" strike="noStrike" spc="0">
                <a:solidFill>
                  <a:srgbClr val="004993"/>
                </a:solidFill>
                <a:latin typeface="Noto Sans CJK SC"/>
                <a:ea typeface="等线"/>
              </a:rPr>
              <a:t>+ </a:t>
            </a:r>
            <a:r>
              <a:rPr lang="zh-CN" sz="1400" b="1" strike="noStrike" spc="0">
                <a:solidFill>
                  <a:srgbClr val="004993"/>
                </a:solidFill>
                <a:latin typeface="Noto Sans CJK SC"/>
                <a:ea typeface="等线"/>
              </a:rPr>
              <a:t>自建点云预处理与验证脚本</a:t>
            </a:r>
            <a:endParaRPr lang="en-US" sz="1400" b="0" strike="noStrike" spc="0">
              <a:latin typeface="Arial"/>
            </a:endParaRPr>
          </a:p>
        </p:txBody>
      </p:sp>
      <p:pic>
        <p:nvPicPr>
          <p:cNvPr id="1385913385" name="图片 1385913384"/>
          <p:cNvPicPr/>
          <p:nvPr/>
        </p:nvPicPr>
        <p:blipFill rotWithShape="1">
          <a:blip r:embed="rId4"/>
          <a:stretch/>
        </p:blipFill>
        <p:spPr bwMode="auto">
          <a:xfrm>
            <a:off x="608040" y="1980000"/>
            <a:ext cx="3891960" cy="100116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03180863" name="PlaceHolder 2"/>
          <p:cNvSpPr>
            <a:spLocks noGrp="1"/>
          </p:cNvSpPr>
          <p:nvPr>
            <p:ph type="title"/>
          </p:nvPr>
        </p:nvSpPr>
        <p:spPr bwMode="auto">
          <a:xfrm>
            <a:off x="320040" y="960120"/>
            <a:ext cx="8366400" cy="411120"/>
          </a:xfrm>
          <a:prstGeom prst="rect">
            <a:avLst/>
          </a:prstGeom>
          <a:noFill/>
          <a:ln w="0">
            <a:noFill/>
          </a:ln>
        </p:spPr>
        <p:txBody>
          <a:bodyPr anchor="ctr">
            <a:normAutofit/>
          </a:bodyPr>
          <a:lstStyle/>
          <a:p>
            <a:pPr marL="0" marR="0" indent="0" algn="l">
              <a:lnSpc>
                <a:spcPct val="90000"/>
              </a:lnSpc>
              <a:spcBef>
                <a:spcPts val="0"/>
              </a:spcBef>
              <a:spcAft>
                <a:spcPts val="0"/>
              </a:spcAft>
              <a:buNone/>
              <a:defRPr/>
            </a:pPr>
            <a:r>
              <a:rPr lang="zh-CN" sz="2200" b="1" strike="noStrike" spc="0">
                <a:solidFill>
                  <a:srgbClr val="004993"/>
                </a:solidFill>
                <a:latin typeface="等线" panose="02010600030101010101" pitchFamily="2" charset="-122"/>
                <a:ea typeface="等线" panose="02010600030101010101" pitchFamily="2" charset="-122"/>
              </a:rPr>
              <a:t>2.1</a:t>
            </a:r>
            <a:r>
              <a:rPr lang="en-US" sz="2200" b="1" strike="noStrike" spc="0">
                <a:solidFill>
                  <a:srgbClr val="004993"/>
                </a:solidFill>
                <a:latin typeface="等线" panose="02010600030101010101" pitchFamily="2" charset="-122"/>
                <a:ea typeface="等线" panose="02010600030101010101" pitchFamily="2" charset="-122"/>
              </a:rPr>
              <a:t> </a:t>
            </a:r>
            <a:r>
              <a:rPr lang="en-US" sz="2100" b="1" i="0" u="none" strike="noStrike" cap="none" spc="0">
                <a:solidFill>
                  <a:schemeClr val="accent1"/>
                </a:solidFill>
                <a:latin typeface="等线" panose="02010600030101010101" pitchFamily="2" charset="-122"/>
                <a:ea typeface="等线" panose="02010600030101010101" pitchFamily="2" charset="-122"/>
                <a:cs typeface="Open Sans"/>
              </a:rPr>
              <a:t>相机几何：针孔模型反投影公式RGB-D</a:t>
            </a:r>
          </a:p>
        </p:txBody>
      </p:sp>
      <p:sp>
        <p:nvSpPr>
          <p:cNvPr id="50311026" name="Rounded Rectangle 3"/>
          <p:cNvSpPr/>
          <p:nvPr/>
        </p:nvSpPr>
        <p:spPr bwMode="auto">
          <a:xfrm>
            <a:off x="342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mc:AlternateContent xmlns:mc="http://schemas.openxmlformats.org/markup-compatibility/2006">
        <mc:Choice xmlns:a14="http://schemas.microsoft.com/office/drawing/2010/main" Requires="a14">
          <p:sp>
            <p:nvSpPr>
              <p:cNvPr id="724403626" name="TextBox 6"/>
              <p:cNvSpPr/>
              <p:nvPr/>
            </p:nvSpPr>
            <p:spPr bwMode="auto">
              <a:xfrm>
                <a:off x="4781018" y="2727810"/>
                <a:ext cx="3528720" cy="3527782"/>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nSpc>
                    <a:spcPct val="125000"/>
                  </a:lnSpc>
                  <a:spcBef>
                    <a:spcPts val="0"/>
                  </a:spcBef>
                  <a:spcAft>
                    <a:spcPts val="0"/>
                  </a:spcAft>
                  <a:defRPr/>
                </a:pPr>
                <a:r>
                  <a:rPr sz="1400">
                    <a:latin typeface="等线" panose="02010600030101010101" pitchFamily="2" charset="-122"/>
                    <a:ea typeface="等线" panose="02010600030101010101" pitchFamily="2" charset="-122"/>
                  </a:rPr>
                  <a:t>深度像素 (u, v, d) 到相机坐标系三维点 (X, Y, Z)：</a:t>
                </a:r>
              </a:p>
              <a:p>
                <a:pPr>
                  <a:lnSpc>
                    <a:spcPct val="125000"/>
                  </a:lnSpc>
                  <a:spcBef>
                    <a:spcPts val="0"/>
                  </a:spcBef>
                  <a:spcAft>
                    <a:spcPts val="0"/>
                  </a:spcAft>
                  <a:defRPr/>
                </a:pPr>
                <a14:m>
                  <m:oMathPara xmlns:m="http://schemas.openxmlformats.org/officeDocument/2006/math">
                    <m:oMathParaPr>
                      <m:jc m:val="centerGroup"/>
                    </m:oMathParaPr>
                    <m:oMath xmlns:m="http://schemas.openxmlformats.org/officeDocument/2006/math">
                      <m:borderBox>
                        <m:borderBoxPr>
                          <m:ctrlPr>
                            <a:rPr sz="1400" i="1">
                              <a:latin typeface="Cambria Math" panose="02040503050406030204" pitchFamily="18" charset="0"/>
                              <a:ea typeface="Cambria Math"/>
                              <a:cs typeface="Cambria Math"/>
                            </a:rPr>
                          </m:ctrlPr>
                        </m:borderBoxPr>
                        <m:e>
                          <m:r>
                            <a:rPr sz="1400">
                              <a:latin typeface="Cambria Math" panose="02040503050406030204" pitchFamily="18" charset="0"/>
                            </a:rPr>
                            <m:t>𝑋</m:t>
                          </m:r>
                          <m:r>
                            <a:rPr sz="1400">
                              <a:latin typeface="Cambria Math" panose="02040503050406030204" pitchFamily="18" charset="0"/>
                            </a:rPr>
                            <m:t>=</m:t>
                          </m:r>
                          <m:f>
                            <m:fPr>
                              <m:ctrlPr>
                                <a:rPr sz="1400" i="1">
                                  <a:latin typeface="Cambria Math" panose="02040503050406030204" pitchFamily="18" charset="0"/>
                                  <a:ea typeface="Cambria Math"/>
                                  <a:cs typeface="Cambria Math"/>
                                </a:rPr>
                              </m:ctrlPr>
                            </m:fPr>
                            <m:num>
                              <m:r>
                                <a:rPr sz="1400">
                                  <a:latin typeface="Cambria Math" panose="02040503050406030204" pitchFamily="18" charset="0"/>
                                </a:rPr>
                                <m:t>(</m:t>
                              </m:r>
                              <m:r>
                                <a:rPr sz="1400">
                                  <a:latin typeface="Cambria Math" panose="02040503050406030204" pitchFamily="18" charset="0"/>
                                </a:rPr>
                                <m:t>𝑢</m:t>
                              </m:r>
                              <m:r>
                                <a:rPr sz="1400">
                                  <a:latin typeface="Cambria Math" panose="02040503050406030204" pitchFamily="18" charset="0"/>
                                </a:rPr>
                                <m:t>−</m:t>
                              </m:r>
                              <m:sSub>
                                <m:sSubPr>
                                  <m:ctrlPr>
                                    <a:rPr sz="1400" i="1">
                                      <a:latin typeface="Cambria Math" panose="02040503050406030204" pitchFamily="18" charset="0"/>
                                      <a:ea typeface="Cambria Math"/>
                                      <a:cs typeface="Cambria Math"/>
                                    </a:rPr>
                                  </m:ctrlPr>
                                </m:sSubPr>
                                <m:e>
                                  <m:r>
                                    <a:rPr sz="1400">
                                      <a:latin typeface="Cambria Math" panose="02040503050406030204" pitchFamily="18" charset="0"/>
                                    </a:rPr>
                                    <m:t>𝑐</m:t>
                                  </m:r>
                                </m:e>
                                <m:sub>
                                  <m:r>
                                    <a:rPr sz="1400">
                                      <a:latin typeface="Cambria Math" panose="02040503050406030204" pitchFamily="18" charset="0"/>
                                    </a:rPr>
                                    <m:t>𝑥</m:t>
                                  </m:r>
                                </m:sub>
                              </m:sSub>
                              <m:r>
                                <a:rPr sz="1400">
                                  <a:latin typeface="Cambria Math" panose="02040503050406030204" pitchFamily="18" charset="0"/>
                                </a:rPr>
                                <m:t>)⋅</m:t>
                              </m:r>
                              <m:r>
                                <a:rPr sz="1400">
                                  <a:latin typeface="Cambria Math" panose="02040503050406030204" pitchFamily="18" charset="0"/>
                                </a:rPr>
                                <m:t>𝑑</m:t>
                              </m:r>
                            </m:num>
                            <m:den>
                              <m:sSub>
                                <m:sSubPr>
                                  <m:ctrlPr>
                                    <a:rPr sz="1400" i="1">
                                      <a:latin typeface="Cambria Math" panose="02040503050406030204" pitchFamily="18" charset="0"/>
                                      <a:ea typeface="Cambria Math"/>
                                      <a:cs typeface="Cambria Math"/>
                                    </a:rPr>
                                  </m:ctrlPr>
                                </m:sSubPr>
                                <m:e>
                                  <m:r>
                                    <a:rPr sz="1400">
                                      <a:latin typeface="Cambria Math" panose="02040503050406030204" pitchFamily="18" charset="0"/>
                                    </a:rPr>
                                    <m:t>𝑓</m:t>
                                  </m:r>
                                </m:e>
                                <m:sub>
                                  <m:r>
                                    <a:rPr sz="1400">
                                      <a:latin typeface="Cambria Math" panose="02040503050406030204" pitchFamily="18" charset="0"/>
                                    </a:rPr>
                                    <m:t>𝑥</m:t>
                                  </m:r>
                                </m:sub>
                              </m:sSub>
                            </m:den>
                          </m:f>
                          <m:r>
                            <a:rPr sz="1400">
                              <a:latin typeface="Cambria Math" panose="02040503050406030204" pitchFamily="18" charset="0"/>
                            </a:rPr>
                            <m:t>, </m:t>
                          </m:r>
                          <m:r>
                            <a:rPr sz="1400">
                              <a:latin typeface="Cambria Math" panose="02040503050406030204" pitchFamily="18" charset="0"/>
                            </a:rPr>
                            <m:t>𝑌</m:t>
                          </m:r>
                          <m:r>
                            <a:rPr sz="1400">
                              <a:latin typeface="Cambria Math" panose="02040503050406030204" pitchFamily="18" charset="0"/>
                            </a:rPr>
                            <m:t>=</m:t>
                          </m:r>
                          <m:f>
                            <m:fPr>
                              <m:ctrlPr>
                                <a:rPr sz="1400" i="1">
                                  <a:latin typeface="Cambria Math" panose="02040503050406030204" pitchFamily="18" charset="0"/>
                                  <a:ea typeface="Cambria Math"/>
                                  <a:cs typeface="Cambria Math"/>
                                </a:rPr>
                              </m:ctrlPr>
                            </m:fPr>
                            <m:num>
                              <m:r>
                                <a:rPr sz="1400">
                                  <a:latin typeface="Cambria Math" panose="02040503050406030204" pitchFamily="18" charset="0"/>
                                </a:rPr>
                                <m:t>(</m:t>
                              </m:r>
                              <m:r>
                                <a:rPr sz="1400">
                                  <a:latin typeface="Cambria Math" panose="02040503050406030204" pitchFamily="18" charset="0"/>
                                </a:rPr>
                                <m:t>𝑣</m:t>
                              </m:r>
                              <m:r>
                                <a:rPr sz="1400">
                                  <a:latin typeface="Cambria Math" panose="02040503050406030204" pitchFamily="18" charset="0"/>
                                </a:rPr>
                                <m:t>−</m:t>
                              </m:r>
                              <m:sSub>
                                <m:sSubPr>
                                  <m:ctrlPr>
                                    <a:rPr sz="1400" i="1">
                                      <a:latin typeface="Cambria Math" panose="02040503050406030204" pitchFamily="18" charset="0"/>
                                      <a:ea typeface="Cambria Math"/>
                                      <a:cs typeface="Cambria Math"/>
                                    </a:rPr>
                                  </m:ctrlPr>
                                </m:sSubPr>
                                <m:e>
                                  <m:r>
                                    <a:rPr sz="1400">
                                      <a:latin typeface="Cambria Math" panose="02040503050406030204" pitchFamily="18" charset="0"/>
                                    </a:rPr>
                                    <m:t>𝑐</m:t>
                                  </m:r>
                                </m:e>
                                <m:sub>
                                  <m:r>
                                    <a:rPr sz="1400">
                                      <a:latin typeface="Cambria Math" panose="02040503050406030204" pitchFamily="18" charset="0"/>
                                    </a:rPr>
                                    <m:t>𝑦</m:t>
                                  </m:r>
                                </m:sub>
                              </m:sSub>
                              <m:r>
                                <a:rPr sz="1400">
                                  <a:latin typeface="Cambria Math" panose="02040503050406030204" pitchFamily="18" charset="0"/>
                                </a:rPr>
                                <m:t>)⋅</m:t>
                              </m:r>
                              <m:r>
                                <a:rPr sz="1400">
                                  <a:latin typeface="Cambria Math" panose="02040503050406030204" pitchFamily="18" charset="0"/>
                                </a:rPr>
                                <m:t>𝑑</m:t>
                              </m:r>
                            </m:num>
                            <m:den>
                              <m:sSub>
                                <m:sSubPr>
                                  <m:ctrlPr>
                                    <a:rPr sz="1400" i="1">
                                      <a:latin typeface="Cambria Math" panose="02040503050406030204" pitchFamily="18" charset="0"/>
                                      <a:ea typeface="Cambria Math"/>
                                      <a:cs typeface="Cambria Math"/>
                                    </a:rPr>
                                  </m:ctrlPr>
                                </m:sSubPr>
                                <m:e>
                                  <m:r>
                                    <a:rPr sz="1400">
                                      <a:latin typeface="Cambria Math" panose="02040503050406030204" pitchFamily="18" charset="0"/>
                                    </a:rPr>
                                    <m:t>𝑓</m:t>
                                  </m:r>
                                </m:e>
                                <m:sub>
                                  <m:r>
                                    <a:rPr sz="1400">
                                      <a:latin typeface="Cambria Math" panose="02040503050406030204" pitchFamily="18" charset="0"/>
                                    </a:rPr>
                                    <m:t>𝑦</m:t>
                                  </m:r>
                                </m:sub>
                              </m:sSub>
                            </m:den>
                          </m:f>
                          <m:r>
                            <a:rPr sz="1400">
                              <a:latin typeface="Cambria Math" panose="02040503050406030204" pitchFamily="18" charset="0"/>
                            </a:rPr>
                            <m:t>, </m:t>
                          </m:r>
                          <m:r>
                            <a:rPr sz="1400">
                              <a:latin typeface="Cambria Math" panose="02040503050406030204" pitchFamily="18" charset="0"/>
                            </a:rPr>
                            <m:t>𝑍</m:t>
                          </m:r>
                          <m:r>
                            <a:rPr sz="1400">
                              <a:latin typeface="Cambria Math" panose="02040503050406030204" pitchFamily="18" charset="0"/>
                            </a:rPr>
                            <m:t>=</m:t>
                          </m:r>
                          <m:r>
                            <a:rPr sz="1400">
                              <a:latin typeface="Cambria Math" panose="02040503050406030204" pitchFamily="18" charset="0"/>
                            </a:rPr>
                            <m:t>𝑑</m:t>
                          </m:r>
                        </m:e>
                      </m:borderBox>
                    </m:oMath>
                  </m:oMathPara>
                </a14:m>
                <a:endParaRPr sz="1400">
                  <a:latin typeface="等线" panose="02010600030101010101" pitchFamily="2" charset="-122"/>
                  <a:ea typeface="等线" panose="02010600030101010101" pitchFamily="2" charset="-122"/>
                </a:endParaRPr>
              </a:p>
              <a:p>
                <a:pPr>
                  <a:lnSpc>
                    <a:spcPct val="125000"/>
                  </a:lnSpc>
                  <a:spcBef>
                    <a:spcPts val="0"/>
                  </a:spcBef>
                  <a:spcAft>
                    <a:spcPts val="0"/>
                  </a:spcAft>
                  <a:defRPr/>
                </a:pPr>
                <a:r>
                  <a:rPr sz="1400">
                    <a:latin typeface="等线" panose="02010600030101010101" pitchFamily="2" charset="-122"/>
                    <a:ea typeface="等线" panose="02010600030101010101" pitchFamily="2" charset="-122"/>
                  </a:rPr>
                  <a:t>相机内参矩阵：</a:t>
                </a:r>
              </a:p>
              <a:p>
                <a:pPr>
                  <a:lnSpc>
                    <a:spcPct val="125000"/>
                  </a:lnSpc>
                  <a:spcBef>
                    <a:spcPts val="0"/>
                  </a:spcBef>
                  <a:spcAft>
                    <a:spcPts val="0"/>
                  </a:spcAft>
                  <a:defRPr/>
                </a:pPr>
                <a14:m>
                  <m:oMathPara xmlns:m="http://schemas.openxmlformats.org/officeDocument/2006/math">
                    <m:oMathParaPr>
                      <m:jc m:val="centerGroup"/>
                    </m:oMathParaPr>
                    <m:oMath xmlns:m="http://schemas.openxmlformats.org/officeDocument/2006/math">
                      <m:r>
                        <a:rPr sz="1400">
                          <a:latin typeface="Cambria Math" panose="02040503050406030204" pitchFamily="18" charset="0"/>
                        </a:rPr>
                        <m:t>𝐾</m:t>
                      </m:r>
                      <m:r>
                        <a:rPr sz="1400">
                          <a:latin typeface="Cambria Math" panose="02040503050406030204" pitchFamily="18" charset="0"/>
                        </a:rPr>
                        <m:t>=</m:t>
                      </m:r>
                      <m:d>
                        <m:dPr>
                          <m:begChr m:val="["/>
                          <m:endChr m:val="]"/>
                          <m:ctrlPr>
                            <a:rPr sz="1400" i="1">
                              <a:latin typeface="Cambria Math" panose="02040503050406030204" pitchFamily="18" charset="0"/>
                              <a:ea typeface="Cambria Math"/>
                              <a:cs typeface="Cambria Math"/>
                            </a:rPr>
                          </m:ctrlPr>
                        </m:dPr>
                        <m:e>
                          <m:m>
                            <m:mPr>
                              <m:plcHide m:val="on"/>
                              <m:mcs>
                                <m:mc>
                                  <m:mcPr>
                                    <m:count m:val="3"/>
                                    <m:mcJc m:val="center"/>
                                  </m:mcPr>
                                </m:mc>
                              </m:mcs>
                              <m:ctrlPr>
                                <a:rPr sz="1400" i="1">
                                  <a:latin typeface="Cambria Math" panose="02040503050406030204" pitchFamily="18" charset="0"/>
                                  <a:ea typeface="Cambria Math"/>
                                  <a:cs typeface="Cambria Math"/>
                                </a:rPr>
                              </m:ctrlPr>
                            </m:mPr>
                            <m:mr>
                              <m:e>
                                <m:sSub>
                                  <m:sSubPr>
                                    <m:ctrlPr>
                                      <a:rPr sz="1400" i="1">
                                        <a:latin typeface="Cambria Math" panose="02040503050406030204" pitchFamily="18" charset="0"/>
                                        <a:ea typeface="Cambria Math"/>
                                        <a:cs typeface="Cambria Math"/>
                                      </a:rPr>
                                    </m:ctrlPr>
                                  </m:sSubPr>
                                  <m:e>
                                    <m:r>
                                      <a:rPr sz="1400">
                                        <a:latin typeface="Cambria Math" panose="02040503050406030204" pitchFamily="18" charset="0"/>
                                      </a:rPr>
                                      <m:t>𝑓</m:t>
                                    </m:r>
                                  </m:e>
                                  <m:sub>
                                    <m:r>
                                      <a:rPr sz="1400">
                                        <a:latin typeface="Cambria Math" panose="02040503050406030204" pitchFamily="18" charset="0"/>
                                      </a:rPr>
                                      <m:t>𝑥</m:t>
                                    </m:r>
                                  </m:sub>
                                </m:sSub>
                              </m:e>
                              <m:e>
                                <m:r>
                                  <a:rPr sz="1400">
                                    <a:latin typeface="Cambria Math" panose="02040503050406030204" pitchFamily="18" charset="0"/>
                                  </a:rPr>
                                  <m:t>0</m:t>
                                </m:r>
                              </m:e>
                              <m:e>
                                <m:sSub>
                                  <m:sSubPr>
                                    <m:ctrlPr>
                                      <a:rPr sz="1400" i="1">
                                        <a:latin typeface="Cambria Math" panose="02040503050406030204" pitchFamily="18" charset="0"/>
                                        <a:ea typeface="Cambria Math"/>
                                        <a:cs typeface="Cambria Math"/>
                                      </a:rPr>
                                    </m:ctrlPr>
                                  </m:sSubPr>
                                  <m:e>
                                    <m:r>
                                      <a:rPr sz="1400">
                                        <a:latin typeface="Cambria Math" panose="02040503050406030204" pitchFamily="18" charset="0"/>
                                      </a:rPr>
                                      <m:t>𝑐</m:t>
                                    </m:r>
                                  </m:e>
                                  <m:sub>
                                    <m:r>
                                      <a:rPr sz="1400">
                                        <a:latin typeface="Cambria Math" panose="02040503050406030204" pitchFamily="18" charset="0"/>
                                      </a:rPr>
                                      <m:t>𝑥</m:t>
                                    </m:r>
                                  </m:sub>
                                </m:sSub>
                              </m:e>
                            </m:mr>
                            <m:mr>
                              <m:e>
                                <m:r>
                                  <a:rPr sz="1400">
                                    <a:latin typeface="Cambria Math" panose="02040503050406030204" pitchFamily="18" charset="0"/>
                                  </a:rPr>
                                  <m:t>0</m:t>
                                </m:r>
                              </m:e>
                              <m:e>
                                <m:sSub>
                                  <m:sSubPr>
                                    <m:ctrlPr>
                                      <a:rPr sz="1400" i="1">
                                        <a:latin typeface="Cambria Math" panose="02040503050406030204" pitchFamily="18" charset="0"/>
                                        <a:ea typeface="Cambria Math"/>
                                        <a:cs typeface="Cambria Math"/>
                                      </a:rPr>
                                    </m:ctrlPr>
                                  </m:sSubPr>
                                  <m:e>
                                    <m:r>
                                      <a:rPr sz="1400">
                                        <a:latin typeface="Cambria Math" panose="02040503050406030204" pitchFamily="18" charset="0"/>
                                      </a:rPr>
                                      <m:t>𝑓</m:t>
                                    </m:r>
                                  </m:e>
                                  <m:sub>
                                    <m:r>
                                      <a:rPr sz="1400">
                                        <a:latin typeface="Cambria Math" panose="02040503050406030204" pitchFamily="18" charset="0"/>
                                      </a:rPr>
                                      <m:t>𝑦</m:t>
                                    </m:r>
                                  </m:sub>
                                </m:sSub>
                              </m:e>
                              <m:e>
                                <m:sSub>
                                  <m:sSubPr>
                                    <m:ctrlPr>
                                      <a:rPr sz="1400" i="1">
                                        <a:latin typeface="Cambria Math" panose="02040503050406030204" pitchFamily="18" charset="0"/>
                                        <a:ea typeface="Cambria Math"/>
                                        <a:cs typeface="Cambria Math"/>
                                      </a:rPr>
                                    </m:ctrlPr>
                                  </m:sSubPr>
                                  <m:e>
                                    <m:r>
                                      <a:rPr sz="1400">
                                        <a:latin typeface="Cambria Math" panose="02040503050406030204" pitchFamily="18" charset="0"/>
                                      </a:rPr>
                                      <m:t>𝑐</m:t>
                                    </m:r>
                                  </m:e>
                                  <m:sub>
                                    <m:r>
                                      <a:rPr sz="1400">
                                        <a:latin typeface="Cambria Math" panose="02040503050406030204" pitchFamily="18" charset="0"/>
                                      </a:rPr>
                                      <m:t>𝑦</m:t>
                                    </m:r>
                                  </m:sub>
                                </m:sSub>
                              </m:e>
                            </m:mr>
                            <m:mr>
                              <m:e>
                                <m:r>
                                  <a:rPr sz="1400">
                                    <a:latin typeface="Cambria Math" panose="02040503050406030204" pitchFamily="18" charset="0"/>
                                  </a:rPr>
                                  <m:t>0</m:t>
                                </m:r>
                              </m:e>
                              <m:e>
                                <m:r>
                                  <a:rPr sz="1400">
                                    <a:latin typeface="Cambria Math" panose="02040503050406030204" pitchFamily="18" charset="0"/>
                                  </a:rPr>
                                  <m:t>0</m:t>
                                </m:r>
                              </m:e>
                              <m:e>
                                <m:r>
                                  <a:rPr sz="1400">
                                    <a:latin typeface="Cambria Math" panose="02040503050406030204" pitchFamily="18" charset="0"/>
                                  </a:rPr>
                                  <m:t>1</m:t>
                                </m:r>
                              </m:e>
                            </m:mr>
                          </m:m>
                        </m:e>
                      </m:d>
                    </m:oMath>
                  </m:oMathPara>
                </a14:m>
                <a:endParaRPr b="1">
                  <a:latin typeface="等线" panose="02010600030101010101" pitchFamily="2" charset="-122"/>
                  <a:ea typeface="等线" panose="02010600030101010101" pitchFamily="2" charset="-122"/>
                </a:endParaRPr>
              </a:p>
              <a:p>
                <a:pPr marL="0" marR="0" indent="0" algn="l">
                  <a:lnSpc>
                    <a:spcPct val="125000"/>
                  </a:lnSpc>
                  <a:spcBef>
                    <a:spcPts val="0"/>
                  </a:spcBef>
                  <a:spcAft>
                    <a:spcPts val="0"/>
                  </a:spcAft>
                  <a:defRPr/>
                </a:pPr>
                <a:r>
                  <a:rPr lang="en-US" sz="1400" b="0" i="0" u="none" strike="noStrike" cap="none" spc="0">
                    <a:solidFill>
                      <a:srgbClr val="000000"/>
                    </a:solidFill>
                    <a:latin typeface="等线" panose="02010600030101010101" pitchFamily="2" charset="-122"/>
                    <a:ea typeface="等线" panose="02010600030101010101" pitchFamily="2" charset="-122"/>
                    <a:cs typeface="DejaVu Sans"/>
                  </a:rPr>
                  <a:t>关键参数（RealSense D435）：</a:t>
                </a:r>
                <a:endParaRPr sz="1400" b="0" i="0" u="none" strike="noStrike" cap="none" spc="0">
                  <a:solidFill>
                    <a:srgbClr val="000000"/>
                  </a:solidFill>
                  <a:latin typeface="等线" panose="02010600030101010101" pitchFamily="2" charset="-122"/>
                  <a:ea typeface="等线" panose="02010600030101010101" pitchFamily="2" charset="-122"/>
                  <a:cs typeface="DejaVu Sans"/>
                </a:endParaRPr>
              </a:p>
              <a:p>
                <a:pPr marL="0" marR="0" indent="0" algn="ctr">
                  <a:lnSpc>
                    <a:spcPct val="125000"/>
                  </a:lnSpc>
                  <a:spcBef>
                    <a:spcPts val="0"/>
                  </a:spcBef>
                  <a:spcAft>
                    <a:spcPts val="0"/>
                  </a:spcAft>
                  <a:defRPr/>
                </a:pPr>
                <a:r>
                  <a:rPr lang="en-US" sz="1400" b="0" i="0" u="none" strike="noStrike" cap="none" spc="0">
                    <a:solidFill>
                      <a:srgbClr val="000000"/>
                    </a:solidFill>
                    <a:latin typeface="等线" panose="02010600030101010101" pitchFamily="2" charset="-122"/>
                    <a:ea typeface="等线" panose="02010600030101010101" pitchFamily="2" charset="-122"/>
                    <a:cs typeface="DejaVu Sans"/>
                  </a:rPr>
                  <a:t>fx=591.0, fy=590.6</a:t>
                </a:r>
                <a:endParaRPr sz="1400" b="0" i="0" u="none" strike="noStrike" cap="none" spc="0">
                  <a:solidFill>
                    <a:srgbClr val="000000"/>
                  </a:solidFill>
                  <a:latin typeface="等线" panose="02010600030101010101" pitchFamily="2" charset="-122"/>
                  <a:ea typeface="等线" panose="02010600030101010101" pitchFamily="2" charset="-122"/>
                  <a:cs typeface="DejaVu Sans"/>
                </a:endParaRPr>
              </a:p>
              <a:p>
                <a:pPr marL="0" marR="0" indent="0" algn="ctr">
                  <a:lnSpc>
                    <a:spcPct val="125000"/>
                  </a:lnSpc>
                  <a:spcBef>
                    <a:spcPts val="0"/>
                  </a:spcBef>
                  <a:spcAft>
                    <a:spcPts val="0"/>
                  </a:spcAft>
                  <a:defRPr/>
                </a:pPr>
                <a:r>
                  <a:rPr lang="en-US" sz="1400" b="0" i="0" u="none" strike="noStrike" cap="none" spc="0">
                    <a:solidFill>
                      <a:srgbClr val="000000"/>
                    </a:solidFill>
                    <a:latin typeface="等线" panose="02010600030101010101" pitchFamily="2" charset="-122"/>
                    <a:ea typeface="等线" panose="02010600030101010101" pitchFamily="2" charset="-122"/>
                    <a:cs typeface="DejaVu Sans"/>
                  </a:rPr>
                  <a:t>cx=322.5, cy=238.3</a:t>
                </a:r>
                <a:endParaRPr>
                  <a:latin typeface="等线" panose="02010600030101010101" pitchFamily="2" charset="-122"/>
                  <a:ea typeface="等线" panose="02010600030101010101" pitchFamily="2" charset="-122"/>
                </a:endParaRPr>
              </a:p>
              <a:p>
                <a:pPr marL="0" marR="0" indent="0" algn="l">
                  <a:lnSpc>
                    <a:spcPct val="125000"/>
                  </a:lnSpc>
                  <a:spcBef>
                    <a:spcPts val="0"/>
                  </a:spcBef>
                  <a:spcAft>
                    <a:spcPts val="0"/>
                  </a:spcAft>
                  <a:defRPr/>
                </a:pPr>
                <a:r>
                  <a:rPr lang="en-US" sz="1400" b="0" i="0" u="none" strike="noStrike" cap="none" spc="0">
                    <a:solidFill>
                      <a:srgbClr val="000000"/>
                    </a:solidFill>
                    <a:latin typeface="等线" panose="02010600030101010101" pitchFamily="2" charset="-122"/>
                    <a:ea typeface="等线" panose="02010600030101010101" pitchFamily="2" charset="-122"/>
                    <a:cs typeface="DejaVu Sans"/>
                  </a:rPr>
                  <a:t>图像大小：640 × 480</a:t>
                </a:r>
                <a:endParaRPr sz="1100">
                  <a:latin typeface="等线" panose="02010600030101010101" pitchFamily="2" charset="-122"/>
                  <a:ea typeface="等线" panose="02010600030101010101" pitchFamily="2" charset="-122"/>
                </a:endParaRPr>
              </a:p>
            </p:txBody>
          </p:sp>
        </mc:Choice>
        <mc:Fallback>
          <p:sp>
            <p:nvSpPr>
              <p:cNvPr id="724403626" name="TextBox 6"/>
              <p:cNvSpPr>
                <a:spLocks noRot="1" noChangeAspect="1" noMove="1" noResize="1" noEditPoints="1" noAdjustHandles="1" noChangeArrowheads="1" noChangeShapeType="1" noTextEdit="1"/>
              </p:cNvSpPr>
              <p:nvPr/>
            </p:nvSpPr>
            <p:spPr bwMode="auto">
              <a:xfrm>
                <a:off x="4781018" y="2727810"/>
                <a:ext cx="3528720" cy="3527782"/>
              </a:xfrm>
              <a:prstGeom prst="rect">
                <a:avLst/>
              </a:prstGeom>
              <a:blipFill>
                <a:blip r:embed="rId3"/>
                <a:stretch>
                  <a:fillRect l="-1727" r="-2418" b="-1036"/>
                </a:stretch>
              </a:blipFill>
              <a:ln w="0">
                <a:noFill/>
              </a:ln>
            </p:spPr>
            <p:txBody>
              <a:bodyPr/>
              <a:lstStyle/>
              <a:p>
                <a:r>
                  <a:rPr lang="zh-CN" altLang="en-US">
                    <a:noFill/>
                  </a:rPr>
                  <a:t> </a:t>
                </a:r>
              </a:p>
            </p:txBody>
          </p:sp>
        </mc:Fallback>
      </mc:AlternateContent>
      <p:pic>
        <p:nvPicPr>
          <p:cNvPr id="1324867893" name="Picture 27"/>
          <p:cNvPicPr/>
          <p:nvPr/>
        </p:nvPicPr>
        <p:blipFill rotWithShape="1">
          <a:blip r:embed="rId4"/>
          <a:stretch/>
        </p:blipFill>
        <p:spPr bwMode="auto">
          <a:xfrm>
            <a:off x="494278" y="2370804"/>
            <a:ext cx="4142147" cy="2242624"/>
          </a:xfrm>
          <a:prstGeom prst="rect">
            <a:avLst/>
          </a:prstGeom>
        </p:spPr>
      </p:pic>
      <p:grpSp>
        <p:nvGrpSpPr>
          <p:cNvPr id="1082612347" name="组合 1082612346"/>
          <p:cNvGrpSpPr/>
          <p:nvPr/>
        </p:nvGrpSpPr>
        <p:grpSpPr bwMode="auto">
          <a:xfrm>
            <a:off x="3392158" y="1804509"/>
            <a:ext cx="2603160" cy="335196"/>
            <a:chOff x="0" y="0"/>
            <a:chExt cx="2603160" cy="335196"/>
          </a:xfrm>
        </p:grpSpPr>
        <p:sp>
          <p:nvSpPr>
            <p:cNvPr id="1240237048" name="矩形 1240237047"/>
            <p:cNvSpPr/>
            <p:nvPr/>
          </p:nvSpPr>
          <p:spPr bwMode="auto">
            <a:xfrm>
              <a:off x="0" y="0"/>
              <a:ext cx="2582280" cy="333000"/>
            </a:xfrm>
            <a:prstGeom prst="rect">
              <a:avLst/>
            </a:prstGeom>
            <a:solidFill>
              <a:srgbClr val="DEE6EF"/>
            </a:solidFill>
            <a:ln w="0">
              <a:solidFill>
                <a:srgbClr val="DEE7E5"/>
              </a:solidFill>
            </a:ln>
          </p:spPr>
          <p:style>
            <a:lnRef idx="0">
              <a:scrgbClr r="0" g="0" b="0"/>
            </a:lnRef>
            <a:fillRef idx="0">
              <a:scrgbClr r="0" g="0" b="0"/>
            </a:fillRef>
            <a:effectRef idx="0">
              <a:scrgbClr r="0" g="0" b="0"/>
            </a:effectRef>
            <a:fontRef idx="minor"/>
          </p:style>
        </p:sp>
        <p:sp>
          <p:nvSpPr>
            <p:cNvPr id="124436497" name="TextBox 5"/>
            <p:cNvSpPr/>
            <p:nvPr/>
          </p:nvSpPr>
          <p:spPr bwMode="auto">
            <a:xfrm>
              <a:off x="0" y="0"/>
              <a:ext cx="2603160" cy="335196"/>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a:lnSpc>
                  <a:spcPct val="100000"/>
                </a:lnSpc>
                <a:buNone/>
                <a:defRPr/>
              </a:pPr>
              <a:r>
                <a:rPr lang="zh-CN" sz="1600" b="1" strike="noStrike" spc="0">
                  <a:solidFill>
                    <a:srgbClr val="004993"/>
                  </a:solidFill>
                  <a:latin typeface="等线" panose="02010600030101010101" pitchFamily="2" charset="-122"/>
                  <a:ea typeface="等线" panose="02010600030101010101" pitchFamily="2" charset="-122"/>
                </a:rPr>
                <a:t>RGB-&gt;点云</a:t>
              </a:r>
              <a:r>
                <a:rPr lang="en-US" sz="1600" b="1" strike="noStrike" spc="0">
                  <a:solidFill>
                    <a:srgbClr val="004993"/>
                  </a:solidFill>
                  <a:latin typeface="等线" panose="02010600030101010101" pitchFamily="2" charset="-122"/>
                  <a:ea typeface="等线" panose="02010600030101010101" pitchFamily="2" charset="-122"/>
                </a:rPr>
                <a:t> </a:t>
              </a:r>
              <a:r>
                <a:rPr lang="zh-CN" sz="1600" b="1" strike="noStrike" spc="0">
                  <a:solidFill>
                    <a:srgbClr val="004993"/>
                  </a:solidFill>
                  <a:latin typeface="等线" panose="02010600030101010101" pitchFamily="2" charset="-122"/>
                  <a:ea typeface="等线" panose="02010600030101010101" pitchFamily="2" charset="-122"/>
                </a:rPr>
                <a:t>的基本原理</a:t>
              </a:r>
              <a:endParaRPr lang="en-US" sz="1600" b="0" strike="noStrike" spc="0">
                <a:latin typeface="等线" panose="02010600030101010101" pitchFamily="2" charset="-122"/>
                <a:ea typeface="等线" panose="02010600030101010101" pitchFamily="2" charset="-122"/>
              </a:endParaRPr>
            </a:p>
          </p:txBody>
        </p:sp>
      </p:grpSp>
      <p:sp>
        <p:nvSpPr>
          <p:cNvPr id="843201053" name="TextBox 6"/>
          <p:cNvSpPr/>
          <p:nvPr/>
        </p:nvSpPr>
        <p:spPr bwMode="auto">
          <a:xfrm>
            <a:off x="789653" y="5381801"/>
            <a:ext cx="3551400" cy="358582"/>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a:lnSpc>
                <a:spcPct val="110000"/>
              </a:lnSpc>
              <a:spcBef>
                <a:spcPts val="1415"/>
              </a:spcBef>
              <a:spcAft>
                <a:spcPts val="508"/>
              </a:spcAft>
              <a:buNone/>
              <a:defRPr/>
            </a:pPr>
            <a:r>
              <a:rPr lang="en-US" sz="1600" b="0" strike="noStrike" spc="0">
                <a:solidFill>
                  <a:srgbClr val="263143"/>
                </a:solidFill>
                <a:latin typeface="等线" panose="02010600030101010101" pitchFamily="2" charset="-122"/>
                <a:ea typeface="等线" panose="02010600030101010101" pitchFamily="2" charset="-122"/>
              </a:rPr>
              <a:t>双目重建原理图</a:t>
            </a:r>
            <a:endParaRPr lang="en-US" sz="1600" b="0" strike="noStrike" spc="0">
              <a:latin typeface="等线" panose="02010600030101010101" pitchFamily="2" charset="-122"/>
              <a:ea typeface="等线"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39256047" name="PlaceHolder 2"/>
          <p:cNvSpPr>
            <a:spLocks noGrp="1"/>
          </p:cNvSpPr>
          <p:nvPr>
            <p:ph type="title"/>
          </p:nvPr>
        </p:nvSpPr>
        <p:spPr bwMode="auto">
          <a:xfrm>
            <a:off x="320040" y="960120"/>
            <a:ext cx="8366400" cy="411120"/>
          </a:xfrm>
          <a:prstGeom prst="rect">
            <a:avLst/>
          </a:prstGeom>
          <a:noFill/>
          <a:ln w="0">
            <a:noFill/>
          </a:ln>
        </p:spPr>
        <p:txBody>
          <a:bodyPr vertOverflow="overflow" horzOverflow="overflow" vert="horz" wrap="square" lIns="91440" tIns="45720" rIns="91440" bIns="45720" numCol="1" spcCol="0" rtlCol="0" fromWordArt="0" anchor="ctr" anchorCtr="0" forceAA="0" compatLnSpc="0">
            <a:normAutofit fontScale="90000"/>
          </a:bodyPr>
          <a:lstStyle/>
          <a:p>
            <a:pPr marL="0" marR="0" indent="0" algn="l">
              <a:lnSpc>
                <a:spcPct val="90000"/>
              </a:lnSpc>
              <a:spcBef>
                <a:spcPts val="0"/>
              </a:spcBef>
              <a:spcAft>
                <a:spcPts val="0"/>
              </a:spcAft>
              <a:buNone/>
              <a:defRPr/>
            </a:pPr>
            <a:r>
              <a:rPr lang="zh-CN" sz="2200" b="1" strike="noStrike" spc="0">
                <a:solidFill>
                  <a:srgbClr val="004993"/>
                </a:solidFill>
                <a:latin typeface="等线" panose="02010600030101010101" pitchFamily="2" charset="-122"/>
                <a:ea typeface="等线" panose="02010600030101010101" pitchFamily="2" charset="-122"/>
              </a:rPr>
              <a:t>2.2</a:t>
            </a:r>
            <a:r>
              <a:rPr lang="en-US" sz="2200" b="1" strike="noStrike" spc="0">
                <a:solidFill>
                  <a:srgbClr val="004993"/>
                </a:solidFill>
                <a:latin typeface="等线" panose="02010600030101010101" pitchFamily="2" charset="-122"/>
                <a:ea typeface="等线" panose="02010600030101010101" pitchFamily="2" charset="-122"/>
              </a:rPr>
              <a:t> </a:t>
            </a:r>
            <a:r>
              <a:rPr lang="en-US" sz="2100" b="1" i="0" u="none" strike="noStrike" cap="none" spc="0">
                <a:solidFill>
                  <a:schemeClr val="accent1"/>
                </a:solidFill>
                <a:latin typeface="等线" panose="02010600030101010101" pitchFamily="2" charset="-122"/>
                <a:ea typeface="等线" panose="02010600030101010101" pitchFamily="2" charset="-122"/>
                <a:cs typeface="Open Sans"/>
              </a:rPr>
              <a:t>点云后处理：SOR 去噪 + FPS 采样</a:t>
            </a:r>
          </a:p>
        </p:txBody>
      </p:sp>
      <p:sp>
        <p:nvSpPr>
          <p:cNvPr id="324678909" name="Rounded Rectangle 3"/>
          <p:cNvSpPr/>
          <p:nvPr/>
        </p:nvSpPr>
        <p:spPr bwMode="auto">
          <a:xfrm>
            <a:off x="342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grpSp>
        <p:nvGrpSpPr>
          <p:cNvPr id="664694341" name="组合 664694340"/>
          <p:cNvGrpSpPr/>
          <p:nvPr/>
        </p:nvGrpSpPr>
        <p:grpSpPr bwMode="auto">
          <a:xfrm>
            <a:off x="3365582" y="1753947"/>
            <a:ext cx="2618280" cy="334199"/>
            <a:chOff x="0" y="0"/>
            <a:chExt cx="2618280" cy="334199"/>
          </a:xfrm>
        </p:grpSpPr>
        <p:sp>
          <p:nvSpPr>
            <p:cNvPr id="711968861" name="矩形 711968860"/>
            <p:cNvSpPr/>
            <p:nvPr/>
          </p:nvSpPr>
          <p:spPr bwMode="auto">
            <a:xfrm>
              <a:off x="0" y="0"/>
              <a:ext cx="2582280" cy="333000"/>
            </a:xfrm>
            <a:prstGeom prst="rect">
              <a:avLst/>
            </a:prstGeom>
            <a:solidFill>
              <a:srgbClr val="DEE6EF"/>
            </a:solidFill>
            <a:ln w="0">
              <a:solidFill>
                <a:srgbClr val="DEE7E5"/>
              </a:solidFill>
            </a:ln>
          </p:spPr>
          <p:style>
            <a:lnRef idx="0">
              <a:scrgbClr r="0" g="0" b="0"/>
            </a:lnRef>
            <a:fillRef idx="0">
              <a:scrgbClr r="0" g="0" b="0"/>
            </a:fillRef>
            <a:effectRef idx="0">
              <a:scrgbClr r="0" g="0" b="0"/>
            </a:effectRef>
            <a:fontRef idx="minor"/>
          </p:style>
        </p:sp>
        <p:sp>
          <p:nvSpPr>
            <p:cNvPr id="1044272896" name="TextBox 5"/>
            <p:cNvSpPr/>
            <p:nvPr/>
          </p:nvSpPr>
          <p:spPr bwMode="auto">
            <a:xfrm>
              <a:off x="0" y="0"/>
              <a:ext cx="2618280" cy="334199"/>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a:lnSpc>
                  <a:spcPct val="100000"/>
                </a:lnSpc>
                <a:buNone/>
                <a:defRPr/>
              </a:pPr>
              <a:r>
                <a:rPr lang="en-US" sz="1600" b="1" i="0" u="none" strike="noStrike" cap="none" spc="0">
                  <a:solidFill>
                    <a:schemeClr val="accent1"/>
                  </a:solidFill>
                  <a:latin typeface="等线" panose="02010600030101010101" pitchFamily="2" charset="-122"/>
                  <a:ea typeface="等线" panose="02010600030101010101" pitchFamily="2" charset="-122"/>
                  <a:cs typeface="Open Sans"/>
                </a:rPr>
                <a:t>点云后处理</a:t>
              </a:r>
              <a:r>
                <a:rPr lang="en-US" sz="1600" b="1" strike="noStrike" spc="0">
                  <a:solidFill>
                    <a:srgbClr val="004993"/>
                  </a:solidFill>
                  <a:latin typeface="等线" panose="02010600030101010101" pitchFamily="2" charset="-122"/>
                  <a:ea typeface="等线" panose="02010600030101010101" pitchFamily="2" charset="-122"/>
                </a:rPr>
                <a:t> </a:t>
              </a:r>
              <a:r>
                <a:rPr lang="zh-CN" sz="1600" b="1" strike="noStrike" spc="0">
                  <a:solidFill>
                    <a:srgbClr val="004993"/>
                  </a:solidFill>
                  <a:latin typeface="等线" panose="02010600030101010101" pitchFamily="2" charset="-122"/>
                  <a:ea typeface="等线" panose="02010600030101010101" pitchFamily="2" charset="-122"/>
                </a:rPr>
                <a:t>的操作流程</a:t>
              </a:r>
              <a:endParaRPr lang="en-US" sz="1600" b="0" strike="noStrike" spc="0">
                <a:latin typeface="等线" panose="02010600030101010101" pitchFamily="2" charset="-122"/>
                <a:ea typeface="等线" panose="02010600030101010101" pitchFamily="2" charset="-122"/>
              </a:endParaRPr>
            </a:p>
          </p:txBody>
        </p:sp>
      </p:grpSp>
      <p:graphicFrame>
        <p:nvGraphicFramePr>
          <p:cNvPr id="299978899" name="表格 299978898"/>
          <p:cNvGraphicFramePr>
            <a:graphicFrameLocks/>
          </p:cNvGraphicFramePr>
          <p:nvPr/>
        </p:nvGraphicFramePr>
        <p:xfrm>
          <a:off x="898999" y="2274678"/>
          <a:ext cx="7102926" cy="2377440"/>
        </p:xfrm>
        <a:graphic>
          <a:graphicData uri="http://schemas.openxmlformats.org/drawingml/2006/table">
            <a:tbl>
              <a:tblPr firstRow="1" bandRow="1" bandCol="1">
                <a:tableStyleId>{5C22544A-7EE6-4342-B048-85BDC9FD1C3A}</a:tableStyleId>
              </a:tblPr>
              <a:tblGrid>
                <a:gridCol w="2367642">
                  <a:extLst>
                    <a:ext uri="{9D8B030D-6E8A-4147-A177-3AD203B41FA5}">
                      <a16:colId xmlns:a16="http://schemas.microsoft.com/office/drawing/2014/main" val="20000"/>
                    </a:ext>
                  </a:extLst>
                </a:gridCol>
                <a:gridCol w="2367642">
                  <a:extLst>
                    <a:ext uri="{9D8B030D-6E8A-4147-A177-3AD203B41FA5}">
                      <a16:colId xmlns:a16="http://schemas.microsoft.com/office/drawing/2014/main" val="20001"/>
                    </a:ext>
                  </a:extLst>
                </a:gridCol>
                <a:gridCol w="2367642">
                  <a:extLst>
                    <a:ext uri="{9D8B030D-6E8A-4147-A177-3AD203B41FA5}">
                      <a16:colId xmlns:a16="http://schemas.microsoft.com/office/drawing/2014/main" val="20002"/>
                    </a:ext>
                  </a:extLst>
                </a:gridCol>
              </a:tblGrid>
              <a:tr h="261670">
                <a:tc>
                  <a:txBody>
                    <a:bodyPr/>
                    <a:lstStyle/>
                    <a:p>
                      <a:pPr>
                        <a:defRPr/>
                      </a:pPr>
                      <a:r>
                        <a:t>步骤</a:t>
                      </a:r>
                    </a:p>
                  </a:txBody>
                  <a:tcPr/>
                </a:tc>
                <a:tc>
                  <a:txBody>
                    <a:bodyPr/>
                    <a:lstStyle/>
                    <a:p>
                      <a:pPr>
                        <a:defRPr/>
                      </a:pPr>
                      <a:r>
                        <a:t>方法</a:t>
                      </a:r>
                    </a:p>
                  </a:txBody>
                  <a:tcPr/>
                </a:tc>
                <a:tc>
                  <a:txBody>
                    <a:bodyPr/>
                    <a:lstStyle/>
                    <a:p>
                      <a:pPr>
                        <a:defRPr/>
                      </a:pPr>
                      <a:r>
                        <a:t>参数</a:t>
                      </a:r>
                    </a:p>
                  </a:txBody>
                  <a:tcPr/>
                </a:tc>
                <a:extLst>
                  <a:ext uri="{0D108BD9-81ED-4DB2-BD59-A6C34878D82A}">
                    <a16:rowId xmlns:a16="http://schemas.microsoft.com/office/drawing/2014/main" val="10000"/>
                  </a:ext>
                </a:extLst>
              </a:tr>
              <a:tr h="302561">
                <a:tc>
                  <a:txBody>
                    <a:bodyPr/>
                    <a:lstStyle/>
                    <a:p>
                      <a:pPr>
                        <a:defRPr/>
                      </a:pPr>
                      <a:r>
                        <a:t>预降采样</a:t>
                      </a:r>
                    </a:p>
                  </a:txBody>
                  <a:tcPr/>
                </a:tc>
                <a:tc>
                  <a:txBody>
                    <a:bodyPr/>
                    <a:lstStyle/>
                    <a:p>
                      <a:pPr>
                        <a:defRPr/>
                      </a:pPr>
                      <a:r>
                        <a:t>随机采样</a:t>
                      </a:r>
                    </a:p>
                  </a:txBody>
                  <a:tcPr/>
                </a:tc>
                <a:tc>
                  <a:txBody>
                    <a:bodyPr/>
                    <a:lstStyle/>
                    <a:p>
                      <a:pPr>
                        <a:defRPr/>
                      </a:pPr>
                      <a:r>
                        <a:t>场景 → 约 8192 点</a:t>
                      </a:r>
                    </a:p>
                  </a:txBody>
                  <a:tcPr/>
                </a:tc>
                <a:extLst>
                  <a:ext uri="{0D108BD9-81ED-4DB2-BD59-A6C34878D82A}">
                    <a16:rowId xmlns:a16="http://schemas.microsoft.com/office/drawing/2014/main" val="10001"/>
                  </a:ext>
                </a:extLst>
              </a:tr>
              <a:tr h="457922">
                <a:tc>
                  <a:txBody>
                    <a:bodyPr/>
                    <a:lstStyle/>
                    <a:p>
                      <a:pPr>
                        <a:defRPr/>
                      </a:pPr>
                      <a:r>
                        <a:t>离群点剔除</a:t>
                      </a:r>
                    </a:p>
                  </a:txBody>
                  <a:tcPr/>
                </a:tc>
                <a:tc>
                  <a:txBody>
                    <a:bodyPr/>
                    <a:lstStyle/>
                    <a:p>
                      <a:pPr>
                        <a:defRPr/>
                      </a:pPr>
                      <a:r>
                        <a:t>Statistical Outlier Removal</a:t>
                      </a:r>
                    </a:p>
                  </a:txBody>
                  <a:tcPr/>
                </a:tc>
                <a:tc>
                  <a:txBody>
                    <a:bodyPr/>
                    <a:lstStyle/>
                    <a:p>
                      <a:pPr>
                        <a:defRPr/>
                      </a:pPr>
                      <a:r>
                        <a:t>K=20, thr=0.014m</a:t>
                      </a:r>
                    </a:p>
                  </a:txBody>
                  <a:tcPr/>
                </a:tc>
                <a:extLst>
                  <a:ext uri="{0D108BD9-81ED-4DB2-BD59-A6C34878D82A}">
                    <a16:rowId xmlns:a16="http://schemas.microsoft.com/office/drawing/2014/main" val="10002"/>
                  </a:ext>
                </a:extLst>
              </a:tr>
              <a:tr h="457922">
                <a:tc>
                  <a:txBody>
                    <a:bodyPr/>
                    <a:lstStyle/>
                    <a:p>
                      <a:pPr>
                        <a:defRPr/>
                      </a:pPr>
                      <a:r>
                        <a:t>均匀降采样</a:t>
                      </a:r>
                    </a:p>
                  </a:txBody>
                  <a:tcPr/>
                </a:tc>
                <a:tc>
                  <a:txBody>
                    <a:bodyPr/>
                    <a:lstStyle/>
                    <a:p>
                      <a:pPr>
                        <a:defRPr/>
                      </a:pPr>
                      <a:r>
                        <a:t>Farthest Point Sampling</a:t>
                      </a:r>
                    </a:p>
                  </a:txBody>
                  <a:tcPr/>
                </a:tc>
                <a:tc>
                  <a:txBody>
                    <a:bodyPr/>
                    <a:lstStyle/>
                    <a:p>
                      <a:pPr>
                        <a:defRPr/>
                      </a:pPr>
                      <a:r>
                        <a:t>→ 1024 点</a:t>
                      </a:r>
                    </a:p>
                  </a:txBody>
                  <a:tcPr/>
                </a:tc>
                <a:extLst>
                  <a:ext uri="{0D108BD9-81ED-4DB2-BD59-A6C34878D82A}">
                    <a16:rowId xmlns:a16="http://schemas.microsoft.com/office/drawing/2014/main" val="10003"/>
                  </a:ext>
                </a:extLst>
              </a:tr>
              <a:tr h="300174">
                <a:tc>
                  <a:txBody>
                    <a:bodyPr/>
                    <a:lstStyle/>
                    <a:p>
                      <a:pPr>
                        <a:defRPr/>
                      </a:pPr>
                      <a:r>
                        <a:t>分布匹配</a:t>
                      </a:r>
                    </a:p>
                  </a:txBody>
                  <a:tcPr/>
                </a:tc>
                <a:tc>
                  <a:txBody>
                    <a:bodyPr/>
                    <a:lstStyle/>
                    <a:p>
                      <a:pPr>
                        <a:defRPr/>
                      </a:pPr>
                      <a:r>
                        <a:t>中心化 + κ 缩放</a:t>
                      </a:r>
                    </a:p>
                  </a:txBody>
                  <a:tcPr/>
                </a:tc>
                <a:tc>
                  <a:txBody>
                    <a:bodyPr/>
                    <a:lstStyle/>
                    <a:p>
                      <a:pPr>
                        <a:defRPr/>
                      </a:pPr>
                      <a:r>
                        <a:t>κ = 3.27</a:t>
                      </a:r>
                    </a:p>
                  </a:txBody>
                  <a:tcPr/>
                </a:tc>
                <a:extLst>
                  <a:ext uri="{0D108BD9-81ED-4DB2-BD59-A6C34878D82A}">
                    <a16:rowId xmlns:a16="http://schemas.microsoft.com/office/drawing/2014/main" val="10004"/>
                  </a:ext>
                </a:extLst>
              </a:tr>
            </a:tbl>
          </a:graphicData>
        </a:graphic>
      </p:graphicFrame>
      <p:sp>
        <p:nvSpPr>
          <p:cNvPr id="2066276238" name="文本框 2066276237"/>
          <p:cNvSpPr txBox="1"/>
          <p:nvPr/>
        </p:nvSpPr>
        <p:spPr bwMode="auto">
          <a:xfrm>
            <a:off x="1060936" y="4781161"/>
            <a:ext cx="6884606" cy="92615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17793" indent="-217793" algn="l">
              <a:buFont typeface="Wingdings"/>
              <a:buChar char="Ø"/>
              <a:defRPr/>
            </a:pPr>
            <a:r>
              <a:rPr sz="1200" b="1" dirty="0" err="1">
                <a:latin typeface="等线" panose="02010600030101010101" pitchFamily="2" charset="-122"/>
                <a:ea typeface="等线" panose="02010600030101010101" pitchFamily="2" charset="-122"/>
              </a:rPr>
              <a:t>为什么需要预处理</a:t>
            </a:r>
            <a:r>
              <a:rPr sz="1200" b="1" dirty="0">
                <a:latin typeface="等线" panose="02010600030101010101" pitchFamily="2" charset="-122"/>
                <a:ea typeface="等线" panose="02010600030101010101" pitchFamily="2" charset="-122"/>
              </a:rPr>
              <a:t>：</a:t>
            </a:r>
            <a:br>
              <a:rPr sz="1200" dirty="0">
                <a:latin typeface="等线" panose="02010600030101010101" pitchFamily="2" charset="-122"/>
                <a:ea typeface="等线" panose="02010600030101010101" pitchFamily="2" charset="-122"/>
              </a:rPr>
            </a:br>
            <a:r>
              <a:rPr sz="1200" dirty="0" err="1">
                <a:latin typeface="等线" panose="02010600030101010101" pitchFamily="2" charset="-122"/>
                <a:ea typeface="等线" panose="02010600030101010101" pitchFamily="2" charset="-122"/>
              </a:rPr>
              <a:t>真实深度图的点云存在边缘</a:t>
            </a:r>
            <a:r>
              <a:rPr sz="1200" dirty="0">
                <a:latin typeface="等线" panose="02010600030101010101" pitchFamily="2" charset="-122"/>
                <a:ea typeface="等线" panose="02010600030101010101" pitchFamily="2" charset="-122"/>
              </a:rPr>
              <a:t> flying </a:t>
            </a:r>
            <a:r>
              <a:rPr sz="1200" dirty="0" err="1">
                <a:latin typeface="等线" panose="02010600030101010101" pitchFamily="2" charset="-122"/>
                <a:ea typeface="等线" panose="02010600030101010101" pitchFamily="2" charset="-122"/>
              </a:rPr>
              <a:t>pixels、深度空洞、传感器噪声</a:t>
            </a:r>
            <a:r>
              <a:rPr sz="1200" dirty="0">
                <a:latin typeface="等线" panose="02010600030101010101" pitchFamily="2" charset="-122"/>
                <a:ea typeface="等线" panose="02010600030101010101" pitchFamily="2" charset="-122"/>
              </a:rPr>
              <a:t>。</a:t>
            </a:r>
          </a:p>
          <a:p>
            <a:pPr marL="217793" indent="-217793" algn="l">
              <a:buFont typeface="Wingdings"/>
              <a:buChar char="Ø"/>
              <a:defRPr/>
            </a:pPr>
            <a:r>
              <a:rPr sz="1200" b="1" dirty="0">
                <a:latin typeface="等线" panose="02010600030101010101" pitchFamily="2" charset="-122"/>
                <a:ea typeface="等线" panose="02010600030101010101" pitchFamily="2" charset="-122"/>
              </a:rPr>
              <a:t>SOR </a:t>
            </a:r>
            <a:r>
              <a:rPr sz="1200" b="1" dirty="0" err="1">
                <a:latin typeface="等线" panose="02010600030101010101" pitchFamily="2" charset="-122"/>
                <a:ea typeface="等线" panose="02010600030101010101" pitchFamily="2" charset="-122"/>
              </a:rPr>
              <a:t>原理</a:t>
            </a:r>
            <a:r>
              <a:rPr sz="1200" b="1" dirty="0">
                <a:latin typeface="等线" panose="02010600030101010101" pitchFamily="2" charset="-122"/>
                <a:ea typeface="等线" panose="02010600030101010101" pitchFamily="2" charset="-122"/>
              </a:rPr>
              <a:t>：</a:t>
            </a:r>
            <a:br>
              <a:rPr sz="1200" dirty="0">
                <a:latin typeface="等线" panose="02010600030101010101" pitchFamily="2" charset="-122"/>
                <a:ea typeface="等线" panose="02010600030101010101" pitchFamily="2" charset="-122"/>
              </a:rPr>
            </a:br>
            <a:r>
              <a:rPr sz="1200" dirty="0" err="1">
                <a:latin typeface="等线" panose="02010600030101010101" pitchFamily="2" charset="-122"/>
                <a:ea typeface="等线" panose="02010600030101010101" pitchFamily="2" charset="-122"/>
              </a:rPr>
              <a:t>对每个点统计</a:t>
            </a:r>
            <a:r>
              <a:rPr sz="1200" dirty="0">
                <a:latin typeface="等线" panose="02010600030101010101" pitchFamily="2" charset="-122"/>
                <a:ea typeface="等线" panose="02010600030101010101" pitchFamily="2" charset="-122"/>
              </a:rPr>
              <a:t> K </a:t>
            </a:r>
            <a:r>
              <a:rPr sz="1200" dirty="0" err="1">
                <a:latin typeface="等线" panose="02010600030101010101" pitchFamily="2" charset="-122"/>
                <a:ea typeface="等线" panose="02010600030101010101" pitchFamily="2" charset="-122"/>
              </a:rPr>
              <a:t>近邻平均距离；若远超全局均值则视为离群点移除</a:t>
            </a:r>
            <a:r>
              <a:rPr sz="1200" dirty="0">
                <a:latin typeface="等线" panose="02010600030101010101" pitchFamily="2" charset="-122"/>
                <a:ea typeface="等线" panose="02010600030101010101" pitchFamily="2" charset="-122"/>
              </a:rPr>
              <a:t>。</a:t>
            </a:r>
            <a:endParaRPr lang="zh-CN" altLang="en-US" sz="1200" dirty="0">
              <a:latin typeface="等线" panose="02010600030101010101" pitchFamily="2" charset="-122"/>
              <a:ea typeface="等线"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36160385" name="Rounded Rectangle 3"/>
          <p:cNvSpPr/>
          <p:nvPr/>
        </p:nvSpPr>
        <p:spPr bwMode="auto">
          <a:xfrm>
            <a:off x="342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pic>
        <p:nvPicPr>
          <p:cNvPr id="58404258" name="图片 58404257"/>
          <p:cNvPicPr>
            <a:picLocks noChangeAspect="1"/>
          </p:cNvPicPr>
          <p:nvPr/>
        </p:nvPicPr>
        <p:blipFill rotWithShape="1">
          <a:blip r:embed="rId5"/>
          <a:srcRect l="1733" t="6904"/>
          <a:stretch/>
        </p:blipFill>
        <p:spPr bwMode="auto">
          <a:xfrm>
            <a:off x="712394" y="2177142"/>
            <a:ext cx="4596004" cy="2805512"/>
          </a:xfrm>
          <a:prstGeom prst="rect">
            <a:avLst/>
          </a:prstGeom>
        </p:spPr>
      </p:pic>
      <p:sp>
        <p:nvSpPr>
          <p:cNvPr id="1707437184" name="PlaceHolder 2"/>
          <p:cNvSpPr>
            <a:spLocks noGrp="1"/>
          </p:cNvSpPr>
          <p:nvPr>
            <p:ph type="title"/>
          </p:nvPr>
        </p:nvSpPr>
        <p:spPr bwMode="auto">
          <a:xfrm>
            <a:off x="320040" y="960120"/>
            <a:ext cx="8366400" cy="411120"/>
          </a:xfrm>
          <a:prstGeom prst="rect">
            <a:avLst/>
          </a:prstGeom>
          <a:noFill/>
          <a:ln w="0">
            <a:noFill/>
          </a:ln>
        </p:spPr>
        <p:txBody>
          <a:bodyPr vertOverflow="overflow" horzOverflow="overflow" vert="horz" wrap="square" lIns="91440" tIns="45720" rIns="91440" bIns="45720" numCol="1" spcCol="0" rtlCol="0" fromWordArt="0" anchor="ctr" anchorCtr="0" forceAA="0" compatLnSpc="0">
            <a:normAutofit fontScale="90000"/>
          </a:bodyPr>
          <a:lstStyle/>
          <a:p>
            <a:pPr marL="0" marR="0" indent="0" algn="l">
              <a:lnSpc>
                <a:spcPct val="90000"/>
              </a:lnSpc>
              <a:spcBef>
                <a:spcPts val="0"/>
              </a:spcBef>
              <a:spcAft>
                <a:spcPts val="0"/>
              </a:spcAft>
              <a:buNone/>
              <a:defRPr/>
            </a:pPr>
            <a:r>
              <a:rPr lang="zh-CN" sz="2200" b="1" strike="noStrike" spc="0" dirty="0">
                <a:solidFill>
                  <a:srgbClr val="004993"/>
                </a:solidFill>
                <a:latin typeface="等线" panose="02010600030101010101" pitchFamily="2" charset="-122"/>
                <a:ea typeface="等线" panose="02010600030101010101" pitchFamily="2" charset="-122"/>
              </a:rPr>
              <a:t>2.3</a:t>
            </a:r>
            <a:r>
              <a:rPr lang="en-US" sz="2200" b="1" strike="noStrike" spc="0" dirty="0">
                <a:solidFill>
                  <a:srgbClr val="004993"/>
                </a:solidFill>
                <a:latin typeface="等线" panose="02010600030101010101" pitchFamily="2" charset="-122"/>
                <a:ea typeface="等线" panose="02010600030101010101" pitchFamily="2" charset="-122"/>
              </a:rPr>
              <a:t> </a:t>
            </a:r>
            <a:r>
              <a:rPr lang="en-US" sz="2100" b="1" i="0" u="none" strike="noStrike" cap="none" spc="0" dirty="0">
                <a:solidFill>
                  <a:schemeClr val="accent1"/>
                </a:solidFill>
                <a:latin typeface="等线" panose="02010600030101010101" pitchFamily="2" charset="-122"/>
                <a:ea typeface="等线" panose="02010600030101010101" pitchFamily="2" charset="-122"/>
                <a:cs typeface="Open Sans"/>
              </a:rPr>
              <a:t>从</a:t>
            </a:r>
            <a:r>
              <a:rPr lang="zh-CN" sz="2100" b="1" i="0" u="none" strike="noStrike" cap="none" spc="0" dirty="0">
                <a:solidFill>
                  <a:schemeClr val="accent1"/>
                </a:solidFill>
                <a:latin typeface="等线" panose="02010600030101010101" pitchFamily="2" charset="-122"/>
                <a:ea typeface="等线" panose="02010600030101010101" pitchFamily="2" charset="-122"/>
                <a:cs typeface="Open Sans"/>
              </a:rPr>
              <a:t>RGB-D到点云</a:t>
            </a:r>
            <a:endParaRPr lang="en-US" sz="2100" b="1" i="0" u="none" strike="noStrike" cap="none" spc="0" dirty="0">
              <a:solidFill>
                <a:schemeClr val="accent1"/>
              </a:solidFill>
              <a:latin typeface="等线" panose="02010600030101010101" pitchFamily="2" charset="-122"/>
              <a:ea typeface="等线" panose="02010600030101010101" pitchFamily="2" charset="-122"/>
              <a:cs typeface="Open Sans"/>
            </a:endParaRPr>
          </a:p>
        </p:txBody>
      </p:sp>
      <p:pic>
        <p:nvPicPr>
          <p:cNvPr id="1515119376" name="图片 151511937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rotWithShape="1">
          <a:blip r:embed="rId6"/>
          <a:stretch/>
        </p:blipFill>
        <p:spPr bwMode="auto">
          <a:xfrm>
            <a:off x="5399112" y="2245984"/>
            <a:ext cx="2667827" cy="26678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1703401904" name="Image 0" descr="/mnt/data/template_bg_slide11.png"/>
          <p:cNvPicPr/>
          <p:nvPr/>
        </p:nvPicPr>
        <p:blipFill rotWithShape="1">
          <a:blip r:embed="rId3"/>
          <a:stretch/>
        </p:blipFill>
        <p:spPr bwMode="auto">
          <a:xfrm>
            <a:off x="0" y="0"/>
            <a:ext cx="9143640" cy="6857640"/>
          </a:xfrm>
          <a:prstGeom prst="rect">
            <a:avLst/>
          </a:prstGeom>
          <a:ln w="0">
            <a:noFill/>
          </a:ln>
        </p:spPr>
      </p:pic>
      <p:sp>
        <p:nvSpPr>
          <p:cNvPr id="500749815" name="Text 1"/>
          <p:cNvSpPr/>
          <p:nvPr/>
        </p:nvSpPr>
        <p:spPr bwMode="auto">
          <a:xfrm>
            <a:off x="411480" y="896040"/>
            <a:ext cx="82749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tabLst>
                <a:tab pos="0" algn="l"/>
              </a:tabLst>
              <a:defRPr/>
            </a:pPr>
            <a:r>
              <a:rPr lang="en-US" sz="2000" b="1" dirty="0">
                <a:solidFill>
                  <a:srgbClr val="004993"/>
                </a:solidFill>
                <a:latin typeface="等线" panose="02010600030101010101" pitchFamily="2" charset="-122"/>
                <a:ea typeface="等线" panose="02010600030101010101" pitchFamily="2" charset="-122"/>
                <a:cs typeface="+mj-cs"/>
              </a:rPr>
              <a:t>3.1 </a:t>
            </a:r>
            <a:r>
              <a:rPr lang="en-US" sz="2000" b="1" dirty="0" err="1">
                <a:solidFill>
                  <a:srgbClr val="004993"/>
                </a:solidFill>
                <a:latin typeface="等线" panose="02010600030101010101" pitchFamily="2" charset="-122"/>
                <a:ea typeface="等线" panose="02010600030101010101" pitchFamily="2" charset="-122"/>
                <a:cs typeface="+mj-cs"/>
              </a:rPr>
              <a:t>GraspGen</a:t>
            </a:r>
            <a:r>
              <a:rPr lang="en-US" sz="2000" b="1" dirty="0">
                <a:solidFill>
                  <a:srgbClr val="004993"/>
                </a:solidFill>
                <a:latin typeface="等线" panose="02010600030101010101" pitchFamily="2" charset="-122"/>
                <a:ea typeface="等线" panose="02010600030101010101" pitchFamily="2" charset="-122"/>
                <a:cs typeface="+mj-cs"/>
              </a:rPr>
              <a:t> </a:t>
            </a:r>
            <a:r>
              <a:rPr lang="zh-CN" altLang="en-US" sz="2000" b="1" dirty="0">
                <a:solidFill>
                  <a:srgbClr val="004993"/>
                </a:solidFill>
                <a:latin typeface="等线" panose="02010600030101010101" pitchFamily="2" charset="-122"/>
                <a:ea typeface="等线" panose="02010600030101010101" pitchFamily="2" charset="-122"/>
                <a:cs typeface="+mj-cs"/>
              </a:rPr>
              <a:t>整体框架：生成器负责采样，判别器负责筛选</a:t>
            </a:r>
            <a:endParaRPr lang="en-US" sz="2000" b="1" dirty="0">
              <a:solidFill>
                <a:srgbClr val="004993"/>
              </a:solidFill>
              <a:latin typeface="等线" panose="02010600030101010101" pitchFamily="2" charset="-122"/>
              <a:ea typeface="等线" panose="02010600030101010101" pitchFamily="2" charset="-122"/>
              <a:cs typeface="+mj-cs"/>
            </a:endParaRPr>
          </a:p>
        </p:txBody>
      </p:sp>
      <p:sp>
        <p:nvSpPr>
          <p:cNvPr id="1466130942" name="Shape 2"/>
          <p:cNvSpPr/>
          <p:nvPr/>
        </p:nvSpPr>
        <p:spPr bwMode="auto">
          <a:xfrm>
            <a:off x="18360" y="1426319"/>
            <a:ext cx="9097920" cy="31680"/>
          </a:xfrm>
          <a:prstGeom prst="rect">
            <a:avLst/>
          </a:prstGeom>
          <a:solidFill>
            <a:srgbClr val="004A98"/>
          </a:solidFill>
          <a:ln w="12700">
            <a:solidFill>
              <a:srgbClr val="004A98">
                <a:alpha val="0"/>
              </a:srgbClr>
            </a:solidFill>
            <a:round/>
          </a:ln>
        </p:spPr>
        <p:style>
          <a:lnRef idx="0">
            <a:scrgbClr r="0" g="0" b="0"/>
          </a:lnRef>
          <a:fillRef idx="0">
            <a:scrgbClr r="0" g="0" b="0"/>
          </a:fillRef>
          <a:effectRef idx="0">
            <a:scrgbClr r="0" g="0" b="0"/>
          </a:effectRef>
          <a:fontRef idx="minor"/>
        </p:style>
      </p:sp>
      <p:sp>
        <p:nvSpPr>
          <p:cNvPr id="110405620" name="Shape 3"/>
          <p:cNvSpPr/>
          <p:nvPr/>
        </p:nvSpPr>
        <p:spPr bwMode="auto">
          <a:xfrm>
            <a:off x="256140" y="1547639"/>
            <a:ext cx="8631720" cy="4827600"/>
          </a:xfrm>
          <a:prstGeom prst="roundRect">
            <a:avLst>
              <a:gd name="adj" fmla="val 1326"/>
            </a:avLst>
          </a:prstGeom>
          <a:solidFill>
            <a:srgbClr val="FFFFFF"/>
          </a:solidFill>
          <a:ln w="12700">
            <a:solidFill>
              <a:srgbClr val="B8CEE6"/>
            </a:solidFill>
            <a:round/>
          </a:ln>
        </p:spPr>
        <p:style>
          <a:lnRef idx="0">
            <a:scrgbClr r="0" g="0" b="0"/>
          </a:lnRef>
          <a:fillRef idx="0">
            <a:scrgbClr r="0" g="0" b="0"/>
          </a:fillRef>
          <a:effectRef idx="0">
            <a:scrgbClr r="0" g="0" b="0"/>
          </a:effectRef>
          <a:fontRef idx="minor"/>
        </p:style>
      </p:sp>
      <p:sp>
        <p:nvSpPr>
          <p:cNvPr id="83526326" name="Shape 4"/>
          <p:cNvSpPr/>
          <p:nvPr/>
        </p:nvSpPr>
        <p:spPr bwMode="auto">
          <a:xfrm>
            <a:off x="634860" y="2065679"/>
            <a:ext cx="2880000" cy="2148480"/>
          </a:xfrm>
          <a:prstGeom prst="roundRect">
            <a:avLst>
              <a:gd name="adj" fmla="val 2979"/>
            </a:avLst>
          </a:prstGeom>
          <a:solidFill>
            <a:srgbClr val="FFFFFF"/>
          </a:solidFill>
          <a:ln w="12700">
            <a:solidFill>
              <a:srgbClr val="B8CEE6"/>
            </a:solidFill>
            <a:round/>
          </a:ln>
        </p:spPr>
        <p:style>
          <a:lnRef idx="0">
            <a:scrgbClr r="0" g="0" b="0"/>
          </a:lnRef>
          <a:fillRef idx="0">
            <a:scrgbClr r="0" g="0" b="0"/>
          </a:fillRef>
          <a:effectRef idx="0">
            <a:scrgbClr r="0" g="0" b="0"/>
          </a:effectRef>
          <a:fontRef idx="minor"/>
        </p:style>
      </p:sp>
      <p:sp>
        <p:nvSpPr>
          <p:cNvPr id="2117140545" name="Shape 5"/>
          <p:cNvSpPr/>
          <p:nvPr/>
        </p:nvSpPr>
        <p:spPr bwMode="auto">
          <a:xfrm>
            <a:off x="689580" y="3903839"/>
            <a:ext cx="2770200" cy="255600"/>
          </a:xfrm>
          <a:prstGeom prst="rect">
            <a:avLst/>
          </a:prstGeom>
          <a:solidFill>
            <a:srgbClr val="F6FAFF"/>
          </a:solidFill>
          <a:ln w="12700">
            <a:solidFill>
              <a:srgbClr val="F6FAFF">
                <a:alpha val="0"/>
              </a:srgbClr>
            </a:solidFill>
            <a:round/>
          </a:ln>
        </p:spPr>
        <p:style>
          <a:lnRef idx="0">
            <a:scrgbClr r="0" g="0" b="0"/>
          </a:lnRef>
          <a:fillRef idx="0">
            <a:scrgbClr r="0" g="0" b="0"/>
          </a:fillRef>
          <a:effectRef idx="0">
            <a:scrgbClr r="0" g="0" b="0"/>
          </a:effectRef>
          <a:fontRef idx="minor"/>
        </p:style>
      </p:sp>
      <p:sp>
        <p:nvSpPr>
          <p:cNvPr id="1059356765" name="Text 6"/>
          <p:cNvSpPr/>
          <p:nvPr/>
        </p:nvSpPr>
        <p:spPr bwMode="auto">
          <a:xfrm>
            <a:off x="744660" y="3949559"/>
            <a:ext cx="266040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en-US" sz="850" b="0" strike="noStrike" spc="0">
                <a:solidFill>
                  <a:srgbClr val="5A6676"/>
                </a:solidFill>
                <a:latin typeface="等线" panose="02010600030101010101" pitchFamily="2" charset="-122"/>
                <a:ea typeface="等线" panose="02010600030101010101" pitchFamily="2" charset="-122"/>
              </a:rPr>
              <a:t>Diffusion </a:t>
            </a:r>
            <a:r>
              <a:rPr lang="zh-CN" sz="850" b="0" strike="noStrike" spc="0">
                <a:solidFill>
                  <a:srgbClr val="5A6676"/>
                </a:solidFill>
                <a:latin typeface="等线" panose="02010600030101010101" pitchFamily="2" charset="-122"/>
                <a:ea typeface="等线" panose="02010600030101010101" pitchFamily="2" charset="-122"/>
              </a:rPr>
              <a:t>生成 </a:t>
            </a:r>
            <a:r>
              <a:rPr lang="en-US" sz="850" b="0" strike="noStrike" spc="0">
                <a:solidFill>
                  <a:srgbClr val="5A6676"/>
                </a:solidFill>
                <a:latin typeface="等线" panose="02010600030101010101" pitchFamily="2" charset="-122"/>
                <a:ea typeface="等线" panose="02010600030101010101" pitchFamily="2" charset="-122"/>
              </a:rPr>
              <a:t>6DoF </a:t>
            </a:r>
            <a:r>
              <a:rPr lang="zh-CN" sz="850" b="0" strike="noStrike" spc="0">
                <a:solidFill>
                  <a:srgbClr val="5A6676"/>
                </a:solidFill>
                <a:latin typeface="等线" panose="02010600030101010101" pitchFamily="2" charset="-122"/>
                <a:ea typeface="等线" panose="02010600030101010101" pitchFamily="2" charset="-122"/>
              </a:rPr>
              <a:t>抓取</a:t>
            </a:r>
            <a:endParaRPr lang="en-US" sz="850" b="0" strike="noStrike" spc="0">
              <a:latin typeface="等线" panose="02010600030101010101" pitchFamily="2" charset="-122"/>
              <a:ea typeface="等线" panose="02010600030101010101" pitchFamily="2" charset="-122"/>
            </a:endParaRPr>
          </a:p>
        </p:txBody>
      </p:sp>
      <p:sp>
        <p:nvSpPr>
          <p:cNvPr id="1040690042" name="Shape 7"/>
          <p:cNvSpPr/>
          <p:nvPr/>
        </p:nvSpPr>
        <p:spPr bwMode="auto">
          <a:xfrm>
            <a:off x="781019" y="4781519"/>
            <a:ext cx="1142640" cy="603000"/>
          </a:xfrm>
          <a:prstGeom prst="roundRect">
            <a:avLst>
              <a:gd name="adj" fmla="val 12121"/>
            </a:avLst>
          </a:prstGeom>
          <a:solidFill>
            <a:srgbClr val="F6FAFF"/>
          </a:solidFill>
          <a:ln w="13970">
            <a:solidFill>
              <a:srgbClr val="004A98"/>
            </a:solidFill>
            <a:round/>
          </a:ln>
        </p:spPr>
        <p:style>
          <a:lnRef idx="0">
            <a:scrgbClr r="0" g="0" b="0"/>
          </a:lnRef>
          <a:fillRef idx="0">
            <a:scrgbClr r="0" g="0" b="0"/>
          </a:fillRef>
          <a:effectRef idx="0">
            <a:scrgbClr r="0" g="0" b="0"/>
          </a:effectRef>
          <a:fontRef idx="minor"/>
        </p:style>
      </p:sp>
      <p:sp>
        <p:nvSpPr>
          <p:cNvPr id="795956578" name="Text 8"/>
          <p:cNvSpPr/>
          <p:nvPr/>
        </p:nvSpPr>
        <p:spPr bwMode="auto">
          <a:xfrm>
            <a:off x="836100" y="4836239"/>
            <a:ext cx="103284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150" b="1" strike="noStrike" spc="0">
                <a:solidFill>
                  <a:srgbClr val="1A2634"/>
                </a:solidFill>
                <a:latin typeface="等线" panose="02010600030101010101" pitchFamily="2" charset="-122"/>
                <a:ea typeface="等线" panose="02010600030101010101" pitchFamily="2" charset="-122"/>
              </a:rPr>
              <a:t>局部点云</a:t>
            </a:r>
            <a:endParaRPr lang="en-US" sz="1150" b="0" strike="noStrike" spc="0">
              <a:latin typeface="等线" panose="02010600030101010101" pitchFamily="2" charset="-122"/>
              <a:ea typeface="等线" panose="02010600030101010101" pitchFamily="2" charset="-122"/>
            </a:endParaRPr>
          </a:p>
          <a:p>
            <a:pPr algn="ctr">
              <a:lnSpc>
                <a:spcPct val="100000"/>
              </a:lnSpc>
              <a:buNone/>
              <a:tabLst>
                <a:tab pos="0" algn="l"/>
              </a:tabLst>
              <a:defRPr/>
            </a:pPr>
            <a:r>
              <a:rPr lang="en-US" sz="1150" b="1" strike="noStrike" spc="0">
                <a:solidFill>
                  <a:srgbClr val="1A2634"/>
                </a:solidFill>
                <a:latin typeface="等线" panose="02010600030101010101" pitchFamily="2" charset="-122"/>
                <a:ea typeface="等线" panose="02010600030101010101" pitchFamily="2" charset="-122"/>
              </a:rPr>
              <a:t>ROI</a:t>
            </a:r>
            <a:endParaRPr lang="en-US" sz="1150" b="0" strike="noStrike" spc="0">
              <a:latin typeface="等线" panose="02010600030101010101" pitchFamily="2" charset="-122"/>
              <a:ea typeface="等线" panose="02010600030101010101" pitchFamily="2" charset="-122"/>
            </a:endParaRPr>
          </a:p>
        </p:txBody>
      </p:sp>
      <p:sp>
        <p:nvSpPr>
          <p:cNvPr id="1277918052" name="Shape 9"/>
          <p:cNvSpPr/>
          <p:nvPr/>
        </p:nvSpPr>
        <p:spPr bwMode="auto">
          <a:xfrm>
            <a:off x="1978740" y="5083199"/>
            <a:ext cx="493920" cy="3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878133737" name="Shape 10"/>
          <p:cNvSpPr/>
          <p:nvPr/>
        </p:nvSpPr>
        <p:spPr bwMode="auto">
          <a:xfrm>
            <a:off x="2518378" y="4781519"/>
            <a:ext cx="1298160" cy="603000"/>
          </a:xfrm>
          <a:prstGeom prst="roundRect">
            <a:avLst>
              <a:gd name="adj" fmla="val 12121"/>
            </a:avLst>
          </a:prstGeom>
          <a:solidFill>
            <a:srgbClr val="EAF3FF"/>
          </a:solidFill>
          <a:ln w="13970">
            <a:solidFill>
              <a:srgbClr val="004A98"/>
            </a:solidFill>
            <a:round/>
          </a:ln>
        </p:spPr>
        <p:style>
          <a:lnRef idx="0">
            <a:scrgbClr r="0" g="0" b="0"/>
          </a:lnRef>
          <a:fillRef idx="0">
            <a:scrgbClr r="0" g="0" b="0"/>
          </a:fillRef>
          <a:effectRef idx="0">
            <a:scrgbClr r="0" g="0" b="0"/>
          </a:effectRef>
          <a:fontRef idx="minor"/>
        </p:style>
      </p:sp>
      <p:sp>
        <p:nvSpPr>
          <p:cNvPr id="802598830" name="Text 11"/>
          <p:cNvSpPr/>
          <p:nvPr/>
        </p:nvSpPr>
        <p:spPr bwMode="auto">
          <a:xfrm>
            <a:off x="2573459" y="4836239"/>
            <a:ext cx="118836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100" b="1" strike="noStrike" spc="0">
                <a:solidFill>
                  <a:srgbClr val="1A2634"/>
                </a:solidFill>
                <a:latin typeface="等线" panose="02010600030101010101" pitchFamily="2" charset="-122"/>
                <a:ea typeface="等线" panose="02010600030101010101" pitchFamily="2" charset="-122"/>
              </a:rPr>
              <a:t>Generator</a:t>
            </a:r>
            <a:endParaRPr lang="en-US" sz="1100" b="0" strike="noStrike" spc="0">
              <a:latin typeface="等线" panose="02010600030101010101" pitchFamily="2" charset="-122"/>
              <a:ea typeface="等线" panose="02010600030101010101" pitchFamily="2" charset="-122"/>
            </a:endParaRPr>
          </a:p>
          <a:p>
            <a:pPr algn="ctr">
              <a:lnSpc>
                <a:spcPct val="100000"/>
              </a:lnSpc>
              <a:buNone/>
              <a:tabLst>
                <a:tab pos="0" algn="l"/>
              </a:tabLst>
              <a:defRPr/>
            </a:pPr>
            <a:r>
              <a:rPr lang="zh-CN" sz="1100" b="1" strike="noStrike" spc="0">
                <a:solidFill>
                  <a:srgbClr val="1A2634"/>
                </a:solidFill>
                <a:latin typeface="等线" panose="02010600030101010101" pitchFamily="2" charset="-122"/>
                <a:ea typeface="等线" panose="02010600030101010101" pitchFamily="2" charset="-122"/>
              </a:rPr>
              <a:t>扩散去噪</a:t>
            </a:r>
            <a:endParaRPr lang="en-US" sz="1100" b="0" strike="noStrike" spc="0">
              <a:latin typeface="等线" panose="02010600030101010101" pitchFamily="2" charset="-122"/>
              <a:ea typeface="等线" panose="02010600030101010101" pitchFamily="2" charset="-122"/>
            </a:endParaRPr>
          </a:p>
        </p:txBody>
      </p:sp>
      <p:sp>
        <p:nvSpPr>
          <p:cNvPr id="821044883" name="Shape 12"/>
          <p:cNvSpPr/>
          <p:nvPr/>
        </p:nvSpPr>
        <p:spPr bwMode="auto">
          <a:xfrm>
            <a:off x="3889980" y="5083199"/>
            <a:ext cx="493560" cy="3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563894602" name="Shape 13"/>
          <p:cNvSpPr/>
          <p:nvPr/>
        </p:nvSpPr>
        <p:spPr bwMode="auto">
          <a:xfrm>
            <a:off x="4420260" y="4781519"/>
            <a:ext cx="1325520" cy="603000"/>
          </a:xfrm>
          <a:prstGeom prst="roundRect">
            <a:avLst>
              <a:gd name="adj" fmla="val 12121"/>
            </a:avLst>
          </a:prstGeom>
          <a:solidFill>
            <a:srgbClr val="F7F3FF"/>
          </a:solidFill>
          <a:ln w="13970">
            <a:solidFill>
              <a:srgbClr val="7B61FF"/>
            </a:solidFill>
            <a:round/>
          </a:ln>
        </p:spPr>
        <p:style>
          <a:lnRef idx="0">
            <a:scrgbClr r="0" g="0" b="0"/>
          </a:lnRef>
          <a:fillRef idx="0">
            <a:scrgbClr r="0" g="0" b="0"/>
          </a:fillRef>
          <a:effectRef idx="0">
            <a:scrgbClr r="0" g="0" b="0"/>
          </a:effectRef>
          <a:fontRef idx="minor"/>
        </p:style>
      </p:sp>
      <p:sp>
        <p:nvSpPr>
          <p:cNvPr id="32163265" name="Text 14"/>
          <p:cNvSpPr/>
          <p:nvPr/>
        </p:nvSpPr>
        <p:spPr bwMode="auto">
          <a:xfrm>
            <a:off x="4475340" y="4836239"/>
            <a:ext cx="121572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050" b="1" strike="noStrike" spc="0">
                <a:solidFill>
                  <a:srgbClr val="1A2634"/>
                </a:solidFill>
                <a:latin typeface="等线" panose="02010600030101010101" pitchFamily="2" charset="-122"/>
                <a:ea typeface="等线" panose="02010600030101010101" pitchFamily="2" charset="-122"/>
              </a:rPr>
              <a:t>候选 </a:t>
            </a:r>
            <a:r>
              <a:rPr lang="en-US" sz="1050" b="1" strike="noStrike" spc="0">
                <a:solidFill>
                  <a:srgbClr val="1A2634"/>
                </a:solidFill>
                <a:latin typeface="等线" panose="02010600030101010101" pitchFamily="2" charset="-122"/>
                <a:ea typeface="等线" panose="02010600030101010101" pitchFamily="2" charset="-122"/>
              </a:rPr>
              <a:t>grasp</a:t>
            </a:r>
            <a:endParaRPr lang="en-US" sz="1050" b="0" strike="noStrike" spc="0">
              <a:latin typeface="等线" panose="02010600030101010101" pitchFamily="2" charset="-122"/>
              <a:ea typeface="等线" panose="02010600030101010101" pitchFamily="2" charset="-122"/>
            </a:endParaRPr>
          </a:p>
          <a:p>
            <a:pPr algn="ctr">
              <a:lnSpc>
                <a:spcPct val="100000"/>
              </a:lnSpc>
              <a:buNone/>
              <a:tabLst>
                <a:tab pos="0" algn="l"/>
              </a:tabLst>
              <a:defRPr/>
            </a:pPr>
            <a:r>
              <a:rPr lang="en-US" sz="1050" b="1" strike="noStrike" spc="0">
                <a:solidFill>
                  <a:srgbClr val="1A2634"/>
                </a:solidFill>
                <a:latin typeface="等线" panose="02010600030101010101" pitchFamily="2" charset="-122"/>
                <a:ea typeface="等线" panose="02010600030101010101" pitchFamily="2" charset="-122"/>
              </a:rPr>
              <a:t>(T, score?)</a:t>
            </a:r>
            <a:endParaRPr lang="en-US" sz="1050" b="0" strike="noStrike" spc="0">
              <a:latin typeface="等线" panose="02010600030101010101" pitchFamily="2" charset="-122"/>
              <a:ea typeface="等线" panose="02010600030101010101" pitchFamily="2" charset="-122"/>
            </a:endParaRPr>
          </a:p>
        </p:txBody>
      </p:sp>
      <p:sp>
        <p:nvSpPr>
          <p:cNvPr id="1071900368" name="Shape 15"/>
          <p:cNvSpPr/>
          <p:nvPr/>
        </p:nvSpPr>
        <p:spPr bwMode="auto">
          <a:xfrm>
            <a:off x="5800860" y="5083199"/>
            <a:ext cx="493920" cy="3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1361172462" name="Shape 16"/>
          <p:cNvSpPr/>
          <p:nvPr/>
        </p:nvSpPr>
        <p:spPr bwMode="auto">
          <a:xfrm>
            <a:off x="6340500" y="4781519"/>
            <a:ext cx="1107360" cy="603000"/>
          </a:xfrm>
          <a:prstGeom prst="roundRect">
            <a:avLst>
              <a:gd name="adj" fmla="val 12121"/>
            </a:avLst>
          </a:prstGeom>
          <a:solidFill>
            <a:srgbClr val="FFF4E8"/>
          </a:solidFill>
          <a:ln w="13970">
            <a:solidFill>
              <a:srgbClr val="F39C35"/>
            </a:solidFill>
            <a:round/>
          </a:ln>
        </p:spPr>
        <p:style>
          <a:lnRef idx="0">
            <a:scrgbClr r="0" g="0" b="0"/>
          </a:lnRef>
          <a:fillRef idx="0">
            <a:scrgbClr r="0" g="0" b="0"/>
          </a:fillRef>
          <a:effectRef idx="0">
            <a:scrgbClr r="0" g="0" b="0"/>
          </a:effectRef>
          <a:fontRef idx="minor"/>
        </p:style>
      </p:sp>
      <p:sp>
        <p:nvSpPr>
          <p:cNvPr id="1477571626" name="Text 17"/>
          <p:cNvSpPr/>
          <p:nvPr/>
        </p:nvSpPr>
        <p:spPr bwMode="auto">
          <a:xfrm>
            <a:off x="6348060" y="4836239"/>
            <a:ext cx="1279799"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050" b="1" strike="noStrike" spc="0">
                <a:solidFill>
                  <a:srgbClr val="1A2634"/>
                </a:solidFill>
                <a:latin typeface="等线" panose="02010600030101010101" pitchFamily="2" charset="-122"/>
                <a:ea typeface="等线" panose="02010600030101010101" pitchFamily="2" charset="-122"/>
              </a:rPr>
              <a:t>Discriminator</a:t>
            </a:r>
            <a:endParaRPr lang="en-US" sz="1050" b="0" strike="noStrike" spc="0">
              <a:latin typeface="等线" panose="02010600030101010101" pitchFamily="2" charset="-122"/>
              <a:ea typeface="等线" panose="02010600030101010101" pitchFamily="2" charset="-122"/>
            </a:endParaRPr>
          </a:p>
          <a:p>
            <a:pPr algn="ctr">
              <a:lnSpc>
                <a:spcPct val="100000"/>
              </a:lnSpc>
              <a:buNone/>
              <a:tabLst>
                <a:tab pos="0" algn="l"/>
              </a:tabLst>
              <a:defRPr/>
            </a:pPr>
            <a:r>
              <a:rPr lang="zh-CN" sz="1050" b="1" strike="noStrike" spc="0">
                <a:solidFill>
                  <a:srgbClr val="1A2634"/>
                </a:solidFill>
                <a:latin typeface="等线" panose="02010600030101010101" pitchFamily="2" charset="-122"/>
                <a:ea typeface="等线" panose="02010600030101010101" pitchFamily="2" charset="-122"/>
              </a:rPr>
              <a:t>质量评分</a:t>
            </a:r>
            <a:endParaRPr lang="en-US" sz="1050" b="0" strike="noStrike" spc="0">
              <a:latin typeface="等线" panose="02010600030101010101" pitchFamily="2" charset="-122"/>
              <a:ea typeface="等线" panose="02010600030101010101" pitchFamily="2" charset="-122"/>
            </a:endParaRPr>
          </a:p>
        </p:txBody>
      </p:sp>
      <p:sp>
        <p:nvSpPr>
          <p:cNvPr id="1586906165" name="Shape 18"/>
          <p:cNvSpPr/>
          <p:nvPr/>
        </p:nvSpPr>
        <p:spPr bwMode="auto">
          <a:xfrm>
            <a:off x="7447860" y="5082839"/>
            <a:ext cx="365760" cy="3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644558701" name="Shape 19"/>
          <p:cNvSpPr/>
          <p:nvPr/>
        </p:nvSpPr>
        <p:spPr bwMode="auto">
          <a:xfrm>
            <a:off x="7836660" y="4792679"/>
            <a:ext cx="1051200" cy="502560"/>
          </a:xfrm>
          <a:prstGeom prst="roundRect">
            <a:avLst>
              <a:gd name="adj" fmla="val 14545"/>
            </a:avLst>
          </a:prstGeom>
          <a:solidFill>
            <a:srgbClr val="ECFFF1"/>
          </a:solidFill>
          <a:ln w="13970">
            <a:solidFill>
              <a:srgbClr val="4B9F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defRPr/>
            </a:pPr>
            <a:r>
              <a:rPr lang="en-US" sz="1200" b="0" strike="noStrike" spc="0">
                <a:latin typeface="等线" panose="02010600030101010101" pitchFamily="2" charset="-122"/>
                <a:ea typeface="等线" panose="02010600030101010101" pitchFamily="2" charset="-122"/>
              </a:rPr>
              <a:t>Top-k</a:t>
            </a:r>
            <a:r>
              <a:rPr lang="zh-CN" sz="1200" b="0" strike="noStrike" spc="0">
                <a:latin typeface="等线" panose="02010600030101010101" pitchFamily="2" charset="-122"/>
                <a:ea typeface="等线" panose="02010600030101010101" pitchFamily="2" charset="-122"/>
              </a:rPr>
              <a:t>结果</a:t>
            </a:r>
            <a:endParaRPr lang="en-US" sz="1200" b="0" strike="noStrike" spc="0">
              <a:latin typeface="等线" panose="02010600030101010101" pitchFamily="2" charset="-122"/>
              <a:ea typeface="等线" panose="02010600030101010101" pitchFamily="2" charset="-122"/>
            </a:endParaRPr>
          </a:p>
        </p:txBody>
      </p:sp>
      <p:sp>
        <p:nvSpPr>
          <p:cNvPr id="568803345" name="Text 20"/>
          <p:cNvSpPr/>
          <p:nvPr/>
        </p:nvSpPr>
        <p:spPr bwMode="auto">
          <a:xfrm>
            <a:off x="7483500" y="5814719"/>
            <a:ext cx="941400" cy="392760"/>
          </a:xfrm>
          <a:prstGeom prst="rect">
            <a:avLst/>
          </a:prstGeom>
          <a:noFill/>
          <a:ln w="0">
            <a:noFill/>
          </a:ln>
        </p:spPr>
        <p:style>
          <a:lnRef idx="0">
            <a:scrgbClr r="0" g="0" b="0"/>
          </a:lnRef>
          <a:fillRef idx="0">
            <a:scrgbClr r="0" g="0" b="0"/>
          </a:fillRef>
          <a:effectRef idx="0">
            <a:scrgbClr r="0" g="0" b="0"/>
          </a:effectRef>
          <a:fontRef idx="minor"/>
        </p:style>
      </p:sp>
      <p:sp>
        <p:nvSpPr>
          <p:cNvPr id="1007221821" name="Shape 22"/>
          <p:cNvSpPr/>
          <p:nvPr/>
        </p:nvSpPr>
        <p:spPr bwMode="auto">
          <a:xfrm>
            <a:off x="3862620" y="2102399"/>
            <a:ext cx="1325520" cy="328680"/>
          </a:xfrm>
          <a:prstGeom prst="roundRect">
            <a:avLst>
              <a:gd name="adj" fmla="val 22222"/>
            </a:avLst>
          </a:prstGeom>
          <a:solidFill>
            <a:srgbClr val="004A98"/>
          </a:solidFill>
          <a:ln w="12700">
            <a:solidFill>
              <a:srgbClr val="004A98">
                <a:alpha val="0"/>
              </a:srgbClr>
            </a:solidFill>
            <a:round/>
          </a:ln>
        </p:spPr>
        <p:style>
          <a:lnRef idx="0">
            <a:scrgbClr r="0" g="0" b="0"/>
          </a:lnRef>
          <a:fillRef idx="0">
            <a:scrgbClr r="0" g="0" b="0"/>
          </a:fillRef>
          <a:effectRef idx="0">
            <a:scrgbClr r="0" g="0" b="0"/>
          </a:effectRef>
          <a:fontRef idx="minor"/>
        </p:style>
      </p:sp>
      <p:sp>
        <p:nvSpPr>
          <p:cNvPr id="753141940" name="Text 23"/>
          <p:cNvSpPr/>
          <p:nvPr/>
        </p:nvSpPr>
        <p:spPr bwMode="auto">
          <a:xfrm>
            <a:off x="3935700" y="2166479"/>
            <a:ext cx="1179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zh-CN" sz="1200" b="1" strike="noStrike" spc="0">
                <a:solidFill>
                  <a:srgbClr val="FFFFFF"/>
                </a:solidFill>
                <a:latin typeface="等线" panose="02010600030101010101" pitchFamily="2" charset="-122"/>
                <a:ea typeface="等线" panose="02010600030101010101" pitchFamily="2" charset="-122"/>
              </a:rPr>
              <a:t>核心思想</a:t>
            </a:r>
            <a:endParaRPr lang="en-US" sz="1200" b="0" strike="noStrike" spc="0">
              <a:latin typeface="等线" panose="02010600030101010101" pitchFamily="2" charset="-122"/>
              <a:ea typeface="等线" panose="02010600030101010101" pitchFamily="2" charset="-122"/>
            </a:endParaRPr>
          </a:p>
        </p:txBody>
      </p:sp>
      <p:sp>
        <p:nvSpPr>
          <p:cNvPr id="111971354" name="Text 24"/>
          <p:cNvSpPr/>
          <p:nvPr/>
        </p:nvSpPr>
        <p:spPr bwMode="auto">
          <a:xfrm>
            <a:off x="3798540" y="2595959"/>
            <a:ext cx="4708800" cy="1645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nSpc>
                <a:spcPct val="100000"/>
              </a:lnSpc>
              <a:spcBef>
                <a:spcPts val="849"/>
              </a:spcBef>
              <a:buNone/>
              <a:tabLst>
                <a:tab pos="0" algn="l"/>
              </a:tabLst>
              <a:defRPr/>
            </a:pPr>
            <a:r>
              <a:rPr lang="en-US" sz="1250" b="0" strike="noStrike" spc="0" dirty="0">
                <a:solidFill>
                  <a:srgbClr val="222222"/>
                </a:solidFill>
                <a:latin typeface="等线" panose="02010600030101010101" pitchFamily="2" charset="-122"/>
                <a:ea typeface="等线" panose="02010600030101010101" pitchFamily="2" charset="-122"/>
              </a:rPr>
              <a:t>• </a:t>
            </a:r>
            <a:r>
              <a:rPr lang="zh-CN" sz="1250" b="0" strike="noStrike" spc="0" dirty="0">
                <a:solidFill>
                  <a:srgbClr val="222222"/>
                </a:solidFill>
                <a:latin typeface="等线" panose="02010600030101010101" pitchFamily="2" charset="-122"/>
                <a:ea typeface="等线" panose="02010600030101010101" pitchFamily="2" charset="-122"/>
              </a:rPr>
              <a:t>输入是物体或场景的局部点云，而不是单一抓取点。</a:t>
            </a:r>
            <a:endParaRPr lang="en-US" sz="1250" b="0" strike="noStrike" spc="0" dirty="0">
              <a:latin typeface="等线" panose="02010600030101010101" pitchFamily="2" charset="-122"/>
              <a:ea typeface="等线" panose="02010600030101010101" pitchFamily="2" charset="-122"/>
            </a:endParaRPr>
          </a:p>
          <a:p>
            <a:pPr>
              <a:lnSpc>
                <a:spcPct val="100000"/>
              </a:lnSpc>
              <a:spcBef>
                <a:spcPts val="849"/>
              </a:spcBef>
              <a:buNone/>
              <a:tabLst>
                <a:tab pos="0" algn="l"/>
              </a:tabLst>
              <a:defRPr/>
            </a:pPr>
            <a:r>
              <a:rPr lang="en-US" sz="1250" b="0" strike="noStrike" spc="0" dirty="0">
                <a:solidFill>
                  <a:srgbClr val="222222"/>
                </a:solidFill>
                <a:latin typeface="等线" panose="02010600030101010101" pitchFamily="2" charset="-122"/>
                <a:ea typeface="等线" panose="02010600030101010101" pitchFamily="2" charset="-122"/>
              </a:rPr>
              <a:t>• </a:t>
            </a:r>
            <a:r>
              <a:rPr lang="zh-CN" sz="1250" b="0" strike="noStrike" spc="0" dirty="0">
                <a:solidFill>
                  <a:srgbClr val="222222"/>
                </a:solidFill>
                <a:latin typeface="等线" panose="02010600030101010101" pitchFamily="2" charset="-122"/>
                <a:ea typeface="等线" panose="02010600030101010101" pitchFamily="2" charset="-122"/>
              </a:rPr>
              <a:t>生成器一次采样多个 </a:t>
            </a:r>
            <a:r>
              <a:rPr lang="en-US" sz="1250" b="0" strike="noStrike" spc="0" dirty="0">
                <a:solidFill>
                  <a:srgbClr val="222222"/>
                </a:solidFill>
                <a:latin typeface="等线" panose="02010600030101010101" pitchFamily="2" charset="-122"/>
                <a:ea typeface="等线" panose="02010600030101010101" pitchFamily="2" charset="-122"/>
              </a:rPr>
              <a:t>6-DoF </a:t>
            </a:r>
            <a:r>
              <a:rPr lang="zh-CN" sz="1250" b="0" strike="noStrike" spc="0">
                <a:solidFill>
                  <a:srgbClr val="222222"/>
                </a:solidFill>
                <a:latin typeface="等线" panose="02010600030101010101" pitchFamily="2" charset="-122"/>
                <a:ea typeface="等线" panose="02010600030101010101" pitchFamily="2" charset="-122"/>
              </a:rPr>
              <a:t>抓取位姿，覆盖多峰抓取空间。</a:t>
            </a:r>
            <a:endParaRPr lang="en-US" sz="1250" b="0" strike="noStrike" spc="0" dirty="0">
              <a:latin typeface="等线" panose="02010600030101010101" pitchFamily="2" charset="-122"/>
              <a:ea typeface="等线" panose="02010600030101010101" pitchFamily="2" charset="-122"/>
            </a:endParaRPr>
          </a:p>
          <a:p>
            <a:pPr>
              <a:lnSpc>
                <a:spcPct val="100000"/>
              </a:lnSpc>
              <a:spcBef>
                <a:spcPts val="849"/>
              </a:spcBef>
              <a:buNone/>
              <a:tabLst>
                <a:tab pos="0" algn="l"/>
              </a:tabLst>
              <a:defRPr/>
            </a:pPr>
            <a:r>
              <a:rPr lang="en-US" sz="1250" b="0" strike="noStrike" spc="0" dirty="0">
                <a:solidFill>
                  <a:srgbClr val="222222"/>
                </a:solidFill>
                <a:latin typeface="等线" panose="02010600030101010101" pitchFamily="2" charset="-122"/>
                <a:ea typeface="等线" panose="02010600030101010101" pitchFamily="2" charset="-122"/>
              </a:rPr>
              <a:t>• </a:t>
            </a:r>
            <a:r>
              <a:rPr lang="zh-CN" sz="1250" b="0" strike="noStrike" spc="0" dirty="0">
                <a:solidFill>
                  <a:srgbClr val="222222"/>
                </a:solidFill>
                <a:latin typeface="等线" panose="02010600030101010101" pitchFamily="2" charset="-122"/>
                <a:ea typeface="等线" panose="02010600030101010101" pitchFamily="2" charset="-122"/>
              </a:rPr>
              <a:t>判别器对候选进行打分，帮助剔除碰撞、偏移和不稳定姿态。</a:t>
            </a:r>
            <a:endParaRPr lang="en-US" sz="1250" b="0" strike="noStrike" spc="0" dirty="0">
              <a:latin typeface="等线" panose="02010600030101010101" pitchFamily="2" charset="-122"/>
              <a:ea typeface="等线" panose="02010600030101010101" pitchFamily="2" charset="-122"/>
            </a:endParaRPr>
          </a:p>
          <a:p>
            <a:pPr>
              <a:lnSpc>
                <a:spcPct val="100000"/>
              </a:lnSpc>
              <a:spcBef>
                <a:spcPts val="849"/>
              </a:spcBef>
              <a:buNone/>
              <a:tabLst>
                <a:tab pos="0" algn="l"/>
              </a:tabLst>
              <a:defRPr/>
            </a:pPr>
            <a:r>
              <a:rPr lang="en-US" sz="1250" b="0" strike="noStrike" spc="0" dirty="0">
                <a:solidFill>
                  <a:srgbClr val="222222"/>
                </a:solidFill>
                <a:latin typeface="等线" panose="02010600030101010101" pitchFamily="2" charset="-122"/>
                <a:ea typeface="等线" panose="02010600030101010101" pitchFamily="2" charset="-122"/>
              </a:rPr>
              <a:t>• </a:t>
            </a:r>
            <a:r>
              <a:rPr lang="zh-CN" sz="1250" b="0" strike="noStrike" spc="0" dirty="0">
                <a:solidFill>
                  <a:srgbClr val="222222"/>
                </a:solidFill>
                <a:latin typeface="等线" panose="02010600030101010101" pitchFamily="2" charset="-122"/>
                <a:ea typeface="等线" panose="02010600030101010101" pitchFamily="2" charset="-122"/>
              </a:rPr>
              <a:t>最终按 </a:t>
            </a:r>
            <a:r>
              <a:rPr lang="en-US" sz="1250" b="0" strike="noStrike" spc="0" dirty="0">
                <a:solidFill>
                  <a:srgbClr val="222222"/>
                </a:solidFill>
                <a:latin typeface="等线" panose="02010600030101010101" pitchFamily="2" charset="-122"/>
                <a:ea typeface="等线" panose="02010600030101010101" pitchFamily="2" charset="-122"/>
              </a:rPr>
              <a:t>score </a:t>
            </a:r>
            <a:r>
              <a:rPr lang="zh-CN" sz="1250" b="0" strike="noStrike" spc="0" dirty="0">
                <a:solidFill>
                  <a:srgbClr val="222222"/>
                </a:solidFill>
                <a:latin typeface="等线" panose="02010600030101010101" pitchFamily="2" charset="-122"/>
                <a:ea typeface="等线" panose="02010600030101010101" pitchFamily="2" charset="-122"/>
              </a:rPr>
              <a:t>与后处理约束保留 </a:t>
            </a:r>
            <a:r>
              <a:rPr lang="en-US" sz="1250" b="0" strike="noStrike" spc="0" dirty="0">
                <a:solidFill>
                  <a:srgbClr val="222222"/>
                </a:solidFill>
                <a:latin typeface="等线" panose="02010600030101010101" pitchFamily="2" charset="-122"/>
                <a:ea typeface="等线" panose="02010600030101010101" pitchFamily="2" charset="-122"/>
              </a:rPr>
              <a:t>Top-k </a:t>
            </a:r>
            <a:r>
              <a:rPr lang="zh-CN" sz="1250" b="0" strike="noStrike" spc="0" dirty="0">
                <a:solidFill>
                  <a:srgbClr val="222222"/>
                </a:solidFill>
                <a:latin typeface="等线" panose="02010600030101010101" pitchFamily="2" charset="-122"/>
                <a:ea typeface="等线" panose="02010600030101010101" pitchFamily="2" charset="-122"/>
              </a:rPr>
              <a:t>结果，用于可视化和评估。</a:t>
            </a:r>
            <a:endParaRPr lang="en-US" sz="1250" b="0" strike="noStrike" spc="0" dirty="0">
              <a:latin typeface="等线" panose="02010600030101010101" pitchFamily="2" charset="-122"/>
              <a:ea typeface="等线" panose="02010600030101010101" pitchFamily="2" charset="-122"/>
            </a:endParaRPr>
          </a:p>
        </p:txBody>
      </p:sp>
      <p:sp>
        <p:nvSpPr>
          <p:cNvPr id="102292579" name="Shape 25"/>
          <p:cNvSpPr/>
          <p:nvPr/>
        </p:nvSpPr>
        <p:spPr bwMode="auto">
          <a:xfrm>
            <a:off x="3835260" y="4296959"/>
            <a:ext cx="4663080" cy="347040"/>
          </a:xfrm>
          <a:prstGeom prst="roundRect">
            <a:avLst>
              <a:gd name="adj" fmla="val 18421"/>
            </a:avLst>
          </a:prstGeom>
          <a:solidFill>
            <a:srgbClr val="F6FAFF"/>
          </a:solidFill>
          <a:ln w="12700">
            <a:solidFill>
              <a:srgbClr val="D9E6F5"/>
            </a:solidFill>
            <a:round/>
          </a:ln>
        </p:spPr>
        <p:style>
          <a:lnRef idx="0">
            <a:scrgbClr r="0" g="0" b="0"/>
          </a:lnRef>
          <a:fillRef idx="0">
            <a:scrgbClr r="0" g="0" b="0"/>
          </a:fillRef>
          <a:effectRef idx="0">
            <a:scrgbClr r="0" g="0" b="0"/>
          </a:effectRef>
          <a:fontRef idx="minor"/>
        </p:style>
      </p:sp>
      <p:sp>
        <p:nvSpPr>
          <p:cNvPr id="1091040567" name="Text 26"/>
          <p:cNvSpPr/>
          <p:nvPr/>
        </p:nvSpPr>
        <p:spPr bwMode="auto">
          <a:xfrm>
            <a:off x="3999780" y="4397399"/>
            <a:ext cx="4315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zh-CN" sz="1100" b="1" strike="noStrike" spc="0">
                <a:solidFill>
                  <a:srgbClr val="004A98"/>
                </a:solidFill>
                <a:latin typeface="等线" panose="02010600030101010101" pitchFamily="2" charset="-122"/>
                <a:ea typeface="等线" panose="02010600030101010101" pitchFamily="2" charset="-122"/>
              </a:rPr>
              <a:t>先“生成多样抓取”，再“评分排序过滤”。</a:t>
            </a:r>
            <a:endParaRPr lang="en-US" sz="1100" b="0" strike="noStrike" spc="0">
              <a:latin typeface="等线" panose="02010600030101010101" pitchFamily="2" charset="-122"/>
              <a:ea typeface="等线" panose="02010600030101010101" pitchFamily="2" charset="-122"/>
            </a:endParaRPr>
          </a:p>
        </p:txBody>
      </p:sp>
      <p:sp>
        <p:nvSpPr>
          <p:cNvPr id="470924781" name="Text 27"/>
          <p:cNvSpPr/>
          <p:nvPr/>
        </p:nvSpPr>
        <p:spPr bwMode="auto">
          <a:xfrm>
            <a:off x="475560" y="6464880"/>
            <a:ext cx="795492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zh-CN" sz="750" b="0" strike="noStrike" spc="0">
                <a:solidFill>
                  <a:srgbClr val="6E7684"/>
                </a:solidFill>
                <a:latin typeface="等线" panose="02010600030101010101" pitchFamily="2" charset="-122"/>
                <a:ea typeface="等线" panose="02010600030101010101" pitchFamily="2" charset="-122"/>
              </a:rPr>
              <a:t>图源：</a:t>
            </a:r>
            <a:r>
              <a:rPr lang="en-US" sz="750" b="0" strike="noStrike" spc="0">
                <a:solidFill>
                  <a:srgbClr val="6E7684"/>
                </a:solidFill>
                <a:latin typeface="等线" panose="02010600030101010101" pitchFamily="2" charset="-122"/>
                <a:ea typeface="等线" panose="02010600030101010101" pitchFamily="2" charset="-122"/>
              </a:rPr>
              <a:t>NVlabs / GraspGen </a:t>
            </a:r>
            <a:r>
              <a:rPr lang="zh-CN" sz="750" b="0" strike="noStrike" spc="0">
                <a:solidFill>
                  <a:srgbClr val="6E7684"/>
                </a:solidFill>
                <a:latin typeface="等线" panose="02010600030101010101" pitchFamily="2" charset="-122"/>
                <a:ea typeface="等线" panose="02010600030101010101" pitchFamily="2" charset="-122"/>
              </a:rPr>
              <a:t>官方 </a:t>
            </a:r>
            <a:r>
              <a:rPr lang="en-US" sz="750" b="0" strike="noStrike" spc="0">
                <a:solidFill>
                  <a:srgbClr val="6E7684"/>
                </a:solidFill>
                <a:latin typeface="等线" panose="02010600030101010101" pitchFamily="2" charset="-122"/>
                <a:ea typeface="等线" panose="02010600030101010101" pitchFamily="2" charset="-122"/>
              </a:rPr>
              <a:t>GitHub </a:t>
            </a:r>
            <a:r>
              <a:rPr lang="zh-CN" sz="750" b="0" strike="noStrike" spc="0">
                <a:solidFill>
                  <a:srgbClr val="6E7684"/>
                </a:solidFill>
                <a:latin typeface="等线" panose="02010600030101010101" pitchFamily="2" charset="-122"/>
                <a:ea typeface="等线" panose="02010600030101010101" pitchFamily="2" charset="-122"/>
              </a:rPr>
              <a:t>与 </a:t>
            </a:r>
            <a:r>
              <a:rPr lang="en-US" sz="750" b="0" strike="noStrike" spc="0">
                <a:solidFill>
                  <a:srgbClr val="6E7684"/>
                </a:solidFill>
                <a:latin typeface="等线" panose="02010600030101010101" pitchFamily="2" charset="-122"/>
                <a:ea typeface="等线" panose="02010600030101010101" pitchFamily="2" charset="-122"/>
              </a:rPr>
              <a:t>NVIDIA GraspGen Dataset</a:t>
            </a:r>
            <a:endParaRPr lang="en-US" sz="750" b="0" strike="noStrike" spc="0">
              <a:latin typeface="等线" panose="02010600030101010101" pitchFamily="2" charset="-122"/>
              <a:ea typeface="等线" panose="02010600030101010101" pitchFamily="2" charset="-122"/>
            </a:endParaRPr>
          </a:p>
        </p:txBody>
      </p:sp>
      <p:pic>
        <p:nvPicPr>
          <p:cNvPr id="109764317" name="图片 109764316"/>
          <p:cNvPicPr/>
          <p:nvPr/>
        </p:nvPicPr>
        <p:blipFill rotWithShape="1">
          <a:blip r:embed="rId4"/>
          <a:stretch/>
        </p:blipFill>
        <p:spPr bwMode="auto">
          <a:xfrm>
            <a:off x="832860" y="2150639"/>
            <a:ext cx="2295000" cy="170460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827603827" name="Image 0" descr="/mnt/data/template_bg_slide11.png"/>
          <p:cNvPicPr/>
          <p:nvPr/>
        </p:nvPicPr>
        <p:blipFill rotWithShape="1">
          <a:blip r:embed="rId3"/>
          <a:stretch/>
        </p:blipFill>
        <p:spPr bwMode="auto">
          <a:xfrm>
            <a:off x="0" y="0"/>
            <a:ext cx="9143640" cy="6857640"/>
          </a:xfrm>
          <a:prstGeom prst="rect">
            <a:avLst/>
          </a:prstGeom>
          <a:ln w="0">
            <a:noFill/>
          </a:ln>
        </p:spPr>
      </p:pic>
      <p:sp>
        <p:nvSpPr>
          <p:cNvPr id="96804977" name="Text 1"/>
          <p:cNvSpPr/>
          <p:nvPr/>
        </p:nvSpPr>
        <p:spPr bwMode="auto">
          <a:xfrm>
            <a:off x="411480" y="896040"/>
            <a:ext cx="82749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tabLst>
                <a:tab pos="0" algn="l"/>
              </a:tabLst>
              <a:defRPr/>
            </a:pPr>
            <a:r>
              <a:rPr lang="en-US" sz="2000" b="1" dirty="0">
                <a:solidFill>
                  <a:srgbClr val="004993"/>
                </a:solidFill>
                <a:latin typeface="等线" panose="02010600030101010101" pitchFamily="2" charset="-122"/>
                <a:ea typeface="等线" panose="02010600030101010101" pitchFamily="2" charset="-122"/>
                <a:cs typeface="+mj-cs"/>
              </a:rPr>
              <a:t>3.2 </a:t>
            </a:r>
            <a:r>
              <a:rPr lang="zh-CN" altLang="en-US" sz="2000" b="1" dirty="0">
                <a:solidFill>
                  <a:srgbClr val="004993"/>
                </a:solidFill>
                <a:latin typeface="等线" panose="02010600030101010101" pitchFamily="2" charset="-122"/>
                <a:ea typeface="等线" panose="02010600030101010101" pitchFamily="2" charset="-122"/>
                <a:cs typeface="+mj-cs"/>
              </a:rPr>
              <a:t>特征聚合机制：三类信息共同决定去噪方向</a:t>
            </a:r>
            <a:endParaRPr lang="en-US" sz="2000" b="1" dirty="0">
              <a:solidFill>
                <a:srgbClr val="004993"/>
              </a:solidFill>
              <a:latin typeface="等线" panose="02010600030101010101" pitchFamily="2" charset="-122"/>
              <a:ea typeface="等线" panose="02010600030101010101" pitchFamily="2" charset="-122"/>
              <a:cs typeface="+mj-cs"/>
            </a:endParaRPr>
          </a:p>
        </p:txBody>
      </p:sp>
      <p:sp>
        <p:nvSpPr>
          <p:cNvPr id="1922919321" name="Shape 2"/>
          <p:cNvSpPr/>
          <p:nvPr/>
        </p:nvSpPr>
        <p:spPr bwMode="auto">
          <a:xfrm>
            <a:off x="18360" y="1426319"/>
            <a:ext cx="9097920" cy="31680"/>
          </a:xfrm>
          <a:prstGeom prst="rect">
            <a:avLst/>
          </a:prstGeom>
          <a:solidFill>
            <a:srgbClr val="004A98"/>
          </a:solidFill>
          <a:ln w="12700">
            <a:solidFill>
              <a:srgbClr val="004A98">
                <a:alpha val="0"/>
              </a:srgbClr>
            </a:solidFill>
            <a:round/>
          </a:ln>
        </p:spPr>
        <p:style>
          <a:lnRef idx="0">
            <a:scrgbClr r="0" g="0" b="0"/>
          </a:lnRef>
          <a:fillRef idx="0">
            <a:scrgbClr r="0" g="0" b="0"/>
          </a:fillRef>
          <a:effectRef idx="0">
            <a:scrgbClr r="0" g="0" b="0"/>
          </a:effectRef>
          <a:fontRef idx="minor"/>
        </p:style>
      </p:sp>
      <p:sp>
        <p:nvSpPr>
          <p:cNvPr id="88361312" name="Shape 3"/>
          <p:cNvSpPr/>
          <p:nvPr/>
        </p:nvSpPr>
        <p:spPr bwMode="auto">
          <a:xfrm>
            <a:off x="256140" y="1547639"/>
            <a:ext cx="8631720" cy="4827600"/>
          </a:xfrm>
          <a:prstGeom prst="roundRect">
            <a:avLst>
              <a:gd name="adj" fmla="val 1326"/>
            </a:avLst>
          </a:prstGeom>
          <a:solidFill>
            <a:srgbClr val="FFFFFF"/>
          </a:solidFill>
          <a:ln w="12700">
            <a:solidFill>
              <a:srgbClr val="B8CEE6"/>
            </a:solidFill>
            <a:round/>
          </a:ln>
        </p:spPr>
        <p:style>
          <a:lnRef idx="0">
            <a:scrgbClr r="0" g="0" b="0"/>
          </a:lnRef>
          <a:fillRef idx="0">
            <a:scrgbClr r="0" g="0" b="0"/>
          </a:fillRef>
          <a:effectRef idx="0">
            <a:scrgbClr r="0" g="0" b="0"/>
          </a:effectRef>
          <a:fontRef idx="minor"/>
        </p:style>
      </p:sp>
      <p:sp>
        <p:nvSpPr>
          <p:cNvPr id="1309887619" name="Text 6"/>
          <p:cNvSpPr/>
          <p:nvPr/>
        </p:nvSpPr>
        <p:spPr bwMode="auto">
          <a:xfrm>
            <a:off x="6699420" y="3111299"/>
            <a:ext cx="151740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zh-CN" sz="850" b="0" strike="noStrike" spc="0">
                <a:solidFill>
                  <a:srgbClr val="5A6676"/>
                </a:solidFill>
                <a:latin typeface="Microsoft YaHei"/>
                <a:ea typeface="Microsoft YaHei"/>
              </a:rPr>
              <a:t>多峰抓取空间</a:t>
            </a:r>
            <a:endParaRPr lang="en-US" sz="850" b="0" strike="noStrike" spc="0">
              <a:latin typeface="Arial"/>
            </a:endParaRPr>
          </a:p>
        </p:txBody>
      </p:sp>
      <p:sp>
        <p:nvSpPr>
          <p:cNvPr id="548252024" name="Shape 7"/>
          <p:cNvSpPr/>
          <p:nvPr/>
        </p:nvSpPr>
        <p:spPr bwMode="auto">
          <a:xfrm>
            <a:off x="536220" y="2443860"/>
            <a:ext cx="1828440" cy="603000"/>
          </a:xfrm>
          <a:prstGeom prst="roundRect">
            <a:avLst>
              <a:gd name="adj" fmla="val 12121"/>
            </a:avLst>
          </a:prstGeom>
          <a:solidFill>
            <a:srgbClr val="F6FAFF"/>
          </a:solidFill>
          <a:ln w="13970">
            <a:solidFill>
              <a:srgbClr val="004A98"/>
            </a:solidFill>
            <a:round/>
          </a:ln>
        </p:spPr>
        <p:style>
          <a:lnRef idx="0">
            <a:scrgbClr r="0" g="0" b="0"/>
          </a:lnRef>
          <a:fillRef idx="0">
            <a:scrgbClr r="0" g="0" b="0"/>
          </a:fillRef>
          <a:effectRef idx="0">
            <a:scrgbClr r="0" g="0" b="0"/>
          </a:effectRef>
          <a:fontRef idx="minor"/>
        </p:style>
      </p:sp>
      <p:sp>
        <p:nvSpPr>
          <p:cNvPr id="1209452797" name="Text 8"/>
          <p:cNvSpPr/>
          <p:nvPr/>
        </p:nvSpPr>
        <p:spPr bwMode="auto">
          <a:xfrm>
            <a:off x="590940" y="2498580"/>
            <a:ext cx="171864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050" b="1" strike="noStrike" spc="0">
                <a:solidFill>
                  <a:srgbClr val="1A2634"/>
                </a:solidFill>
                <a:latin typeface="Microsoft YaHei"/>
                <a:ea typeface="Microsoft YaHei"/>
              </a:rPr>
              <a:t>物体点云特征</a:t>
            </a:r>
            <a:endParaRPr lang="en-US" sz="1050" b="0" strike="noStrike" spc="0">
              <a:latin typeface="Arial"/>
            </a:endParaRPr>
          </a:p>
          <a:p>
            <a:pPr algn="ctr">
              <a:lnSpc>
                <a:spcPct val="100000"/>
              </a:lnSpc>
              <a:buNone/>
              <a:tabLst>
                <a:tab pos="0" algn="l"/>
              </a:tabLst>
              <a:defRPr/>
            </a:pPr>
            <a:r>
              <a:rPr lang="en-US" sz="1050" b="1" strike="noStrike" spc="0">
                <a:solidFill>
                  <a:srgbClr val="1A2634"/>
                </a:solidFill>
                <a:latin typeface="Microsoft YaHei"/>
                <a:ea typeface="Microsoft YaHei"/>
              </a:rPr>
              <a:t>PointTransformerV3 / PointNet</a:t>
            </a:r>
            <a:endParaRPr lang="en-US" sz="1050" b="0" strike="noStrike" spc="0">
              <a:latin typeface="Arial"/>
            </a:endParaRPr>
          </a:p>
        </p:txBody>
      </p:sp>
      <p:sp>
        <p:nvSpPr>
          <p:cNvPr id="1605188710" name="Shape 9"/>
          <p:cNvSpPr/>
          <p:nvPr/>
        </p:nvSpPr>
        <p:spPr bwMode="auto">
          <a:xfrm>
            <a:off x="536220" y="3403980"/>
            <a:ext cx="1828440" cy="603000"/>
          </a:xfrm>
          <a:prstGeom prst="roundRect">
            <a:avLst>
              <a:gd name="adj" fmla="val 12121"/>
            </a:avLst>
          </a:prstGeom>
          <a:solidFill>
            <a:srgbClr val="F7F3FF"/>
          </a:solidFill>
          <a:ln w="13970">
            <a:solidFill>
              <a:srgbClr val="7B61FF"/>
            </a:solidFill>
            <a:round/>
          </a:ln>
        </p:spPr>
        <p:style>
          <a:lnRef idx="0">
            <a:scrgbClr r="0" g="0" b="0"/>
          </a:lnRef>
          <a:fillRef idx="0">
            <a:scrgbClr r="0" g="0" b="0"/>
          </a:fillRef>
          <a:effectRef idx="0">
            <a:scrgbClr r="0" g="0" b="0"/>
          </a:effectRef>
          <a:fontRef idx="minor"/>
        </p:style>
      </p:sp>
      <p:sp>
        <p:nvSpPr>
          <p:cNvPr id="233862387" name="Text 10"/>
          <p:cNvSpPr/>
          <p:nvPr/>
        </p:nvSpPr>
        <p:spPr bwMode="auto">
          <a:xfrm>
            <a:off x="590940" y="3458700"/>
            <a:ext cx="171864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100" b="1" strike="noStrike" spc="0">
                <a:solidFill>
                  <a:srgbClr val="1A2634"/>
                </a:solidFill>
                <a:latin typeface="Microsoft YaHei"/>
                <a:ea typeface="Microsoft YaHei"/>
              </a:rPr>
              <a:t>当前带噪姿态</a:t>
            </a:r>
            <a:endParaRPr lang="en-US" sz="1100" b="0" strike="noStrike" spc="0">
              <a:latin typeface="Arial"/>
            </a:endParaRPr>
          </a:p>
          <a:p>
            <a:pPr algn="ctr">
              <a:lnSpc>
                <a:spcPct val="100000"/>
              </a:lnSpc>
              <a:buNone/>
              <a:tabLst>
                <a:tab pos="0" algn="l"/>
              </a:tabLst>
              <a:defRPr/>
            </a:pPr>
            <a:r>
              <a:rPr lang="en-US" sz="1100" b="1" strike="noStrike" spc="0">
                <a:solidFill>
                  <a:srgbClr val="1A2634"/>
                </a:solidFill>
                <a:latin typeface="Microsoft YaHei"/>
                <a:ea typeface="Microsoft YaHei"/>
              </a:rPr>
              <a:t>(tₜ, Rₜ)</a:t>
            </a:r>
            <a:endParaRPr lang="en-US" sz="1100" b="0" strike="noStrike" spc="0">
              <a:latin typeface="Arial"/>
            </a:endParaRPr>
          </a:p>
        </p:txBody>
      </p:sp>
      <p:sp>
        <p:nvSpPr>
          <p:cNvPr id="600307785" name="Shape 11"/>
          <p:cNvSpPr/>
          <p:nvPr/>
        </p:nvSpPr>
        <p:spPr bwMode="auto">
          <a:xfrm>
            <a:off x="536220" y="4364100"/>
            <a:ext cx="1828440" cy="603000"/>
          </a:xfrm>
          <a:prstGeom prst="roundRect">
            <a:avLst>
              <a:gd name="adj" fmla="val 12121"/>
            </a:avLst>
          </a:prstGeom>
          <a:solidFill>
            <a:srgbClr val="FFF4E8"/>
          </a:solidFill>
          <a:ln w="13970">
            <a:solidFill>
              <a:srgbClr val="F39C35"/>
            </a:solidFill>
            <a:round/>
          </a:ln>
        </p:spPr>
        <p:style>
          <a:lnRef idx="0">
            <a:scrgbClr r="0" g="0" b="0"/>
          </a:lnRef>
          <a:fillRef idx="0">
            <a:scrgbClr r="0" g="0" b="0"/>
          </a:fillRef>
          <a:effectRef idx="0">
            <a:scrgbClr r="0" g="0" b="0"/>
          </a:effectRef>
          <a:fontRef idx="minor"/>
        </p:style>
      </p:sp>
      <p:sp>
        <p:nvSpPr>
          <p:cNvPr id="778465603" name="Text 12"/>
          <p:cNvSpPr/>
          <p:nvPr/>
        </p:nvSpPr>
        <p:spPr bwMode="auto">
          <a:xfrm>
            <a:off x="590940" y="4418820"/>
            <a:ext cx="171864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100" b="1" strike="noStrike" spc="0">
                <a:solidFill>
                  <a:srgbClr val="1A2634"/>
                </a:solidFill>
                <a:latin typeface="Microsoft YaHei"/>
                <a:ea typeface="Microsoft YaHei"/>
              </a:rPr>
              <a:t>扩散时间步</a:t>
            </a:r>
            <a:endParaRPr lang="en-US" sz="1100" b="0" strike="noStrike" spc="0">
              <a:latin typeface="Arial"/>
            </a:endParaRPr>
          </a:p>
          <a:p>
            <a:pPr algn="ctr">
              <a:lnSpc>
                <a:spcPct val="100000"/>
              </a:lnSpc>
              <a:buNone/>
              <a:tabLst>
                <a:tab pos="0" algn="l"/>
              </a:tabLst>
              <a:defRPr/>
            </a:pPr>
            <a:r>
              <a:rPr lang="en-US" sz="1100" b="1" strike="noStrike" spc="0">
                <a:solidFill>
                  <a:srgbClr val="1A2634"/>
                </a:solidFill>
                <a:latin typeface="Microsoft YaHei"/>
                <a:ea typeface="Microsoft YaHei"/>
              </a:rPr>
              <a:t>t</a:t>
            </a:r>
            <a:endParaRPr lang="en-US" sz="1100" b="0" strike="noStrike" spc="0">
              <a:latin typeface="Arial"/>
            </a:endParaRPr>
          </a:p>
        </p:txBody>
      </p:sp>
      <p:sp>
        <p:nvSpPr>
          <p:cNvPr id="1302011208" name="Shape 13"/>
          <p:cNvSpPr/>
          <p:nvPr/>
        </p:nvSpPr>
        <p:spPr bwMode="auto">
          <a:xfrm>
            <a:off x="2822220" y="3403980"/>
            <a:ext cx="1508400" cy="712800"/>
          </a:xfrm>
          <a:prstGeom prst="roundRect">
            <a:avLst>
              <a:gd name="adj" fmla="val 10256"/>
            </a:avLst>
          </a:prstGeom>
          <a:solidFill>
            <a:srgbClr val="EAF3FF"/>
          </a:solidFill>
          <a:ln w="13970">
            <a:solidFill>
              <a:srgbClr val="004A98"/>
            </a:solidFill>
            <a:round/>
          </a:ln>
        </p:spPr>
        <p:style>
          <a:lnRef idx="0">
            <a:scrgbClr r="0" g="0" b="0"/>
          </a:lnRef>
          <a:fillRef idx="0">
            <a:scrgbClr r="0" g="0" b="0"/>
          </a:fillRef>
          <a:effectRef idx="0">
            <a:scrgbClr r="0" g="0" b="0"/>
          </a:effectRef>
          <a:fontRef idx="minor"/>
        </p:style>
      </p:sp>
      <p:sp>
        <p:nvSpPr>
          <p:cNvPr id="2125500499" name="Text 14"/>
          <p:cNvSpPr/>
          <p:nvPr/>
        </p:nvSpPr>
        <p:spPr bwMode="auto">
          <a:xfrm>
            <a:off x="2876940" y="3458700"/>
            <a:ext cx="1398600" cy="603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100" b="1" strike="noStrike" spc="0">
                <a:solidFill>
                  <a:srgbClr val="1A2634"/>
                </a:solidFill>
                <a:latin typeface="Microsoft YaHei"/>
                <a:ea typeface="Microsoft YaHei"/>
              </a:rPr>
              <a:t>特征融合</a:t>
            </a:r>
            <a:endParaRPr lang="en-US" sz="1100" b="0" strike="noStrike" spc="0">
              <a:latin typeface="Arial"/>
            </a:endParaRPr>
          </a:p>
          <a:p>
            <a:pPr algn="ctr">
              <a:lnSpc>
                <a:spcPct val="100000"/>
              </a:lnSpc>
              <a:buNone/>
              <a:tabLst>
                <a:tab pos="0" algn="l"/>
              </a:tabLst>
              <a:defRPr/>
            </a:pPr>
            <a:r>
              <a:rPr lang="en-US" sz="1100" b="1" strike="noStrike" spc="0">
                <a:solidFill>
                  <a:srgbClr val="1A2634"/>
                </a:solidFill>
                <a:latin typeface="Microsoft YaHei"/>
                <a:ea typeface="Microsoft YaHei"/>
              </a:rPr>
              <a:t>Conditioning</a:t>
            </a:r>
            <a:endParaRPr lang="en-US" sz="1100" b="0" strike="noStrike" spc="0">
              <a:latin typeface="Arial"/>
            </a:endParaRPr>
          </a:p>
        </p:txBody>
      </p:sp>
      <p:sp>
        <p:nvSpPr>
          <p:cNvPr id="1559382809" name="Shape 15"/>
          <p:cNvSpPr/>
          <p:nvPr/>
        </p:nvSpPr>
        <p:spPr bwMode="auto">
          <a:xfrm>
            <a:off x="4651020" y="3403980"/>
            <a:ext cx="1874160" cy="712800"/>
          </a:xfrm>
          <a:prstGeom prst="roundRect">
            <a:avLst>
              <a:gd name="adj" fmla="val 10256"/>
            </a:avLst>
          </a:prstGeom>
          <a:solidFill>
            <a:srgbClr val="ECFFF1"/>
          </a:solidFill>
          <a:ln w="13970">
            <a:solidFill>
              <a:srgbClr val="4B9F45"/>
            </a:solidFill>
            <a:round/>
          </a:ln>
        </p:spPr>
        <p:style>
          <a:lnRef idx="0">
            <a:scrgbClr r="0" g="0" b="0"/>
          </a:lnRef>
          <a:fillRef idx="0">
            <a:scrgbClr r="0" g="0" b="0"/>
          </a:fillRef>
          <a:effectRef idx="0">
            <a:scrgbClr r="0" g="0" b="0"/>
          </a:effectRef>
          <a:fontRef idx="minor"/>
        </p:style>
      </p:sp>
      <p:sp>
        <p:nvSpPr>
          <p:cNvPr id="1631158779" name="Text 16"/>
          <p:cNvSpPr/>
          <p:nvPr/>
        </p:nvSpPr>
        <p:spPr bwMode="auto">
          <a:xfrm>
            <a:off x="4705740" y="3458700"/>
            <a:ext cx="1764360" cy="603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100" b="1" strike="noStrike" spc="0">
                <a:solidFill>
                  <a:srgbClr val="1A2634"/>
                </a:solidFill>
                <a:latin typeface="Microsoft YaHei"/>
                <a:ea typeface="Microsoft YaHei"/>
              </a:rPr>
              <a:t>Diffusion Transformer</a:t>
            </a:r>
            <a:endParaRPr lang="en-US" sz="1100" b="0" strike="noStrike" spc="0">
              <a:latin typeface="Arial"/>
            </a:endParaRPr>
          </a:p>
          <a:p>
            <a:pPr algn="ctr">
              <a:lnSpc>
                <a:spcPct val="100000"/>
              </a:lnSpc>
              <a:buNone/>
              <a:tabLst>
                <a:tab pos="0" algn="l"/>
              </a:tabLst>
              <a:defRPr/>
            </a:pPr>
            <a:r>
              <a:rPr lang="zh-CN" sz="1100" b="1" strike="noStrike" spc="0">
                <a:solidFill>
                  <a:srgbClr val="1A2634"/>
                </a:solidFill>
                <a:latin typeface="Microsoft YaHei"/>
                <a:ea typeface="Microsoft YaHei"/>
              </a:rPr>
              <a:t>预测去噪更新</a:t>
            </a:r>
            <a:endParaRPr lang="en-US" sz="1100" b="0" strike="noStrike" spc="0">
              <a:latin typeface="Arial"/>
            </a:endParaRPr>
          </a:p>
        </p:txBody>
      </p:sp>
      <p:sp>
        <p:nvSpPr>
          <p:cNvPr id="1945577017" name="Shape 17"/>
          <p:cNvSpPr/>
          <p:nvPr/>
        </p:nvSpPr>
        <p:spPr bwMode="auto">
          <a:xfrm>
            <a:off x="6854580" y="3476700"/>
            <a:ext cx="1416960" cy="712800"/>
          </a:xfrm>
          <a:prstGeom prst="roundRect">
            <a:avLst>
              <a:gd name="adj" fmla="val 10256"/>
            </a:avLst>
          </a:prstGeom>
          <a:solidFill>
            <a:srgbClr val="EEF2F7"/>
          </a:solidFill>
          <a:ln w="13970">
            <a:solidFill>
              <a:srgbClr val="5A667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buNone/>
              <a:defRPr/>
            </a:pPr>
            <a:r>
              <a:rPr lang="zh-CN" sz="1050" b="1" strike="noStrike" spc="0">
                <a:latin typeface="Arial"/>
              </a:rPr>
              <a:t>下一步抓取姿态</a:t>
            </a:r>
            <a:endParaRPr lang="en-US" sz="1050" b="1" strike="noStrike" spc="0">
              <a:latin typeface="Arial"/>
            </a:endParaRPr>
          </a:p>
          <a:p>
            <a:pPr algn="ctr">
              <a:buNone/>
              <a:defRPr/>
            </a:pPr>
            <a:r>
              <a:rPr lang="zh-CN" sz="1050" b="1" strike="noStrike" spc="0">
                <a:latin typeface="Arial"/>
              </a:rPr>
              <a:t>（</a:t>
            </a:r>
            <a:r>
              <a:rPr lang="en-US" sz="1050" b="1" strike="noStrike" spc="0">
                <a:latin typeface="Arial"/>
              </a:rPr>
              <a:t>t</a:t>
            </a:r>
            <a:r>
              <a:rPr lang="en-US" sz="1050" b="1" strike="noStrike" spc="0" baseline="-25000">
                <a:latin typeface="Arial"/>
              </a:rPr>
              <a:t>t-1</a:t>
            </a:r>
            <a:r>
              <a:rPr lang="en-US" sz="1050" b="1" strike="noStrike" spc="0">
                <a:latin typeface="Arial"/>
              </a:rPr>
              <a:t>,R</a:t>
            </a:r>
            <a:r>
              <a:rPr lang="en-US" sz="1050" b="1" strike="noStrike" spc="0" baseline="-25000">
                <a:latin typeface="Arial"/>
              </a:rPr>
              <a:t>t-1</a:t>
            </a:r>
            <a:r>
              <a:rPr lang="zh-CN" sz="1050" b="1" strike="noStrike" spc="0">
                <a:latin typeface="Arial"/>
              </a:rPr>
              <a:t>）</a:t>
            </a:r>
            <a:endParaRPr lang="en-US" sz="1050" b="1" strike="noStrike" spc="0">
              <a:latin typeface="Arial"/>
            </a:endParaRPr>
          </a:p>
        </p:txBody>
      </p:sp>
      <p:sp>
        <p:nvSpPr>
          <p:cNvPr id="1681983655" name="Text 18"/>
          <p:cNvSpPr/>
          <p:nvPr/>
        </p:nvSpPr>
        <p:spPr bwMode="auto">
          <a:xfrm>
            <a:off x="6854580" y="3915900"/>
            <a:ext cx="1307160" cy="603000"/>
          </a:xfrm>
          <a:prstGeom prst="rect">
            <a:avLst/>
          </a:prstGeom>
          <a:noFill/>
          <a:ln w="0">
            <a:noFill/>
          </a:ln>
        </p:spPr>
        <p:style>
          <a:lnRef idx="0">
            <a:scrgbClr r="0" g="0" b="0"/>
          </a:lnRef>
          <a:fillRef idx="0">
            <a:scrgbClr r="0" g="0" b="0"/>
          </a:fillRef>
          <a:effectRef idx="0">
            <a:scrgbClr r="0" g="0" b="0"/>
          </a:effectRef>
          <a:fontRef idx="minor"/>
        </p:style>
      </p:sp>
      <p:sp>
        <p:nvSpPr>
          <p:cNvPr id="439197688" name="Shape 19"/>
          <p:cNvSpPr/>
          <p:nvPr/>
        </p:nvSpPr>
        <p:spPr bwMode="auto">
          <a:xfrm>
            <a:off x="2419739" y="2745540"/>
            <a:ext cx="338400" cy="8319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94009878" name="Shape 20"/>
          <p:cNvSpPr/>
          <p:nvPr/>
        </p:nvSpPr>
        <p:spPr bwMode="auto">
          <a:xfrm>
            <a:off x="2419739" y="3705660"/>
            <a:ext cx="338400" cy="4572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1261666575" name="Shape 21"/>
          <p:cNvSpPr/>
          <p:nvPr/>
        </p:nvSpPr>
        <p:spPr bwMode="auto">
          <a:xfrm flipV="1">
            <a:off x="2419739" y="3924900"/>
            <a:ext cx="338400" cy="740878"/>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892122144" name="Shape 22"/>
          <p:cNvSpPr/>
          <p:nvPr/>
        </p:nvSpPr>
        <p:spPr bwMode="auto">
          <a:xfrm>
            <a:off x="4358340" y="3751380"/>
            <a:ext cx="219240" cy="3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1294211243" name="Text 26"/>
          <p:cNvSpPr/>
          <p:nvPr/>
        </p:nvSpPr>
        <p:spPr bwMode="auto">
          <a:xfrm>
            <a:off x="764820" y="5295239"/>
            <a:ext cx="7411320" cy="328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8500"/>
          </a:bodyPr>
          <a:lstStyle/>
          <a:p>
            <a:pPr>
              <a:lnSpc>
                <a:spcPct val="100000"/>
              </a:lnSpc>
              <a:buNone/>
              <a:tabLst>
                <a:tab pos="0" algn="l"/>
              </a:tabLst>
              <a:defRPr/>
            </a:pPr>
            <a:endParaRPr lang="en-US" sz="1400" b="1" strike="noStrike" spc="0" dirty="0">
              <a:latin typeface="Arial"/>
            </a:endParaRPr>
          </a:p>
        </p:txBody>
      </p:sp>
      <p:sp>
        <p:nvSpPr>
          <p:cNvPr id="1504769610" name="Text 27"/>
          <p:cNvSpPr/>
          <p:nvPr/>
        </p:nvSpPr>
        <p:spPr bwMode="auto">
          <a:xfrm>
            <a:off x="475560" y="6464880"/>
            <a:ext cx="795492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zh-CN" sz="750" b="0" strike="noStrike" spc="0">
                <a:solidFill>
                  <a:srgbClr val="6E7684"/>
                </a:solidFill>
                <a:latin typeface="Microsoft YaHei"/>
                <a:ea typeface="Microsoft YaHei"/>
              </a:rPr>
              <a:t>图源：</a:t>
            </a:r>
            <a:r>
              <a:rPr lang="en-US" sz="750" b="0" strike="noStrike" spc="0">
                <a:solidFill>
                  <a:srgbClr val="6E7684"/>
                </a:solidFill>
                <a:latin typeface="Microsoft YaHei"/>
                <a:ea typeface="Microsoft YaHei"/>
              </a:rPr>
              <a:t>NVlabs / GraspGen </a:t>
            </a:r>
            <a:r>
              <a:rPr lang="zh-CN" sz="750" b="0" strike="noStrike" spc="0">
                <a:solidFill>
                  <a:srgbClr val="6E7684"/>
                </a:solidFill>
                <a:latin typeface="Microsoft YaHei"/>
                <a:ea typeface="Microsoft YaHei"/>
              </a:rPr>
              <a:t>官方 </a:t>
            </a:r>
            <a:r>
              <a:rPr lang="en-US" sz="750" b="0" strike="noStrike" spc="0">
                <a:solidFill>
                  <a:srgbClr val="6E7684"/>
                </a:solidFill>
                <a:latin typeface="Microsoft YaHei"/>
                <a:ea typeface="Microsoft YaHei"/>
              </a:rPr>
              <a:t>GitHub </a:t>
            </a:r>
            <a:r>
              <a:rPr lang="zh-CN" sz="750" b="0" strike="noStrike" spc="0">
                <a:solidFill>
                  <a:srgbClr val="6E7684"/>
                </a:solidFill>
                <a:latin typeface="Microsoft YaHei"/>
                <a:ea typeface="Microsoft YaHei"/>
              </a:rPr>
              <a:t>与 </a:t>
            </a:r>
            <a:r>
              <a:rPr lang="en-US" sz="750" b="0" strike="noStrike" spc="0">
                <a:solidFill>
                  <a:srgbClr val="6E7684"/>
                </a:solidFill>
                <a:latin typeface="Microsoft YaHei"/>
                <a:ea typeface="Microsoft YaHei"/>
              </a:rPr>
              <a:t>NVIDIA GraspGen Dataset</a:t>
            </a:r>
            <a:endParaRPr lang="en-US" sz="750" b="0" strike="noStrike" spc="0">
              <a:latin typeface="Arial"/>
            </a:endParaRPr>
          </a:p>
        </p:txBody>
      </p:sp>
      <p:sp>
        <p:nvSpPr>
          <p:cNvPr id="2066071720" name="Shape 1"/>
          <p:cNvSpPr/>
          <p:nvPr/>
        </p:nvSpPr>
        <p:spPr bwMode="auto">
          <a:xfrm>
            <a:off x="6525178" y="3836340"/>
            <a:ext cx="219240" cy="3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546769077" name="Image 0" descr="/mnt/data/template_bg_slide11.png"/>
          <p:cNvPicPr/>
          <p:nvPr/>
        </p:nvPicPr>
        <p:blipFill rotWithShape="1">
          <a:blip r:embed="rId3"/>
          <a:stretch/>
        </p:blipFill>
        <p:spPr bwMode="auto">
          <a:xfrm>
            <a:off x="0" y="0"/>
            <a:ext cx="9143640" cy="6857640"/>
          </a:xfrm>
          <a:prstGeom prst="rect">
            <a:avLst/>
          </a:prstGeom>
          <a:ln w="0">
            <a:noFill/>
          </a:ln>
        </p:spPr>
      </p:pic>
      <p:sp>
        <p:nvSpPr>
          <p:cNvPr id="1648064090" name="Text 0"/>
          <p:cNvSpPr/>
          <p:nvPr/>
        </p:nvSpPr>
        <p:spPr bwMode="auto">
          <a:xfrm>
            <a:off x="8101440" y="283320"/>
            <a:ext cx="776878"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en-US" sz="900" b="0" strike="noStrike" spc="0">
                <a:solidFill>
                  <a:srgbClr val="1A2634"/>
                </a:solidFill>
                <a:latin typeface="Arial"/>
                <a:ea typeface="Arial"/>
              </a:rPr>
              <a:t>Page 4</a:t>
            </a:r>
            <a:endParaRPr lang="en-US" sz="900" b="0" strike="noStrike" spc="0">
              <a:latin typeface="Arial"/>
            </a:endParaRPr>
          </a:p>
        </p:txBody>
      </p:sp>
      <p:sp>
        <p:nvSpPr>
          <p:cNvPr id="94637606" name="Text 1"/>
          <p:cNvSpPr/>
          <p:nvPr/>
        </p:nvSpPr>
        <p:spPr bwMode="auto">
          <a:xfrm>
            <a:off x="411480" y="896040"/>
            <a:ext cx="82749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en-US" sz="2200" b="1" strike="noStrike" spc="0">
                <a:solidFill>
                  <a:srgbClr val="1A2634"/>
                </a:solidFill>
                <a:latin typeface="Microsoft YaHei"/>
                <a:ea typeface="Microsoft YaHei"/>
              </a:rPr>
              <a:t>3.3 Generator </a:t>
            </a:r>
            <a:r>
              <a:rPr lang="zh-CN" sz="2200" b="1" strike="noStrike" spc="0">
                <a:solidFill>
                  <a:srgbClr val="1A2634"/>
                </a:solidFill>
                <a:latin typeface="Microsoft YaHei"/>
                <a:ea typeface="Microsoft YaHei"/>
              </a:rPr>
              <a:t>训练：在 </a:t>
            </a:r>
            <a:r>
              <a:rPr lang="en-US" sz="2200" b="1" strike="noStrike" spc="0">
                <a:solidFill>
                  <a:srgbClr val="1A2634"/>
                </a:solidFill>
                <a:latin typeface="Microsoft YaHei"/>
                <a:ea typeface="Microsoft YaHei"/>
              </a:rPr>
              <a:t>SE(3) </a:t>
            </a:r>
            <a:r>
              <a:rPr lang="zh-CN" sz="2200" b="1" strike="noStrike" spc="0">
                <a:solidFill>
                  <a:srgbClr val="1A2634"/>
                </a:solidFill>
                <a:latin typeface="Microsoft YaHei"/>
                <a:ea typeface="Microsoft YaHei"/>
              </a:rPr>
              <a:t>空间中学习“反向去噪”</a:t>
            </a:r>
            <a:endParaRPr lang="en-US" sz="2200" b="0" strike="noStrike" spc="0">
              <a:latin typeface="Arial"/>
            </a:endParaRPr>
          </a:p>
        </p:txBody>
      </p:sp>
      <p:sp>
        <p:nvSpPr>
          <p:cNvPr id="1008413645" name="Shape 2"/>
          <p:cNvSpPr/>
          <p:nvPr/>
        </p:nvSpPr>
        <p:spPr bwMode="auto">
          <a:xfrm>
            <a:off x="18360" y="1426319"/>
            <a:ext cx="9097920" cy="31680"/>
          </a:xfrm>
          <a:prstGeom prst="rect">
            <a:avLst/>
          </a:prstGeom>
          <a:solidFill>
            <a:srgbClr val="004A98"/>
          </a:solidFill>
          <a:ln w="12700">
            <a:solidFill>
              <a:srgbClr val="004A98">
                <a:alpha val="0"/>
              </a:srgbClr>
            </a:solidFill>
            <a:round/>
          </a:ln>
        </p:spPr>
        <p:style>
          <a:lnRef idx="0">
            <a:scrgbClr r="0" g="0" b="0"/>
          </a:lnRef>
          <a:fillRef idx="0">
            <a:scrgbClr r="0" g="0" b="0"/>
          </a:fillRef>
          <a:effectRef idx="0">
            <a:scrgbClr r="0" g="0" b="0"/>
          </a:effectRef>
          <a:fontRef idx="minor"/>
        </p:style>
      </p:sp>
      <p:sp>
        <p:nvSpPr>
          <p:cNvPr id="260668664" name="Shape 3"/>
          <p:cNvSpPr/>
          <p:nvPr/>
        </p:nvSpPr>
        <p:spPr bwMode="auto">
          <a:xfrm>
            <a:off x="255960" y="1581840"/>
            <a:ext cx="8631720" cy="4827600"/>
          </a:xfrm>
          <a:prstGeom prst="roundRect">
            <a:avLst>
              <a:gd name="adj" fmla="val 1326"/>
            </a:avLst>
          </a:prstGeom>
          <a:solidFill>
            <a:srgbClr val="FFFFFF"/>
          </a:solidFill>
          <a:ln w="12700">
            <a:solidFill>
              <a:srgbClr val="B8CEE6"/>
            </a:solidFill>
            <a:round/>
          </a:ln>
        </p:spPr>
        <p:style>
          <a:lnRef idx="0">
            <a:scrgbClr r="0" g="0" b="0"/>
          </a:lnRef>
          <a:fillRef idx="0">
            <a:scrgbClr r="0" g="0" b="0"/>
          </a:fillRef>
          <a:effectRef idx="0">
            <a:scrgbClr r="0" g="0" b="0"/>
          </a:effectRef>
          <a:fontRef idx="minor"/>
        </p:style>
      </p:sp>
      <p:sp>
        <p:nvSpPr>
          <p:cNvPr id="220638298" name="Shape 4"/>
          <p:cNvSpPr/>
          <p:nvPr/>
        </p:nvSpPr>
        <p:spPr bwMode="auto">
          <a:xfrm>
            <a:off x="6144840" y="1810440"/>
            <a:ext cx="2267280" cy="1444319"/>
          </a:xfrm>
          <a:prstGeom prst="roundRect">
            <a:avLst>
              <a:gd name="adj" fmla="val 4430"/>
            </a:avLst>
          </a:prstGeom>
          <a:solidFill>
            <a:srgbClr val="FFFFFF"/>
          </a:solidFill>
          <a:ln w="12700">
            <a:solidFill>
              <a:srgbClr val="B8CEE6"/>
            </a:solidFill>
            <a:round/>
          </a:ln>
        </p:spPr>
        <p:style>
          <a:lnRef idx="0">
            <a:scrgbClr r="0" g="0" b="0"/>
          </a:lnRef>
          <a:fillRef idx="0">
            <a:scrgbClr r="0" g="0" b="0"/>
          </a:fillRef>
          <a:effectRef idx="0">
            <a:scrgbClr r="0" g="0" b="0"/>
          </a:effectRef>
          <a:fontRef idx="minor"/>
        </p:style>
      </p:sp>
      <p:pic>
        <p:nvPicPr>
          <p:cNvPr id="153971724" name="Image 1" descr="/mnt/data/graspgen_3_frame40.png"/>
          <p:cNvPicPr/>
          <p:nvPr/>
        </p:nvPicPr>
        <p:blipFill rotWithShape="1">
          <a:blip r:embed="rId4"/>
          <a:srcRect l="2008" r="-53103"/>
          <a:stretch/>
        </p:blipFill>
        <p:spPr bwMode="auto">
          <a:xfrm>
            <a:off x="6199560" y="1865520"/>
            <a:ext cx="2157480" cy="1060200"/>
          </a:xfrm>
          <a:prstGeom prst="rect">
            <a:avLst/>
          </a:prstGeom>
          <a:ln w="0">
            <a:noFill/>
          </a:ln>
        </p:spPr>
      </p:pic>
      <p:sp>
        <p:nvSpPr>
          <p:cNvPr id="731316640" name="Shape 5"/>
          <p:cNvSpPr/>
          <p:nvPr/>
        </p:nvSpPr>
        <p:spPr bwMode="auto">
          <a:xfrm>
            <a:off x="6199560" y="2944440"/>
            <a:ext cx="2157480" cy="255600"/>
          </a:xfrm>
          <a:prstGeom prst="rect">
            <a:avLst/>
          </a:prstGeom>
          <a:solidFill>
            <a:srgbClr val="F6FAFF"/>
          </a:solidFill>
          <a:ln w="12700">
            <a:solidFill>
              <a:srgbClr val="F6FAFF">
                <a:alpha val="0"/>
              </a:srgbClr>
            </a:solidFill>
            <a:round/>
          </a:ln>
        </p:spPr>
        <p:style>
          <a:lnRef idx="0">
            <a:scrgbClr r="0" g="0" b="0"/>
          </a:lnRef>
          <a:fillRef idx="0">
            <a:scrgbClr r="0" g="0" b="0"/>
          </a:fillRef>
          <a:effectRef idx="0">
            <a:scrgbClr r="0" g="0" b="0"/>
          </a:effectRef>
          <a:fontRef idx="minor"/>
        </p:style>
      </p:sp>
      <p:sp>
        <p:nvSpPr>
          <p:cNvPr id="886830043" name="Text 6"/>
          <p:cNvSpPr/>
          <p:nvPr/>
        </p:nvSpPr>
        <p:spPr bwMode="auto">
          <a:xfrm>
            <a:off x="6254640" y="2990160"/>
            <a:ext cx="204804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zh-CN" sz="850" b="0" strike="noStrike" spc="0" dirty="0">
                <a:solidFill>
                  <a:srgbClr val="5A6676"/>
                </a:solidFill>
                <a:latin typeface="Microsoft YaHei"/>
                <a:ea typeface="Microsoft YaHei"/>
              </a:rPr>
              <a:t>真实机器人验证场景</a:t>
            </a:r>
            <a:endParaRPr lang="en-US" sz="850" b="0" strike="noStrike" spc="0" dirty="0">
              <a:latin typeface="Arial"/>
            </a:endParaRPr>
          </a:p>
        </p:txBody>
      </p:sp>
      <p:sp>
        <p:nvSpPr>
          <p:cNvPr id="1986939298" name="Shape 7"/>
          <p:cNvSpPr/>
          <p:nvPr/>
        </p:nvSpPr>
        <p:spPr bwMode="auto">
          <a:xfrm>
            <a:off x="658440" y="1828800"/>
            <a:ext cx="1234080" cy="328680"/>
          </a:xfrm>
          <a:prstGeom prst="roundRect">
            <a:avLst>
              <a:gd name="adj" fmla="val 22222"/>
            </a:avLst>
          </a:prstGeom>
          <a:solidFill>
            <a:srgbClr val="004A98"/>
          </a:solidFill>
          <a:ln w="12700">
            <a:solidFill>
              <a:srgbClr val="004A98">
                <a:alpha val="0"/>
              </a:srgbClr>
            </a:solidFill>
            <a:round/>
          </a:ln>
        </p:spPr>
        <p:style>
          <a:lnRef idx="0">
            <a:scrgbClr r="0" g="0" b="0"/>
          </a:lnRef>
          <a:fillRef idx="0">
            <a:scrgbClr r="0" g="0" b="0"/>
          </a:fillRef>
          <a:effectRef idx="0">
            <a:scrgbClr r="0" g="0" b="0"/>
          </a:effectRef>
          <a:fontRef idx="minor"/>
        </p:style>
      </p:sp>
      <p:sp>
        <p:nvSpPr>
          <p:cNvPr id="525165800" name="Text 8"/>
          <p:cNvSpPr/>
          <p:nvPr/>
        </p:nvSpPr>
        <p:spPr bwMode="auto">
          <a:xfrm>
            <a:off x="731520" y="1892880"/>
            <a:ext cx="10879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zh-CN" sz="1200" b="1" strike="noStrike" spc="0">
                <a:solidFill>
                  <a:srgbClr val="FFFFFF"/>
                </a:solidFill>
                <a:latin typeface="Microsoft YaHei"/>
                <a:ea typeface="Microsoft YaHei"/>
              </a:rPr>
              <a:t>训练阶段</a:t>
            </a:r>
            <a:endParaRPr lang="en-US" sz="1200" b="0" strike="noStrike" spc="0">
              <a:latin typeface="Arial"/>
            </a:endParaRPr>
          </a:p>
        </p:txBody>
      </p:sp>
      <p:sp>
        <p:nvSpPr>
          <p:cNvPr id="507204261" name="Shape 9"/>
          <p:cNvSpPr/>
          <p:nvPr/>
        </p:nvSpPr>
        <p:spPr bwMode="auto">
          <a:xfrm>
            <a:off x="685800" y="2331720"/>
            <a:ext cx="1416960" cy="594000"/>
          </a:xfrm>
          <a:prstGeom prst="roundRect">
            <a:avLst>
              <a:gd name="adj" fmla="val 12308"/>
            </a:avLst>
          </a:prstGeom>
          <a:solidFill>
            <a:srgbClr val="ECFFF1"/>
          </a:solidFill>
          <a:ln w="13970">
            <a:solidFill>
              <a:srgbClr val="4B9F45"/>
            </a:solidFill>
            <a:round/>
          </a:ln>
        </p:spPr>
        <p:style>
          <a:lnRef idx="0">
            <a:scrgbClr r="0" g="0" b="0"/>
          </a:lnRef>
          <a:fillRef idx="0">
            <a:scrgbClr r="0" g="0" b="0"/>
          </a:fillRef>
          <a:effectRef idx="0">
            <a:scrgbClr r="0" g="0" b="0"/>
          </a:effectRef>
          <a:fontRef idx="minor"/>
        </p:style>
      </p:sp>
      <p:sp>
        <p:nvSpPr>
          <p:cNvPr id="556636253" name="Text 10"/>
          <p:cNvSpPr/>
          <p:nvPr/>
        </p:nvSpPr>
        <p:spPr bwMode="auto">
          <a:xfrm>
            <a:off x="740520" y="2386440"/>
            <a:ext cx="1307160" cy="48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050" b="1" strike="noStrike" spc="0">
                <a:solidFill>
                  <a:srgbClr val="1A2634"/>
                </a:solidFill>
                <a:latin typeface="Microsoft YaHei"/>
                <a:ea typeface="Microsoft YaHei"/>
              </a:rPr>
              <a:t>GT </a:t>
            </a:r>
            <a:r>
              <a:rPr lang="zh-CN" sz="1050" b="1" strike="noStrike" spc="0">
                <a:solidFill>
                  <a:srgbClr val="1A2634"/>
                </a:solidFill>
                <a:latin typeface="Microsoft YaHei"/>
                <a:ea typeface="Microsoft YaHei"/>
              </a:rPr>
              <a:t>成功抓取</a:t>
            </a:r>
            <a:endParaRPr lang="en-US" sz="1050" b="0" strike="noStrike" spc="0">
              <a:latin typeface="Arial"/>
            </a:endParaRPr>
          </a:p>
          <a:p>
            <a:pPr algn="ctr">
              <a:lnSpc>
                <a:spcPct val="100000"/>
              </a:lnSpc>
              <a:buNone/>
              <a:tabLst>
                <a:tab pos="0" algn="l"/>
              </a:tabLst>
              <a:defRPr/>
            </a:pPr>
            <a:r>
              <a:rPr lang="en-US" sz="1050" b="1" strike="noStrike" spc="0">
                <a:solidFill>
                  <a:srgbClr val="1A2634"/>
                </a:solidFill>
                <a:latin typeface="Microsoft YaHei"/>
                <a:ea typeface="Microsoft YaHei"/>
              </a:rPr>
              <a:t>T₀ = {R, t}</a:t>
            </a:r>
            <a:endParaRPr lang="en-US" sz="1050" b="0" strike="noStrike" spc="0">
              <a:latin typeface="Arial"/>
            </a:endParaRPr>
          </a:p>
        </p:txBody>
      </p:sp>
      <p:sp>
        <p:nvSpPr>
          <p:cNvPr id="1569795595" name="Shape 11"/>
          <p:cNvSpPr/>
          <p:nvPr/>
        </p:nvSpPr>
        <p:spPr bwMode="auto">
          <a:xfrm>
            <a:off x="2176200" y="2633400"/>
            <a:ext cx="457200" cy="360"/>
          </a:xfrm>
          <a:prstGeom prst="line">
            <a:avLst/>
          </a:prstGeom>
          <a:ln w="19050">
            <a:solidFill>
              <a:srgbClr val="F39C35"/>
            </a:solidFill>
            <a:round/>
            <a:tailEnd type="triangle" w="med" len="med"/>
          </a:ln>
        </p:spPr>
        <p:style>
          <a:lnRef idx="0">
            <a:scrgbClr r="0" g="0" b="0"/>
          </a:lnRef>
          <a:fillRef idx="0">
            <a:scrgbClr r="0" g="0" b="0"/>
          </a:fillRef>
          <a:effectRef idx="0">
            <a:scrgbClr r="0" g="0" b="0"/>
          </a:effectRef>
          <a:fontRef idx="minor"/>
        </p:style>
      </p:sp>
      <p:sp>
        <p:nvSpPr>
          <p:cNvPr id="352035369" name="Shape 12"/>
          <p:cNvSpPr/>
          <p:nvPr/>
        </p:nvSpPr>
        <p:spPr bwMode="auto">
          <a:xfrm>
            <a:off x="2688480" y="2331720"/>
            <a:ext cx="1508400" cy="594000"/>
          </a:xfrm>
          <a:prstGeom prst="roundRect">
            <a:avLst>
              <a:gd name="adj" fmla="val 12308"/>
            </a:avLst>
          </a:prstGeom>
          <a:solidFill>
            <a:srgbClr val="FFF4E8"/>
          </a:solidFill>
          <a:ln w="13970">
            <a:solidFill>
              <a:srgbClr val="F39C35"/>
            </a:solidFill>
            <a:round/>
          </a:ln>
        </p:spPr>
        <p:style>
          <a:lnRef idx="0">
            <a:scrgbClr r="0" g="0" b="0"/>
          </a:lnRef>
          <a:fillRef idx="0">
            <a:scrgbClr r="0" g="0" b="0"/>
          </a:fillRef>
          <a:effectRef idx="0">
            <a:scrgbClr r="0" g="0" b="0"/>
          </a:effectRef>
          <a:fontRef idx="minor"/>
        </p:style>
      </p:sp>
      <p:sp>
        <p:nvSpPr>
          <p:cNvPr id="801885605" name="Text 13"/>
          <p:cNvSpPr/>
          <p:nvPr/>
        </p:nvSpPr>
        <p:spPr bwMode="auto">
          <a:xfrm>
            <a:off x="2743200" y="2386440"/>
            <a:ext cx="1398600" cy="48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050" b="1" strike="noStrike" spc="0">
                <a:solidFill>
                  <a:srgbClr val="1A2634"/>
                </a:solidFill>
                <a:latin typeface="Microsoft YaHei"/>
                <a:ea typeface="Microsoft YaHei"/>
              </a:rPr>
              <a:t>随机采样时间步</a:t>
            </a:r>
            <a:endParaRPr lang="en-US" sz="1050" b="0" strike="noStrike" spc="0">
              <a:latin typeface="Arial"/>
            </a:endParaRPr>
          </a:p>
          <a:p>
            <a:pPr algn="ctr">
              <a:lnSpc>
                <a:spcPct val="100000"/>
              </a:lnSpc>
              <a:buNone/>
              <a:tabLst>
                <a:tab pos="0" algn="l"/>
              </a:tabLst>
              <a:defRPr/>
            </a:pPr>
            <a:r>
              <a:rPr lang="zh-CN" sz="1050" b="1" strike="noStrike" spc="0">
                <a:solidFill>
                  <a:srgbClr val="1A2634"/>
                </a:solidFill>
                <a:latin typeface="Microsoft YaHei"/>
                <a:ea typeface="Microsoft YaHei"/>
              </a:rPr>
              <a:t>加入噪声</a:t>
            </a:r>
            <a:endParaRPr lang="en-US" sz="1050" b="0" strike="noStrike" spc="0">
              <a:latin typeface="Arial"/>
            </a:endParaRPr>
          </a:p>
        </p:txBody>
      </p:sp>
      <p:sp>
        <p:nvSpPr>
          <p:cNvPr id="526367454" name="Shape 14"/>
          <p:cNvSpPr/>
          <p:nvPr/>
        </p:nvSpPr>
        <p:spPr bwMode="auto">
          <a:xfrm>
            <a:off x="4269960" y="2633400"/>
            <a:ext cx="457200" cy="360"/>
          </a:xfrm>
          <a:prstGeom prst="line">
            <a:avLst/>
          </a:prstGeom>
          <a:ln w="19050">
            <a:solidFill>
              <a:srgbClr val="F39C35"/>
            </a:solidFill>
            <a:round/>
            <a:tailEnd type="triangle" w="med" len="med"/>
          </a:ln>
        </p:spPr>
        <p:style>
          <a:lnRef idx="0">
            <a:scrgbClr r="0" g="0" b="0"/>
          </a:lnRef>
          <a:fillRef idx="0">
            <a:scrgbClr r="0" g="0" b="0"/>
          </a:fillRef>
          <a:effectRef idx="0">
            <a:scrgbClr r="0" g="0" b="0"/>
          </a:effectRef>
          <a:fontRef idx="minor"/>
        </p:style>
      </p:sp>
      <p:sp>
        <p:nvSpPr>
          <p:cNvPr id="2004669064" name="Shape 15"/>
          <p:cNvSpPr/>
          <p:nvPr/>
        </p:nvSpPr>
        <p:spPr bwMode="auto">
          <a:xfrm>
            <a:off x="4773240" y="2331720"/>
            <a:ext cx="1005480" cy="594000"/>
          </a:xfrm>
          <a:prstGeom prst="roundRect">
            <a:avLst>
              <a:gd name="adj" fmla="val 12308"/>
            </a:avLst>
          </a:prstGeom>
          <a:solidFill>
            <a:srgbClr val="F7F3FF"/>
          </a:solidFill>
          <a:ln w="13970">
            <a:solidFill>
              <a:srgbClr val="7B61FF"/>
            </a:solidFill>
            <a:round/>
          </a:ln>
        </p:spPr>
        <p:style>
          <a:lnRef idx="0">
            <a:scrgbClr r="0" g="0" b="0"/>
          </a:lnRef>
          <a:fillRef idx="0">
            <a:scrgbClr r="0" g="0" b="0"/>
          </a:fillRef>
          <a:effectRef idx="0">
            <a:scrgbClr r="0" g="0" b="0"/>
          </a:effectRef>
          <a:fontRef idx="minor"/>
        </p:style>
      </p:sp>
      <p:sp>
        <p:nvSpPr>
          <p:cNvPr id="635795151" name="Text 16"/>
          <p:cNvSpPr/>
          <p:nvPr/>
        </p:nvSpPr>
        <p:spPr bwMode="auto">
          <a:xfrm>
            <a:off x="4827960" y="2386440"/>
            <a:ext cx="895680" cy="48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050" b="1" strike="noStrike" spc="0">
                <a:solidFill>
                  <a:srgbClr val="1A2634"/>
                </a:solidFill>
                <a:latin typeface="Microsoft YaHei"/>
                <a:ea typeface="Microsoft YaHei"/>
              </a:rPr>
              <a:t>带噪姿态</a:t>
            </a:r>
            <a:endParaRPr lang="en-US" sz="1050" b="0" strike="noStrike" spc="0">
              <a:latin typeface="Arial"/>
            </a:endParaRPr>
          </a:p>
          <a:p>
            <a:pPr algn="ctr">
              <a:lnSpc>
                <a:spcPct val="100000"/>
              </a:lnSpc>
              <a:buNone/>
              <a:tabLst>
                <a:tab pos="0" algn="l"/>
              </a:tabLst>
              <a:defRPr/>
            </a:pPr>
            <a:r>
              <a:rPr lang="en-US" sz="1050" b="1" strike="noStrike" spc="0">
                <a:solidFill>
                  <a:srgbClr val="1A2634"/>
                </a:solidFill>
                <a:latin typeface="Microsoft YaHei"/>
                <a:ea typeface="Microsoft YaHei"/>
              </a:rPr>
              <a:t>Tₜ</a:t>
            </a:r>
            <a:endParaRPr lang="en-US" sz="1050" b="0" strike="noStrike" spc="0">
              <a:latin typeface="Arial"/>
            </a:endParaRPr>
          </a:p>
        </p:txBody>
      </p:sp>
      <p:sp>
        <p:nvSpPr>
          <p:cNvPr id="910008345" name="Shape 17"/>
          <p:cNvSpPr/>
          <p:nvPr/>
        </p:nvSpPr>
        <p:spPr bwMode="auto">
          <a:xfrm>
            <a:off x="658440" y="3730680"/>
            <a:ext cx="1234080" cy="328680"/>
          </a:xfrm>
          <a:prstGeom prst="roundRect">
            <a:avLst>
              <a:gd name="adj" fmla="val 22222"/>
            </a:avLst>
          </a:prstGeom>
          <a:solidFill>
            <a:srgbClr val="4B9F45"/>
          </a:solidFill>
          <a:ln w="12700">
            <a:solidFill>
              <a:srgbClr val="4B9F45">
                <a:alpha val="0"/>
              </a:srgbClr>
            </a:solidFill>
            <a:round/>
          </a:ln>
        </p:spPr>
        <p:style>
          <a:lnRef idx="0">
            <a:scrgbClr r="0" g="0" b="0"/>
          </a:lnRef>
          <a:fillRef idx="0">
            <a:scrgbClr r="0" g="0" b="0"/>
          </a:fillRef>
          <a:effectRef idx="0">
            <a:scrgbClr r="0" g="0" b="0"/>
          </a:effectRef>
          <a:fontRef idx="minor"/>
        </p:style>
      </p:sp>
      <p:sp>
        <p:nvSpPr>
          <p:cNvPr id="747384762" name="Text 18"/>
          <p:cNvSpPr/>
          <p:nvPr/>
        </p:nvSpPr>
        <p:spPr bwMode="auto">
          <a:xfrm>
            <a:off x="731520" y="3794760"/>
            <a:ext cx="10879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zh-CN" sz="1200" b="1" strike="noStrike" spc="0">
                <a:solidFill>
                  <a:srgbClr val="FFFFFF"/>
                </a:solidFill>
                <a:latin typeface="Microsoft YaHei"/>
                <a:ea typeface="Microsoft YaHei"/>
              </a:rPr>
              <a:t>推理阶段</a:t>
            </a:r>
            <a:endParaRPr lang="en-US" sz="1200" b="0" strike="noStrike" spc="0">
              <a:latin typeface="Arial"/>
            </a:endParaRPr>
          </a:p>
        </p:txBody>
      </p:sp>
      <p:sp>
        <p:nvSpPr>
          <p:cNvPr id="1543802835" name="Shape 19"/>
          <p:cNvSpPr/>
          <p:nvPr/>
        </p:nvSpPr>
        <p:spPr bwMode="auto">
          <a:xfrm>
            <a:off x="685800" y="4224600"/>
            <a:ext cx="1234080" cy="566640"/>
          </a:xfrm>
          <a:prstGeom prst="roundRect">
            <a:avLst>
              <a:gd name="adj" fmla="val 12903"/>
            </a:avLst>
          </a:prstGeom>
          <a:solidFill>
            <a:srgbClr val="F7F3FF"/>
          </a:solidFill>
          <a:ln w="13970">
            <a:solidFill>
              <a:srgbClr val="7B61FF"/>
            </a:solidFill>
            <a:round/>
          </a:ln>
        </p:spPr>
        <p:style>
          <a:lnRef idx="0">
            <a:scrgbClr r="0" g="0" b="0"/>
          </a:lnRef>
          <a:fillRef idx="0">
            <a:scrgbClr r="0" g="0" b="0"/>
          </a:fillRef>
          <a:effectRef idx="0">
            <a:scrgbClr r="0" g="0" b="0"/>
          </a:effectRef>
          <a:fontRef idx="minor"/>
        </p:style>
      </p:sp>
      <p:sp>
        <p:nvSpPr>
          <p:cNvPr id="1312750761" name="Text 20"/>
          <p:cNvSpPr/>
          <p:nvPr/>
        </p:nvSpPr>
        <p:spPr bwMode="auto">
          <a:xfrm>
            <a:off x="740520" y="4279320"/>
            <a:ext cx="1124280" cy="456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050" b="1" strike="noStrike" spc="0">
                <a:solidFill>
                  <a:srgbClr val="1A2634"/>
                </a:solidFill>
                <a:latin typeface="Microsoft YaHei"/>
                <a:ea typeface="Microsoft YaHei"/>
              </a:rPr>
              <a:t>随机噪声</a:t>
            </a:r>
            <a:endParaRPr lang="en-US" sz="1050" b="0" strike="noStrike" spc="0">
              <a:latin typeface="Arial"/>
            </a:endParaRPr>
          </a:p>
          <a:p>
            <a:pPr algn="ctr">
              <a:lnSpc>
                <a:spcPct val="100000"/>
              </a:lnSpc>
              <a:buNone/>
              <a:tabLst>
                <a:tab pos="0" algn="l"/>
              </a:tabLst>
              <a:defRPr/>
            </a:pPr>
            <a:r>
              <a:rPr lang="en-US" sz="1050" b="1" strike="noStrike" spc="0">
                <a:solidFill>
                  <a:srgbClr val="1A2634"/>
                </a:solidFill>
                <a:latin typeface="Microsoft YaHei"/>
                <a:ea typeface="Microsoft YaHei"/>
              </a:rPr>
              <a:t>Tₙ</a:t>
            </a:r>
            <a:endParaRPr lang="en-US" sz="1050" b="0" strike="noStrike" spc="0">
              <a:latin typeface="Arial"/>
            </a:endParaRPr>
          </a:p>
        </p:txBody>
      </p:sp>
      <p:sp>
        <p:nvSpPr>
          <p:cNvPr id="284185296" name="Shape 21"/>
          <p:cNvSpPr/>
          <p:nvPr/>
        </p:nvSpPr>
        <p:spPr bwMode="auto">
          <a:xfrm>
            <a:off x="1993320" y="4507920"/>
            <a:ext cx="457200" cy="360"/>
          </a:xfrm>
          <a:prstGeom prst="line">
            <a:avLst/>
          </a:prstGeom>
          <a:ln w="19050">
            <a:solidFill>
              <a:srgbClr val="4B9F45"/>
            </a:solidFill>
            <a:round/>
            <a:tailEnd type="triangle" w="med" len="med"/>
          </a:ln>
        </p:spPr>
        <p:style>
          <a:lnRef idx="0">
            <a:scrgbClr r="0" g="0" b="0"/>
          </a:lnRef>
          <a:fillRef idx="0">
            <a:scrgbClr r="0" g="0" b="0"/>
          </a:fillRef>
          <a:effectRef idx="0">
            <a:scrgbClr r="0" g="0" b="0"/>
          </a:effectRef>
          <a:fontRef idx="minor"/>
        </p:style>
      </p:sp>
      <p:sp>
        <p:nvSpPr>
          <p:cNvPr id="676745239" name="Shape 22"/>
          <p:cNvSpPr/>
          <p:nvPr/>
        </p:nvSpPr>
        <p:spPr bwMode="auto">
          <a:xfrm>
            <a:off x="2505599" y="4224600"/>
            <a:ext cx="1691280" cy="566640"/>
          </a:xfrm>
          <a:prstGeom prst="roundRect">
            <a:avLst>
              <a:gd name="adj" fmla="val 12903"/>
            </a:avLst>
          </a:prstGeom>
          <a:solidFill>
            <a:srgbClr val="EAF3FF"/>
          </a:solidFill>
          <a:ln w="13970">
            <a:solidFill>
              <a:srgbClr val="004A98"/>
            </a:solidFill>
            <a:round/>
          </a:ln>
        </p:spPr>
        <p:style>
          <a:lnRef idx="0">
            <a:scrgbClr r="0" g="0" b="0"/>
          </a:lnRef>
          <a:fillRef idx="0">
            <a:scrgbClr r="0" g="0" b="0"/>
          </a:fillRef>
          <a:effectRef idx="0">
            <a:scrgbClr r="0" g="0" b="0"/>
          </a:effectRef>
          <a:fontRef idx="minor"/>
        </p:style>
      </p:sp>
      <p:sp>
        <p:nvSpPr>
          <p:cNvPr id="31083090" name="Text 23"/>
          <p:cNvSpPr/>
          <p:nvPr/>
        </p:nvSpPr>
        <p:spPr bwMode="auto">
          <a:xfrm>
            <a:off x="2560320" y="4279320"/>
            <a:ext cx="1581480" cy="456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000" b="1" strike="noStrike" spc="0">
                <a:solidFill>
                  <a:srgbClr val="1A2634"/>
                </a:solidFill>
                <a:latin typeface="Microsoft YaHei"/>
                <a:ea typeface="Microsoft YaHei"/>
              </a:rPr>
              <a:t>多轮反向去噪</a:t>
            </a:r>
            <a:endParaRPr lang="en-US" sz="1000" b="0" strike="noStrike" spc="0">
              <a:latin typeface="Arial"/>
            </a:endParaRPr>
          </a:p>
          <a:p>
            <a:pPr algn="ctr">
              <a:lnSpc>
                <a:spcPct val="100000"/>
              </a:lnSpc>
              <a:buNone/>
              <a:tabLst>
                <a:tab pos="0" algn="l"/>
              </a:tabLst>
              <a:defRPr/>
            </a:pPr>
            <a:r>
              <a:rPr lang="en-US" sz="1000" b="1" strike="noStrike" spc="0">
                <a:solidFill>
                  <a:srgbClr val="1A2634"/>
                </a:solidFill>
                <a:latin typeface="Microsoft YaHei"/>
                <a:ea typeface="Microsoft YaHei"/>
              </a:rPr>
              <a:t>Tₙ → … → T₀</a:t>
            </a:r>
            <a:endParaRPr lang="en-US" sz="1000" b="0" strike="noStrike" spc="0">
              <a:latin typeface="Arial"/>
            </a:endParaRPr>
          </a:p>
        </p:txBody>
      </p:sp>
      <p:sp>
        <p:nvSpPr>
          <p:cNvPr id="1110547022" name="Shape 24"/>
          <p:cNvSpPr/>
          <p:nvPr/>
        </p:nvSpPr>
        <p:spPr bwMode="auto">
          <a:xfrm>
            <a:off x="4269960" y="4507920"/>
            <a:ext cx="457200" cy="360"/>
          </a:xfrm>
          <a:prstGeom prst="line">
            <a:avLst/>
          </a:prstGeom>
          <a:ln w="19050">
            <a:solidFill>
              <a:srgbClr val="4B9F45"/>
            </a:solidFill>
            <a:round/>
            <a:tailEnd type="triangle" w="med" len="med"/>
          </a:ln>
        </p:spPr>
        <p:style>
          <a:lnRef idx="0">
            <a:scrgbClr r="0" g="0" b="0"/>
          </a:lnRef>
          <a:fillRef idx="0">
            <a:scrgbClr r="0" g="0" b="0"/>
          </a:fillRef>
          <a:effectRef idx="0">
            <a:scrgbClr r="0" g="0" b="0"/>
          </a:effectRef>
          <a:fontRef idx="minor"/>
        </p:style>
      </p:sp>
      <p:sp>
        <p:nvSpPr>
          <p:cNvPr id="913805466" name="Shape 25"/>
          <p:cNvSpPr/>
          <p:nvPr/>
        </p:nvSpPr>
        <p:spPr bwMode="auto">
          <a:xfrm>
            <a:off x="4773240" y="4224600"/>
            <a:ext cx="1298160" cy="566640"/>
          </a:xfrm>
          <a:prstGeom prst="roundRect">
            <a:avLst>
              <a:gd name="adj" fmla="val 12903"/>
            </a:avLst>
          </a:prstGeom>
          <a:solidFill>
            <a:srgbClr val="ECFFF1"/>
          </a:solidFill>
          <a:ln w="13970">
            <a:solidFill>
              <a:srgbClr val="4B9F45"/>
            </a:solidFill>
            <a:round/>
          </a:ln>
        </p:spPr>
        <p:style>
          <a:lnRef idx="0">
            <a:scrgbClr r="0" g="0" b="0"/>
          </a:lnRef>
          <a:fillRef idx="0">
            <a:scrgbClr r="0" g="0" b="0"/>
          </a:fillRef>
          <a:effectRef idx="0">
            <a:scrgbClr r="0" g="0" b="0"/>
          </a:effectRef>
          <a:fontRef idx="minor"/>
        </p:style>
      </p:sp>
      <p:sp>
        <p:nvSpPr>
          <p:cNvPr id="791069883" name="Text 26"/>
          <p:cNvSpPr/>
          <p:nvPr/>
        </p:nvSpPr>
        <p:spPr bwMode="auto">
          <a:xfrm>
            <a:off x="4827960" y="4279320"/>
            <a:ext cx="1188360" cy="456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zh-CN" sz="1000" b="1" strike="noStrike" spc="0">
                <a:solidFill>
                  <a:srgbClr val="1A2634"/>
                </a:solidFill>
                <a:latin typeface="Microsoft YaHei"/>
                <a:ea typeface="Microsoft YaHei"/>
              </a:rPr>
              <a:t>候选 </a:t>
            </a:r>
            <a:r>
              <a:rPr lang="en-US" sz="1000" b="1" strike="noStrike" spc="0">
                <a:solidFill>
                  <a:srgbClr val="1A2634"/>
                </a:solidFill>
                <a:latin typeface="Microsoft YaHei"/>
                <a:ea typeface="Microsoft YaHei"/>
              </a:rPr>
              <a:t>6DoF grasp</a:t>
            </a:r>
            <a:endParaRPr lang="en-US" sz="1000" b="0" strike="noStrike" spc="0">
              <a:latin typeface="Arial"/>
            </a:endParaRPr>
          </a:p>
          <a:p>
            <a:pPr algn="ctr">
              <a:lnSpc>
                <a:spcPct val="100000"/>
              </a:lnSpc>
              <a:buNone/>
              <a:tabLst>
                <a:tab pos="0" algn="l"/>
              </a:tabLst>
              <a:defRPr/>
            </a:pPr>
            <a:r>
              <a:rPr lang="en-US" sz="1000" b="1" strike="noStrike" spc="0">
                <a:solidFill>
                  <a:srgbClr val="1A2634"/>
                </a:solidFill>
                <a:latin typeface="Microsoft YaHei"/>
                <a:ea typeface="Microsoft YaHei"/>
              </a:rPr>
              <a:t>Top candidates</a:t>
            </a:r>
            <a:endParaRPr lang="en-US" sz="1000" b="0" strike="noStrike" spc="0">
              <a:latin typeface="Arial"/>
            </a:endParaRPr>
          </a:p>
        </p:txBody>
      </p:sp>
      <p:sp>
        <p:nvSpPr>
          <p:cNvPr id="85480567" name="Text 27"/>
          <p:cNvSpPr/>
          <p:nvPr/>
        </p:nvSpPr>
        <p:spPr bwMode="auto">
          <a:xfrm>
            <a:off x="6263640" y="3986640"/>
            <a:ext cx="2057040" cy="11152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89000" lnSpcReduction="10000"/>
          </a:bodyPr>
          <a:lstStyle/>
          <a:p>
            <a:pPr>
              <a:lnSpc>
                <a:spcPct val="100000"/>
              </a:lnSpc>
              <a:spcBef>
                <a:spcPts val="849"/>
              </a:spcBef>
              <a:buNone/>
              <a:tabLst>
                <a:tab pos="0" algn="l"/>
              </a:tabLst>
              <a:defRPr/>
            </a:pPr>
            <a:r>
              <a:rPr lang="en-US" sz="1100" b="0" strike="noStrike" spc="0" dirty="0">
                <a:solidFill>
                  <a:srgbClr val="222222"/>
                </a:solidFill>
                <a:latin typeface="Microsoft YaHei"/>
                <a:ea typeface="Microsoft YaHei"/>
              </a:rPr>
              <a:t>• </a:t>
            </a:r>
            <a:r>
              <a:rPr lang="zh-CN" sz="1100" b="0" strike="noStrike" spc="0" dirty="0">
                <a:solidFill>
                  <a:srgbClr val="222222"/>
                </a:solidFill>
                <a:latin typeface="Microsoft YaHei"/>
                <a:ea typeface="Microsoft YaHei"/>
              </a:rPr>
              <a:t>真实成功 </a:t>
            </a:r>
            <a:r>
              <a:rPr lang="en-US" sz="1100" b="0" strike="noStrike" spc="0" dirty="0">
                <a:solidFill>
                  <a:srgbClr val="222222"/>
                </a:solidFill>
                <a:latin typeface="Microsoft YaHei"/>
                <a:ea typeface="Microsoft YaHei"/>
              </a:rPr>
              <a:t>grasp </a:t>
            </a:r>
            <a:r>
              <a:rPr lang="zh-CN" sz="1100" b="0" strike="noStrike" spc="0" dirty="0">
                <a:solidFill>
                  <a:srgbClr val="222222"/>
                </a:solidFill>
                <a:latin typeface="Microsoft YaHei"/>
                <a:ea typeface="Microsoft YaHei"/>
              </a:rPr>
              <a:t>作为监督信号；训练时对姿态逐步加噪。</a:t>
            </a:r>
            <a:endParaRPr lang="en-US" sz="1100" b="0" strike="noStrike" spc="0" dirty="0">
              <a:latin typeface="Arial"/>
            </a:endParaRPr>
          </a:p>
          <a:p>
            <a:pPr>
              <a:lnSpc>
                <a:spcPct val="100000"/>
              </a:lnSpc>
              <a:spcBef>
                <a:spcPts val="849"/>
              </a:spcBef>
              <a:buNone/>
              <a:tabLst>
                <a:tab pos="0" algn="l"/>
              </a:tabLst>
              <a:defRPr/>
            </a:pPr>
            <a:r>
              <a:rPr lang="en-US" sz="1100" b="0" strike="noStrike" spc="0" dirty="0">
                <a:solidFill>
                  <a:srgbClr val="222222"/>
                </a:solidFill>
                <a:latin typeface="Microsoft YaHei"/>
                <a:ea typeface="Microsoft YaHei"/>
              </a:rPr>
              <a:t>• </a:t>
            </a:r>
            <a:r>
              <a:rPr lang="zh-CN" sz="1100" b="0" strike="noStrike" spc="0" dirty="0">
                <a:solidFill>
                  <a:srgbClr val="222222"/>
                </a:solidFill>
                <a:latin typeface="Microsoft YaHei"/>
                <a:ea typeface="Microsoft YaHei"/>
              </a:rPr>
              <a:t>模型目标是预测噪声 </a:t>
            </a:r>
            <a:r>
              <a:rPr lang="en-US" sz="1100" b="0" strike="noStrike" spc="0" dirty="0">
                <a:solidFill>
                  <a:srgbClr val="222222"/>
                </a:solidFill>
                <a:latin typeface="Microsoft YaHei"/>
                <a:ea typeface="Microsoft YaHei"/>
              </a:rPr>
              <a:t>/ </a:t>
            </a:r>
            <a:r>
              <a:rPr lang="zh-CN" sz="1100" b="0" strike="noStrike" spc="0" dirty="0">
                <a:solidFill>
                  <a:srgbClr val="222222"/>
                </a:solidFill>
                <a:latin typeface="Microsoft YaHei"/>
                <a:ea typeface="Microsoft YaHei"/>
              </a:rPr>
              <a:t>去噪更新，使带噪姿态回到可行抓取分布。</a:t>
            </a:r>
            <a:endParaRPr lang="en-US" sz="1100" b="0" strike="noStrike" spc="0" dirty="0">
              <a:latin typeface="Arial"/>
            </a:endParaRPr>
          </a:p>
          <a:p>
            <a:pPr>
              <a:lnSpc>
                <a:spcPct val="100000"/>
              </a:lnSpc>
              <a:spcBef>
                <a:spcPts val="849"/>
              </a:spcBef>
              <a:buNone/>
              <a:tabLst>
                <a:tab pos="0" algn="l"/>
              </a:tabLst>
              <a:defRPr/>
            </a:pPr>
            <a:r>
              <a:rPr lang="en-US" sz="1100" b="0" strike="noStrike" spc="0" dirty="0">
                <a:solidFill>
                  <a:srgbClr val="222222"/>
                </a:solidFill>
                <a:latin typeface="Microsoft YaHei"/>
                <a:ea typeface="Microsoft YaHei"/>
              </a:rPr>
              <a:t>• </a:t>
            </a:r>
            <a:r>
              <a:rPr lang="zh-CN" sz="1100" b="0" strike="noStrike" spc="0" dirty="0">
                <a:solidFill>
                  <a:srgbClr val="222222"/>
                </a:solidFill>
                <a:latin typeface="Microsoft YaHei"/>
                <a:ea typeface="Microsoft YaHei"/>
              </a:rPr>
              <a:t>推理时从随机姿态开始，迭代得到多个不同方向、不同位置的候选。</a:t>
            </a:r>
            <a:endParaRPr lang="en-US" sz="1100" b="0" strike="noStrike" spc="0" dirty="0">
              <a:latin typeface="Arial"/>
            </a:endParaRPr>
          </a:p>
        </p:txBody>
      </p:sp>
      <p:sp>
        <p:nvSpPr>
          <p:cNvPr id="1772599384" name="Shape 28"/>
          <p:cNvSpPr/>
          <p:nvPr/>
        </p:nvSpPr>
        <p:spPr bwMode="auto">
          <a:xfrm>
            <a:off x="658440" y="5285160"/>
            <a:ext cx="7790400" cy="365400"/>
          </a:xfrm>
          <a:prstGeom prst="roundRect">
            <a:avLst>
              <a:gd name="adj" fmla="val 17500"/>
            </a:avLst>
          </a:prstGeom>
          <a:solidFill>
            <a:srgbClr val="F6FAFF"/>
          </a:solidFill>
          <a:ln w="12700">
            <a:solidFill>
              <a:srgbClr val="D9E6F5"/>
            </a:solidFill>
            <a:round/>
          </a:ln>
        </p:spPr>
        <p:style>
          <a:lnRef idx="0">
            <a:scrgbClr r="0" g="0" b="0"/>
          </a:lnRef>
          <a:fillRef idx="0">
            <a:scrgbClr r="0" g="0" b="0"/>
          </a:fillRef>
          <a:effectRef idx="0">
            <a:scrgbClr r="0" g="0" b="0"/>
          </a:effectRef>
          <a:fontRef idx="minor"/>
        </p:style>
      </p:sp>
      <p:sp>
        <p:nvSpPr>
          <p:cNvPr id="701035945" name="Text 29"/>
          <p:cNvSpPr/>
          <p:nvPr/>
        </p:nvSpPr>
        <p:spPr bwMode="auto">
          <a:xfrm>
            <a:off x="822960" y="5403960"/>
            <a:ext cx="7479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zh-CN" sz="1100" b="1" strike="noStrike" spc="0">
                <a:solidFill>
                  <a:srgbClr val="004A98"/>
                </a:solidFill>
                <a:latin typeface="Microsoft YaHei"/>
                <a:ea typeface="Microsoft YaHei"/>
              </a:rPr>
              <a:t>关键点：抓取姿态属于 </a:t>
            </a:r>
            <a:r>
              <a:rPr lang="en-US" sz="1100" b="1" strike="noStrike" spc="0">
                <a:solidFill>
                  <a:srgbClr val="004A98"/>
                </a:solidFill>
                <a:latin typeface="Microsoft YaHei"/>
                <a:ea typeface="Microsoft YaHei"/>
              </a:rPr>
              <a:t>SE(3)</a:t>
            </a:r>
            <a:r>
              <a:rPr lang="zh-CN" sz="1100" b="1" strike="noStrike" spc="0">
                <a:solidFill>
                  <a:srgbClr val="004A98"/>
                </a:solidFill>
                <a:latin typeface="Microsoft YaHei"/>
                <a:ea typeface="Microsoft YaHei"/>
              </a:rPr>
              <a:t>，因此位置 </a:t>
            </a:r>
            <a:r>
              <a:rPr lang="en-US" sz="1100" b="1" strike="noStrike" spc="0">
                <a:solidFill>
                  <a:srgbClr val="004A98"/>
                </a:solidFill>
                <a:latin typeface="Microsoft YaHei"/>
                <a:ea typeface="Microsoft YaHei"/>
              </a:rPr>
              <a:t>t </a:t>
            </a:r>
            <a:r>
              <a:rPr lang="zh-CN" sz="1100" b="1" strike="noStrike" spc="0">
                <a:solidFill>
                  <a:srgbClr val="004A98"/>
                </a:solidFill>
                <a:latin typeface="Microsoft YaHei"/>
                <a:ea typeface="Microsoft YaHei"/>
              </a:rPr>
              <a:t>与旋转 </a:t>
            </a:r>
            <a:r>
              <a:rPr lang="en-US" sz="1100" b="1" strike="noStrike" spc="0">
                <a:solidFill>
                  <a:srgbClr val="004A98"/>
                </a:solidFill>
                <a:latin typeface="Microsoft YaHei"/>
                <a:ea typeface="Microsoft YaHei"/>
              </a:rPr>
              <a:t>R </a:t>
            </a:r>
            <a:r>
              <a:rPr lang="zh-CN" sz="1100" b="1" strike="noStrike" spc="0">
                <a:solidFill>
                  <a:srgbClr val="004A98"/>
                </a:solidFill>
                <a:latin typeface="Microsoft YaHei"/>
                <a:ea typeface="Microsoft YaHei"/>
              </a:rPr>
              <a:t>都需要在扩散过程中被建模。</a:t>
            </a:r>
            <a:endParaRPr lang="en-US" sz="1100" b="0" strike="noStrike" spc="0">
              <a:latin typeface="Arial"/>
            </a:endParaRPr>
          </a:p>
        </p:txBody>
      </p:sp>
      <p:sp>
        <p:nvSpPr>
          <p:cNvPr id="469604010" name="Text 30"/>
          <p:cNvSpPr/>
          <p:nvPr/>
        </p:nvSpPr>
        <p:spPr bwMode="auto">
          <a:xfrm>
            <a:off x="475560" y="6464880"/>
            <a:ext cx="795492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zh-CN" sz="750" b="0" strike="noStrike" spc="0">
                <a:solidFill>
                  <a:srgbClr val="6E7684"/>
                </a:solidFill>
                <a:latin typeface="Microsoft YaHei"/>
                <a:ea typeface="Microsoft YaHei"/>
              </a:rPr>
              <a:t>图源：</a:t>
            </a:r>
            <a:r>
              <a:rPr lang="en-US" sz="750" b="0" strike="noStrike" spc="0">
                <a:solidFill>
                  <a:srgbClr val="6E7684"/>
                </a:solidFill>
                <a:latin typeface="Microsoft YaHei"/>
                <a:ea typeface="Microsoft YaHei"/>
              </a:rPr>
              <a:t>GraspGen </a:t>
            </a:r>
            <a:r>
              <a:rPr lang="zh-CN" sz="750" b="0" strike="noStrike" spc="0">
                <a:solidFill>
                  <a:srgbClr val="6E7684"/>
                </a:solidFill>
                <a:latin typeface="Microsoft YaHei"/>
                <a:ea typeface="Microsoft YaHei"/>
              </a:rPr>
              <a:t>官方 </a:t>
            </a:r>
            <a:r>
              <a:rPr lang="en-US" sz="750" b="0" strike="noStrike" spc="0">
                <a:solidFill>
                  <a:srgbClr val="6E7684"/>
                </a:solidFill>
                <a:latin typeface="Microsoft YaHei"/>
                <a:ea typeface="Microsoft YaHei"/>
              </a:rPr>
              <a:t>GitHub</a:t>
            </a:r>
            <a:r>
              <a:rPr lang="zh-CN" sz="750" b="0" strike="noStrike" spc="0">
                <a:solidFill>
                  <a:srgbClr val="6E7684"/>
                </a:solidFill>
                <a:latin typeface="Microsoft YaHei"/>
                <a:ea typeface="Microsoft YaHei"/>
              </a:rPr>
              <a:t>；内容依据 </a:t>
            </a:r>
            <a:r>
              <a:rPr lang="en-US" sz="750" b="0" strike="noStrike" spc="0">
                <a:solidFill>
                  <a:srgbClr val="6E7684"/>
                </a:solidFill>
                <a:latin typeface="Microsoft YaHei"/>
                <a:ea typeface="Microsoft YaHei"/>
              </a:rPr>
              <a:t>GraspGen </a:t>
            </a:r>
            <a:r>
              <a:rPr lang="zh-CN" sz="750" b="0" strike="noStrike" spc="0">
                <a:solidFill>
                  <a:srgbClr val="6E7684"/>
                </a:solidFill>
                <a:latin typeface="Microsoft YaHei"/>
                <a:ea typeface="Microsoft YaHei"/>
              </a:rPr>
              <a:t>论文与项目讲稿整理</a:t>
            </a:r>
            <a:endParaRPr lang="en-US" sz="750" b="0" strike="noStrike" spc="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640851037" name="Image 0" descr="/mnt/data/template_bg_slide11.png"/>
          <p:cNvPicPr/>
          <p:nvPr/>
        </p:nvPicPr>
        <p:blipFill rotWithShape="1">
          <a:blip r:embed="rId3"/>
          <a:stretch/>
        </p:blipFill>
        <p:spPr bwMode="auto">
          <a:xfrm>
            <a:off x="0" y="0"/>
            <a:ext cx="9143640" cy="6857640"/>
          </a:xfrm>
          <a:prstGeom prst="rect">
            <a:avLst/>
          </a:prstGeom>
          <a:ln w="0">
            <a:noFill/>
          </a:ln>
        </p:spPr>
      </p:pic>
      <p:sp>
        <p:nvSpPr>
          <p:cNvPr id="594451517" name="Text 0"/>
          <p:cNvSpPr/>
          <p:nvPr/>
        </p:nvSpPr>
        <p:spPr bwMode="auto">
          <a:xfrm>
            <a:off x="8101440" y="260648"/>
            <a:ext cx="776878"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en-US" sz="900" b="0" strike="noStrike" spc="0" dirty="0">
                <a:solidFill>
                  <a:srgbClr val="1A2634"/>
                </a:solidFill>
                <a:latin typeface="Arial"/>
                <a:ea typeface="Arial"/>
              </a:rPr>
              <a:t>Page 5</a:t>
            </a:r>
            <a:endParaRPr lang="en-US" sz="900" b="0" strike="noStrike" spc="0" dirty="0">
              <a:latin typeface="Arial"/>
            </a:endParaRPr>
          </a:p>
        </p:txBody>
      </p:sp>
      <p:sp>
        <p:nvSpPr>
          <p:cNvPr id="1666064993" name="Text 1"/>
          <p:cNvSpPr/>
          <p:nvPr/>
        </p:nvSpPr>
        <p:spPr bwMode="auto">
          <a:xfrm>
            <a:off x="411480" y="896040"/>
            <a:ext cx="82749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en-US" sz="2200" b="1" strike="noStrike" spc="0">
                <a:solidFill>
                  <a:srgbClr val="1A2634"/>
                </a:solidFill>
                <a:latin typeface="Microsoft YaHei"/>
                <a:ea typeface="Microsoft YaHei"/>
              </a:rPr>
              <a:t>3.4 </a:t>
            </a:r>
            <a:r>
              <a:rPr lang="zh-CN" sz="2200" b="1" strike="noStrike" spc="0">
                <a:solidFill>
                  <a:srgbClr val="1A2634"/>
                </a:solidFill>
                <a:latin typeface="Microsoft YaHei"/>
                <a:ea typeface="Microsoft YaHei"/>
              </a:rPr>
              <a:t>判别器训练：</a:t>
            </a:r>
            <a:r>
              <a:rPr lang="en-US" sz="2200" b="1" strike="noStrike" spc="0">
                <a:solidFill>
                  <a:srgbClr val="1A2634"/>
                </a:solidFill>
                <a:latin typeface="Microsoft YaHei"/>
                <a:ea typeface="Microsoft YaHei"/>
              </a:rPr>
              <a:t>On-Generator Training </a:t>
            </a:r>
            <a:r>
              <a:rPr lang="zh-CN" sz="2200" b="1" strike="noStrike" spc="0">
                <a:solidFill>
                  <a:srgbClr val="1A2634"/>
                </a:solidFill>
                <a:latin typeface="Microsoft YaHei"/>
                <a:ea typeface="Microsoft YaHei"/>
              </a:rPr>
              <a:t>让评分器学会识别假阳性</a:t>
            </a:r>
            <a:endParaRPr lang="en-US" sz="2200" b="0" strike="noStrike" spc="0">
              <a:latin typeface="Arial"/>
            </a:endParaRPr>
          </a:p>
        </p:txBody>
      </p:sp>
      <p:sp>
        <p:nvSpPr>
          <p:cNvPr id="1671568675" name="Shape 2"/>
          <p:cNvSpPr/>
          <p:nvPr/>
        </p:nvSpPr>
        <p:spPr bwMode="auto">
          <a:xfrm>
            <a:off x="18360" y="1426319"/>
            <a:ext cx="9097920" cy="31680"/>
          </a:xfrm>
          <a:prstGeom prst="rect">
            <a:avLst/>
          </a:prstGeom>
          <a:solidFill>
            <a:srgbClr val="004A98"/>
          </a:solidFill>
          <a:ln w="12700">
            <a:solidFill>
              <a:srgbClr val="004A98">
                <a:alpha val="0"/>
              </a:srgbClr>
            </a:solidFill>
            <a:round/>
          </a:ln>
        </p:spPr>
        <p:style>
          <a:lnRef idx="0">
            <a:scrgbClr r="0" g="0" b="0"/>
          </a:lnRef>
          <a:fillRef idx="0">
            <a:scrgbClr r="0" g="0" b="0"/>
          </a:fillRef>
          <a:effectRef idx="0">
            <a:scrgbClr r="0" g="0" b="0"/>
          </a:effectRef>
          <a:fontRef idx="minor"/>
        </p:style>
      </p:sp>
      <p:sp>
        <p:nvSpPr>
          <p:cNvPr id="1739569956" name="Shape 3"/>
          <p:cNvSpPr/>
          <p:nvPr/>
        </p:nvSpPr>
        <p:spPr bwMode="auto">
          <a:xfrm>
            <a:off x="255960" y="1581840"/>
            <a:ext cx="8631720" cy="4827600"/>
          </a:xfrm>
          <a:prstGeom prst="roundRect">
            <a:avLst>
              <a:gd name="adj" fmla="val 1326"/>
            </a:avLst>
          </a:prstGeom>
          <a:solidFill>
            <a:srgbClr val="FFFFFF"/>
          </a:solidFill>
          <a:ln w="12700">
            <a:solidFill>
              <a:srgbClr val="B8CEE6"/>
            </a:solidFill>
            <a:round/>
          </a:ln>
        </p:spPr>
        <p:style>
          <a:lnRef idx="0">
            <a:scrgbClr r="0" g="0" b="0"/>
          </a:lnRef>
          <a:fillRef idx="0">
            <a:scrgbClr r="0" g="0" b="0"/>
          </a:fillRef>
          <a:effectRef idx="0">
            <a:scrgbClr r="0" g="0" b="0"/>
          </a:effectRef>
          <a:fontRef idx="minor"/>
        </p:style>
      </p:sp>
      <p:sp>
        <p:nvSpPr>
          <p:cNvPr id="517348121" name="Shape 4"/>
          <p:cNvSpPr/>
          <p:nvPr/>
        </p:nvSpPr>
        <p:spPr bwMode="auto">
          <a:xfrm>
            <a:off x="5806440" y="1783080"/>
            <a:ext cx="2541599" cy="2971440"/>
          </a:xfrm>
          <a:prstGeom prst="roundRect">
            <a:avLst>
              <a:gd name="adj" fmla="val 2518"/>
            </a:avLst>
          </a:prstGeom>
          <a:solidFill>
            <a:srgbClr val="FFFFFF"/>
          </a:solidFill>
          <a:ln w="12700">
            <a:solidFill>
              <a:srgbClr val="B8CEE6"/>
            </a:solidFill>
            <a:round/>
          </a:ln>
        </p:spPr>
        <p:style>
          <a:lnRef idx="0">
            <a:scrgbClr r="0" g="0" b="0"/>
          </a:lnRef>
          <a:fillRef idx="0">
            <a:scrgbClr r="0" g="0" b="0"/>
          </a:fillRef>
          <a:effectRef idx="0">
            <a:scrgbClr r="0" g="0" b="0"/>
          </a:effectRef>
          <a:fontRef idx="minor"/>
        </p:style>
      </p:sp>
      <p:pic>
        <p:nvPicPr>
          <p:cNvPr id="329630456" name="Image 1" descr="/mnt/data/graspgen_radar.png"/>
          <p:cNvPicPr/>
          <p:nvPr/>
        </p:nvPicPr>
        <p:blipFill rotWithShape="1">
          <a:blip r:embed="rId4"/>
          <a:srcRect l="9001" t="3002" r="-7754" b="9001"/>
          <a:stretch/>
        </p:blipFill>
        <p:spPr bwMode="auto">
          <a:xfrm>
            <a:off x="5848199" y="1783080"/>
            <a:ext cx="2431800" cy="2587320"/>
          </a:xfrm>
          <a:prstGeom prst="rect">
            <a:avLst/>
          </a:prstGeom>
          <a:ln w="0">
            <a:noFill/>
          </a:ln>
        </p:spPr>
      </p:pic>
      <p:sp>
        <p:nvSpPr>
          <p:cNvPr id="1784029972" name="Shape 5"/>
          <p:cNvSpPr/>
          <p:nvPr/>
        </p:nvSpPr>
        <p:spPr bwMode="auto">
          <a:xfrm>
            <a:off x="5861160" y="4443840"/>
            <a:ext cx="2431800" cy="255600"/>
          </a:xfrm>
          <a:prstGeom prst="rect">
            <a:avLst/>
          </a:prstGeom>
          <a:solidFill>
            <a:srgbClr val="F6FAFF"/>
          </a:solidFill>
          <a:ln w="12700">
            <a:solidFill>
              <a:srgbClr val="F6FAFF">
                <a:alpha val="0"/>
              </a:srgbClr>
            </a:solidFill>
            <a:round/>
          </a:ln>
        </p:spPr>
        <p:style>
          <a:lnRef idx="0">
            <a:scrgbClr r="0" g="0" b="0"/>
          </a:lnRef>
          <a:fillRef idx="0">
            <a:scrgbClr r="0" g="0" b="0"/>
          </a:fillRef>
          <a:effectRef idx="0">
            <a:scrgbClr r="0" g="0" b="0"/>
          </a:effectRef>
          <a:fontRef idx="minor"/>
        </p:style>
      </p:sp>
      <p:sp>
        <p:nvSpPr>
          <p:cNvPr id="854511241" name="Text 6"/>
          <p:cNvSpPr/>
          <p:nvPr/>
        </p:nvSpPr>
        <p:spPr bwMode="auto">
          <a:xfrm>
            <a:off x="5916240" y="4489560"/>
            <a:ext cx="232236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zh-CN" sz="850" b="0" strike="noStrike" spc="0">
                <a:solidFill>
                  <a:srgbClr val="5A6676"/>
                </a:solidFill>
                <a:latin typeface="Microsoft YaHei"/>
                <a:ea typeface="Microsoft YaHei"/>
              </a:rPr>
              <a:t>官方对比结果概览</a:t>
            </a:r>
            <a:endParaRPr lang="en-US" sz="850" b="0" strike="noStrike" spc="0">
              <a:latin typeface="Arial"/>
            </a:endParaRPr>
          </a:p>
        </p:txBody>
      </p:sp>
      <p:sp>
        <p:nvSpPr>
          <p:cNvPr id="2117698994" name="Shape 7"/>
          <p:cNvSpPr/>
          <p:nvPr/>
        </p:nvSpPr>
        <p:spPr bwMode="auto">
          <a:xfrm>
            <a:off x="640080" y="1965960"/>
            <a:ext cx="1234080" cy="676440"/>
          </a:xfrm>
          <a:prstGeom prst="roundRect">
            <a:avLst>
              <a:gd name="adj" fmla="val 10811"/>
            </a:avLst>
          </a:prstGeom>
          <a:solidFill>
            <a:srgbClr val="EAF3FF"/>
          </a:solidFill>
          <a:ln w="13970">
            <a:solidFill>
              <a:srgbClr val="004A98"/>
            </a:solidFill>
            <a:round/>
          </a:ln>
        </p:spPr>
        <p:style>
          <a:lnRef idx="0">
            <a:scrgbClr r="0" g="0" b="0"/>
          </a:lnRef>
          <a:fillRef idx="0">
            <a:scrgbClr r="0" g="0" b="0"/>
          </a:fillRef>
          <a:effectRef idx="0">
            <a:scrgbClr r="0" g="0" b="0"/>
          </a:effectRef>
          <a:fontRef idx="minor"/>
        </p:style>
      </p:sp>
      <p:sp>
        <p:nvSpPr>
          <p:cNvPr id="864075361" name="Text 8"/>
          <p:cNvSpPr/>
          <p:nvPr/>
        </p:nvSpPr>
        <p:spPr bwMode="auto">
          <a:xfrm>
            <a:off x="694800" y="2020680"/>
            <a:ext cx="112428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000" b="1" strike="noStrike" spc="0">
                <a:solidFill>
                  <a:srgbClr val="1A2634"/>
                </a:solidFill>
                <a:latin typeface="Microsoft YaHei"/>
                <a:ea typeface="Microsoft YaHei"/>
              </a:rPr>
              <a:t>① </a:t>
            </a:r>
            <a:r>
              <a:rPr lang="zh-CN" sz="1000" b="1" strike="noStrike" spc="0">
                <a:solidFill>
                  <a:srgbClr val="1A2634"/>
                </a:solidFill>
                <a:latin typeface="Microsoft YaHei"/>
                <a:ea typeface="Microsoft YaHei"/>
              </a:rPr>
              <a:t>训练好的</a:t>
            </a:r>
            <a:endParaRPr lang="en-US" sz="1000" b="0" strike="noStrike" spc="0">
              <a:latin typeface="Arial"/>
            </a:endParaRPr>
          </a:p>
          <a:p>
            <a:pPr algn="ctr">
              <a:lnSpc>
                <a:spcPct val="100000"/>
              </a:lnSpc>
              <a:buNone/>
              <a:tabLst>
                <a:tab pos="0" algn="l"/>
              </a:tabLst>
              <a:defRPr/>
            </a:pPr>
            <a:r>
              <a:rPr lang="en-US" sz="1000" b="1" strike="noStrike" spc="0">
                <a:solidFill>
                  <a:srgbClr val="1A2634"/>
                </a:solidFill>
                <a:latin typeface="Microsoft YaHei"/>
                <a:ea typeface="Microsoft YaHei"/>
              </a:rPr>
              <a:t>Generator</a:t>
            </a:r>
            <a:endParaRPr lang="en-US" sz="1000" b="0" strike="noStrike" spc="0">
              <a:latin typeface="Arial"/>
            </a:endParaRPr>
          </a:p>
        </p:txBody>
      </p:sp>
      <p:sp>
        <p:nvSpPr>
          <p:cNvPr id="826409500" name="Shape 9"/>
          <p:cNvSpPr/>
          <p:nvPr/>
        </p:nvSpPr>
        <p:spPr bwMode="auto">
          <a:xfrm>
            <a:off x="1938240" y="2304000"/>
            <a:ext cx="393480" cy="3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1345046976" name="Shape 10"/>
          <p:cNvSpPr/>
          <p:nvPr/>
        </p:nvSpPr>
        <p:spPr bwMode="auto">
          <a:xfrm>
            <a:off x="2395800" y="1965960"/>
            <a:ext cx="1325520" cy="676440"/>
          </a:xfrm>
          <a:prstGeom prst="roundRect">
            <a:avLst>
              <a:gd name="adj" fmla="val 10811"/>
            </a:avLst>
          </a:prstGeom>
          <a:solidFill>
            <a:srgbClr val="F7F3FF"/>
          </a:solidFill>
          <a:ln w="13970">
            <a:solidFill>
              <a:srgbClr val="7B61FF"/>
            </a:solidFill>
            <a:round/>
          </a:ln>
        </p:spPr>
        <p:style>
          <a:lnRef idx="0">
            <a:scrgbClr r="0" g="0" b="0"/>
          </a:lnRef>
          <a:fillRef idx="0">
            <a:scrgbClr r="0" g="0" b="0"/>
          </a:fillRef>
          <a:effectRef idx="0">
            <a:scrgbClr r="0" g="0" b="0"/>
          </a:effectRef>
          <a:fontRef idx="minor"/>
        </p:style>
      </p:sp>
      <p:sp>
        <p:nvSpPr>
          <p:cNvPr id="957267660" name="Text 11"/>
          <p:cNvSpPr/>
          <p:nvPr/>
        </p:nvSpPr>
        <p:spPr bwMode="auto">
          <a:xfrm>
            <a:off x="2450518" y="2020680"/>
            <a:ext cx="121572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000" b="1" strike="noStrike" spc="0">
                <a:solidFill>
                  <a:srgbClr val="1A2634"/>
                </a:solidFill>
                <a:latin typeface="Microsoft YaHei"/>
                <a:ea typeface="Microsoft YaHei"/>
              </a:rPr>
              <a:t>② </a:t>
            </a:r>
            <a:r>
              <a:rPr lang="zh-CN" sz="1000" b="1" strike="noStrike" spc="0">
                <a:solidFill>
                  <a:srgbClr val="1A2634"/>
                </a:solidFill>
                <a:latin typeface="Microsoft YaHei"/>
                <a:ea typeface="Microsoft YaHei"/>
              </a:rPr>
              <a:t>生成大量</a:t>
            </a:r>
            <a:endParaRPr lang="en-US" sz="1000" b="0" strike="noStrike" spc="0">
              <a:latin typeface="Arial"/>
            </a:endParaRPr>
          </a:p>
          <a:p>
            <a:pPr algn="ctr">
              <a:lnSpc>
                <a:spcPct val="100000"/>
              </a:lnSpc>
              <a:buNone/>
              <a:tabLst>
                <a:tab pos="0" algn="l"/>
              </a:tabLst>
              <a:defRPr/>
            </a:pPr>
            <a:r>
              <a:rPr lang="zh-CN" sz="1000" b="1" strike="noStrike" spc="0">
                <a:solidFill>
                  <a:srgbClr val="1A2634"/>
                </a:solidFill>
                <a:latin typeface="Microsoft YaHei"/>
                <a:ea typeface="Microsoft YaHei"/>
              </a:rPr>
              <a:t>候选 </a:t>
            </a:r>
            <a:r>
              <a:rPr lang="en-US" sz="1000" b="1" strike="noStrike" spc="0">
                <a:solidFill>
                  <a:srgbClr val="1A2634"/>
                </a:solidFill>
                <a:latin typeface="Microsoft YaHei"/>
                <a:ea typeface="Microsoft YaHei"/>
              </a:rPr>
              <a:t>grasp</a:t>
            </a:r>
            <a:endParaRPr lang="en-US" sz="1000" b="0" strike="noStrike" spc="0">
              <a:latin typeface="Arial"/>
            </a:endParaRPr>
          </a:p>
        </p:txBody>
      </p:sp>
      <p:sp>
        <p:nvSpPr>
          <p:cNvPr id="1880120293" name="Shape 12"/>
          <p:cNvSpPr/>
          <p:nvPr/>
        </p:nvSpPr>
        <p:spPr bwMode="auto">
          <a:xfrm>
            <a:off x="3785400" y="2304000"/>
            <a:ext cx="393120" cy="3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915616552" name="Shape 13"/>
          <p:cNvSpPr/>
          <p:nvPr/>
        </p:nvSpPr>
        <p:spPr bwMode="auto">
          <a:xfrm>
            <a:off x="4242960" y="1965960"/>
            <a:ext cx="1325520" cy="676440"/>
          </a:xfrm>
          <a:prstGeom prst="roundRect">
            <a:avLst>
              <a:gd name="adj" fmla="val 10811"/>
            </a:avLst>
          </a:prstGeom>
          <a:solidFill>
            <a:srgbClr val="FFF4E8"/>
          </a:solidFill>
          <a:ln w="13970">
            <a:solidFill>
              <a:srgbClr val="F39C35"/>
            </a:solidFill>
            <a:round/>
          </a:ln>
        </p:spPr>
        <p:style>
          <a:lnRef idx="0">
            <a:scrgbClr r="0" g="0" b="0"/>
          </a:lnRef>
          <a:fillRef idx="0">
            <a:scrgbClr r="0" g="0" b="0"/>
          </a:fillRef>
          <a:effectRef idx="0">
            <a:scrgbClr r="0" g="0" b="0"/>
          </a:effectRef>
          <a:fontRef idx="minor"/>
        </p:style>
      </p:sp>
      <p:sp>
        <p:nvSpPr>
          <p:cNvPr id="1247150514" name="Text 14"/>
          <p:cNvSpPr/>
          <p:nvPr/>
        </p:nvSpPr>
        <p:spPr bwMode="auto">
          <a:xfrm>
            <a:off x="4297680" y="2020680"/>
            <a:ext cx="121572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000" b="1" strike="noStrike" spc="0">
                <a:solidFill>
                  <a:srgbClr val="1A2634"/>
                </a:solidFill>
                <a:latin typeface="Microsoft YaHei"/>
                <a:ea typeface="Microsoft YaHei"/>
              </a:rPr>
              <a:t>③ </a:t>
            </a:r>
            <a:r>
              <a:rPr lang="zh-CN" sz="1000" b="1" strike="noStrike" spc="0">
                <a:solidFill>
                  <a:srgbClr val="1A2634"/>
                </a:solidFill>
                <a:latin typeface="Microsoft YaHei"/>
                <a:ea typeface="Microsoft YaHei"/>
              </a:rPr>
              <a:t>仿真重标注</a:t>
            </a:r>
            <a:endParaRPr lang="en-US" sz="1000" b="0" strike="noStrike" spc="0">
              <a:latin typeface="Arial"/>
            </a:endParaRPr>
          </a:p>
          <a:p>
            <a:pPr algn="ctr">
              <a:lnSpc>
                <a:spcPct val="100000"/>
              </a:lnSpc>
              <a:buNone/>
              <a:tabLst>
                <a:tab pos="0" algn="l"/>
              </a:tabLst>
              <a:defRPr/>
            </a:pPr>
            <a:r>
              <a:rPr lang="zh-CN" sz="1000" b="1" strike="noStrike" spc="0">
                <a:solidFill>
                  <a:srgbClr val="1A2634"/>
                </a:solidFill>
                <a:latin typeface="Microsoft YaHei"/>
                <a:ea typeface="Microsoft YaHei"/>
              </a:rPr>
              <a:t>成功 </a:t>
            </a:r>
            <a:r>
              <a:rPr lang="en-US" sz="1000" b="1" strike="noStrike" spc="0">
                <a:solidFill>
                  <a:srgbClr val="1A2634"/>
                </a:solidFill>
                <a:latin typeface="Microsoft YaHei"/>
                <a:ea typeface="Microsoft YaHei"/>
              </a:rPr>
              <a:t>/ </a:t>
            </a:r>
            <a:r>
              <a:rPr lang="zh-CN" sz="1000" b="1" strike="noStrike" spc="0">
                <a:solidFill>
                  <a:srgbClr val="1A2634"/>
                </a:solidFill>
                <a:latin typeface="Microsoft YaHei"/>
                <a:ea typeface="Microsoft YaHei"/>
              </a:rPr>
              <a:t>失败</a:t>
            </a:r>
            <a:endParaRPr lang="en-US" sz="1000" b="0" strike="noStrike" spc="0">
              <a:latin typeface="Arial"/>
            </a:endParaRPr>
          </a:p>
        </p:txBody>
      </p:sp>
      <p:sp>
        <p:nvSpPr>
          <p:cNvPr id="1018612415" name="Shape 15"/>
          <p:cNvSpPr/>
          <p:nvPr/>
        </p:nvSpPr>
        <p:spPr bwMode="auto">
          <a:xfrm>
            <a:off x="5641560" y="2304000"/>
            <a:ext cx="338400" cy="360"/>
          </a:xfrm>
          <a:prstGeom prst="line">
            <a:avLst/>
          </a:prstGeom>
          <a:ln w="19050">
            <a:solidFill>
              <a:srgbClr val="004A98"/>
            </a:solidFill>
            <a:round/>
            <a:tailEnd type="triangle" w="med" len="med"/>
          </a:ln>
        </p:spPr>
        <p:style>
          <a:lnRef idx="0">
            <a:scrgbClr r="0" g="0" b="0"/>
          </a:lnRef>
          <a:fillRef idx="0">
            <a:scrgbClr r="0" g="0" b="0"/>
          </a:fillRef>
          <a:effectRef idx="0">
            <a:scrgbClr r="0" g="0" b="0"/>
          </a:effectRef>
          <a:fontRef idx="minor"/>
        </p:style>
      </p:sp>
      <p:sp>
        <p:nvSpPr>
          <p:cNvPr id="640211758" name="Shape 16"/>
          <p:cNvSpPr/>
          <p:nvPr/>
        </p:nvSpPr>
        <p:spPr bwMode="auto">
          <a:xfrm>
            <a:off x="640080" y="3355920"/>
            <a:ext cx="1325520" cy="676440"/>
          </a:xfrm>
          <a:prstGeom prst="roundRect">
            <a:avLst>
              <a:gd name="adj" fmla="val 10811"/>
            </a:avLst>
          </a:prstGeom>
          <a:solidFill>
            <a:srgbClr val="ECFFF1"/>
          </a:solidFill>
          <a:ln w="13970">
            <a:solidFill>
              <a:srgbClr val="4B9F45"/>
            </a:solidFill>
            <a:round/>
          </a:ln>
        </p:spPr>
        <p:style>
          <a:lnRef idx="0">
            <a:scrgbClr r="0" g="0" b="0"/>
          </a:lnRef>
          <a:fillRef idx="0">
            <a:scrgbClr r="0" g="0" b="0"/>
          </a:fillRef>
          <a:effectRef idx="0">
            <a:scrgbClr r="0" g="0" b="0"/>
          </a:effectRef>
          <a:fontRef idx="minor"/>
        </p:style>
      </p:sp>
      <p:sp>
        <p:nvSpPr>
          <p:cNvPr id="551818140" name="Text 17"/>
          <p:cNvSpPr/>
          <p:nvPr/>
        </p:nvSpPr>
        <p:spPr bwMode="auto">
          <a:xfrm>
            <a:off x="694800" y="3410640"/>
            <a:ext cx="121572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000" b="1" strike="noStrike" spc="0">
                <a:solidFill>
                  <a:srgbClr val="1A2634"/>
                </a:solidFill>
                <a:latin typeface="Microsoft YaHei"/>
                <a:ea typeface="Microsoft YaHei"/>
              </a:rPr>
              <a:t>④ </a:t>
            </a:r>
            <a:r>
              <a:rPr lang="zh-CN" sz="1000" b="1" strike="noStrike" spc="0">
                <a:solidFill>
                  <a:srgbClr val="1A2634"/>
                </a:solidFill>
                <a:latin typeface="Microsoft YaHei"/>
                <a:ea typeface="Microsoft YaHei"/>
              </a:rPr>
              <a:t>训练</a:t>
            </a:r>
            <a:endParaRPr lang="en-US" sz="1000" b="0" strike="noStrike" spc="0">
              <a:latin typeface="Arial"/>
            </a:endParaRPr>
          </a:p>
          <a:p>
            <a:pPr algn="ctr">
              <a:lnSpc>
                <a:spcPct val="100000"/>
              </a:lnSpc>
              <a:buNone/>
              <a:tabLst>
                <a:tab pos="0" algn="l"/>
              </a:tabLst>
              <a:defRPr/>
            </a:pPr>
            <a:r>
              <a:rPr lang="en-US" sz="1000" b="1" strike="noStrike" spc="0">
                <a:solidFill>
                  <a:srgbClr val="1A2634"/>
                </a:solidFill>
                <a:latin typeface="Microsoft YaHei"/>
                <a:ea typeface="Microsoft YaHei"/>
              </a:rPr>
              <a:t>Discriminator</a:t>
            </a:r>
            <a:endParaRPr lang="en-US" sz="1000" b="0" strike="noStrike" spc="0">
              <a:latin typeface="Arial"/>
            </a:endParaRPr>
          </a:p>
        </p:txBody>
      </p:sp>
      <p:sp>
        <p:nvSpPr>
          <p:cNvPr id="566927522" name="Shape 18"/>
          <p:cNvSpPr/>
          <p:nvPr/>
        </p:nvSpPr>
        <p:spPr bwMode="auto">
          <a:xfrm>
            <a:off x="2039040" y="3693960"/>
            <a:ext cx="393120" cy="360"/>
          </a:xfrm>
          <a:prstGeom prst="line">
            <a:avLst/>
          </a:prstGeom>
          <a:ln w="19050">
            <a:solidFill>
              <a:srgbClr val="4B9F45"/>
            </a:solidFill>
            <a:round/>
            <a:tailEnd type="triangle" w="med" len="med"/>
          </a:ln>
        </p:spPr>
        <p:style>
          <a:lnRef idx="0">
            <a:scrgbClr r="0" g="0" b="0"/>
          </a:lnRef>
          <a:fillRef idx="0">
            <a:scrgbClr r="0" g="0" b="0"/>
          </a:fillRef>
          <a:effectRef idx="0">
            <a:scrgbClr r="0" g="0" b="0"/>
          </a:effectRef>
          <a:fontRef idx="minor"/>
        </p:style>
      </p:sp>
      <p:sp>
        <p:nvSpPr>
          <p:cNvPr id="67142808" name="Shape 19"/>
          <p:cNvSpPr/>
          <p:nvPr/>
        </p:nvSpPr>
        <p:spPr bwMode="auto">
          <a:xfrm>
            <a:off x="2496240" y="3355920"/>
            <a:ext cx="1462680" cy="676440"/>
          </a:xfrm>
          <a:prstGeom prst="roundRect">
            <a:avLst>
              <a:gd name="adj" fmla="val 10811"/>
            </a:avLst>
          </a:prstGeom>
          <a:solidFill>
            <a:srgbClr val="ECFFF1"/>
          </a:solidFill>
          <a:ln w="13970">
            <a:solidFill>
              <a:srgbClr val="4B9F45"/>
            </a:solidFill>
            <a:round/>
          </a:ln>
        </p:spPr>
        <p:style>
          <a:lnRef idx="0">
            <a:scrgbClr r="0" g="0" b="0"/>
          </a:lnRef>
          <a:fillRef idx="0">
            <a:scrgbClr r="0" g="0" b="0"/>
          </a:fillRef>
          <a:effectRef idx="0">
            <a:scrgbClr r="0" g="0" b="0"/>
          </a:effectRef>
          <a:fontRef idx="minor"/>
        </p:style>
      </p:sp>
      <p:sp>
        <p:nvSpPr>
          <p:cNvPr id="870824319" name="Text 20"/>
          <p:cNvSpPr/>
          <p:nvPr/>
        </p:nvSpPr>
        <p:spPr bwMode="auto">
          <a:xfrm>
            <a:off x="2551320" y="3410640"/>
            <a:ext cx="135288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000" b="1" strike="noStrike" spc="0">
                <a:solidFill>
                  <a:srgbClr val="1A2634"/>
                </a:solidFill>
                <a:latin typeface="Microsoft YaHei"/>
                <a:ea typeface="Microsoft YaHei"/>
              </a:rPr>
              <a:t>score </a:t>
            </a:r>
            <a:r>
              <a:rPr lang="zh-CN" sz="1000" b="1" strike="noStrike" spc="0">
                <a:solidFill>
                  <a:srgbClr val="1A2634"/>
                </a:solidFill>
                <a:latin typeface="Microsoft YaHei"/>
                <a:ea typeface="Microsoft YaHei"/>
              </a:rPr>
              <a:t>排序</a:t>
            </a:r>
            <a:endParaRPr lang="en-US" sz="1000" b="0" strike="noStrike" spc="0">
              <a:latin typeface="Arial"/>
            </a:endParaRPr>
          </a:p>
          <a:p>
            <a:pPr algn="ctr">
              <a:lnSpc>
                <a:spcPct val="100000"/>
              </a:lnSpc>
              <a:buNone/>
              <a:tabLst>
                <a:tab pos="0" algn="l"/>
              </a:tabLst>
              <a:defRPr/>
            </a:pPr>
            <a:r>
              <a:rPr lang="zh-CN" sz="1000" b="1" strike="noStrike" spc="0">
                <a:solidFill>
                  <a:srgbClr val="1A2634"/>
                </a:solidFill>
                <a:latin typeface="Microsoft YaHei"/>
                <a:ea typeface="Microsoft YaHei"/>
              </a:rPr>
              <a:t>过滤假阳性</a:t>
            </a:r>
            <a:endParaRPr lang="en-US" sz="1000" b="0" strike="noStrike" spc="0">
              <a:latin typeface="Arial"/>
            </a:endParaRPr>
          </a:p>
        </p:txBody>
      </p:sp>
      <p:sp>
        <p:nvSpPr>
          <p:cNvPr id="203027957" name="Shape 21"/>
          <p:cNvSpPr/>
          <p:nvPr/>
        </p:nvSpPr>
        <p:spPr bwMode="auto">
          <a:xfrm>
            <a:off x="4041360" y="3693960"/>
            <a:ext cx="393480" cy="360"/>
          </a:xfrm>
          <a:prstGeom prst="line">
            <a:avLst/>
          </a:prstGeom>
          <a:ln w="19050">
            <a:solidFill>
              <a:srgbClr val="4B9F45"/>
            </a:solidFill>
            <a:round/>
            <a:tailEnd type="triangle" w="med" len="med"/>
          </a:ln>
        </p:spPr>
        <p:style>
          <a:lnRef idx="0">
            <a:scrgbClr r="0" g="0" b="0"/>
          </a:lnRef>
          <a:fillRef idx="0">
            <a:scrgbClr r="0" g="0" b="0"/>
          </a:fillRef>
          <a:effectRef idx="0">
            <a:scrgbClr r="0" g="0" b="0"/>
          </a:effectRef>
          <a:fontRef idx="minor"/>
        </p:style>
      </p:sp>
      <p:sp>
        <p:nvSpPr>
          <p:cNvPr id="451711293" name="Shape 22"/>
          <p:cNvSpPr/>
          <p:nvPr/>
        </p:nvSpPr>
        <p:spPr bwMode="auto">
          <a:xfrm>
            <a:off x="4498920" y="3355920"/>
            <a:ext cx="1261440" cy="676440"/>
          </a:xfrm>
          <a:prstGeom prst="roundRect">
            <a:avLst>
              <a:gd name="adj" fmla="val 10811"/>
            </a:avLst>
          </a:prstGeom>
          <a:solidFill>
            <a:srgbClr val="F6FAFF"/>
          </a:solidFill>
          <a:ln w="13970">
            <a:solidFill>
              <a:srgbClr val="004A98"/>
            </a:solidFill>
            <a:round/>
          </a:ln>
        </p:spPr>
        <p:style>
          <a:lnRef idx="0">
            <a:scrgbClr r="0" g="0" b="0"/>
          </a:lnRef>
          <a:fillRef idx="0">
            <a:scrgbClr r="0" g="0" b="0"/>
          </a:fillRef>
          <a:effectRef idx="0">
            <a:scrgbClr r="0" g="0" b="0"/>
          </a:effectRef>
          <a:fontRef idx="minor"/>
        </p:style>
      </p:sp>
      <p:sp>
        <p:nvSpPr>
          <p:cNvPr id="680831130" name="Text 23"/>
          <p:cNvSpPr/>
          <p:nvPr/>
        </p:nvSpPr>
        <p:spPr bwMode="auto">
          <a:xfrm>
            <a:off x="4553640" y="3410640"/>
            <a:ext cx="115164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a:lnSpc>
                <a:spcPct val="100000"/>
              </a:lnSpc>
              <a:buNone/>
              <a:tabLst>
                <a:tab pos="0" algn="l"/>
              </a:tabLst>
              <a:defRPr/>
            </a:pPr>
            <a:r>
              <a:rPr lang="en-US" sz="1000" b="1" strike="noStrike" spc="0">
                <a:solidFill>
                  <a:srgbClr val="1A2634"/>
                </a:solidFill>
                <a:latin typeface="Microsoft YaHei"/>
                <a:ea typeface="Microsoft YaHei"/>
              </a:rPr>
              <a:t>Top-k </a:t>
            </a:r>
            <a:r>
              <a:rPr lang="zh-CN" sz="1000" b="1" strike="noStrike" spc="0">
                <a:solidFill>
                  <a:srgbClr val="1A2634"/>
                </a:solidFill>
                <a:latin typeface="Microsoft YaHei"/>
                <a:ea typeface="Microsoft YaHei"/>
              </a:rPr>
              <a:t>可用</a:t>
            </a:r>
            <a:endParaRPr lang="en-US" sz="1000" b="0" strike="noStrike" spc="0">
              <a:latin typeface="Arial"/>
            </a:endParaRPr>
          </a:p>
          <a:p>
            <a:pPr algn="ctr">
              <a:lnSpc>
                <a:spcPct val="100000"/>
              </a:lnSpc>
              <a:buNone/>
              <a:tabLst>
                <a:tab pos="0" algn="l"/>
              </a:tabLst>
              <a:defRPr/>
            </a:pPr>
            <a:r>
              <a:rPr lang="zh-CN" sz="1000" b="1" strike="noStrike" spc="0">
                <a:solidFill>
                  <a:srgbClr val="1A2634"/>
                </a:solidFill>
                <a:latin typeface="Microsoft YaHei"/>
                <a:ea typeface="Microsoft YaHei"/>
              </a:rPr>
              <a:t>抓取结果</a:t>
            </a:r>
            <a:endParaRPr lang="en-US" sz="1000" b="0" strike="noStrike" spc="0">
              <a:latin typeface="Arial"/>
            </a:endParaRPr>
          </a:p>
        </p:txBody>
      </p:sp>
      <p:sp>
        <p:nvSpPr>
          <p:cNvPr id="69702123" name="Shape 24"/>
          <p:cNvSpPr/>
          <p:nvPr/>
        </p:nvSpPr>
        <p:spPr bwMode="auto">
          <a:xfrm>
            <a:off x="640080" y="4626720"/>
            <a:ext cx="4983119" cy="868320"/>
          </a:xfrm>
          <a:prstGeom prst="roundRect">
            <a:avLst>
              <a:gd name="adj" fmla="val 7368"/>
            </a:avLst>
          </a:prstGeom>
          <a:solidFill>
            <a:srgbClr val="F6FAFF"/>
          </a:solidFill>
          <a:ln w="12700">
            <a:solidFill>
              <a:srgbClr val="D9E6F5"/>
            </a:solidFill>
            <a:round/>
          </a:ln>
        </p:spPr>
        <p:style>
          <a:lnRef idx="0">
            <a:scrgbClr r="0" g="0" b="0"/>
          </a:lnRef>
          <a:fillRef idx="0">
            <a:scrgbClr r="0" g="0" b="0"/>
          </a:fillRef>
          <a:effectRef idx="0">
            <a:scrgbClr r="0" g="0" b="0"/>
          </a:effectRef>
          <a:fontRef idx="minor"/>
        </p:style>
      </p:sp>
      <p:sp>
        <p:nvSpPr>
          <p:cNvPr id="859737778" name="Text 25"/>
          <p:cNvSpPr/>
          <p:nvPr/>
        </p:nvSpPr>
        <p:spPr bwMode="auto">
          <a:xfrm>
            <a:off x="859680" y="4773240"/>
            <a:ext cx="3108600" cy="191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zh-CN" sz="1200" b="1" strike="noStrike" spc="0">
                <a:solidFill>
                  <a:srgbClr val="004A98"/>
                </a:solidFill>
                <a:latin typeface="Microsoft YaHei"/>
                <a:ea typeface="Microsoft YaHei"/>
              </a:rPr>
              <a:t>为什么需要 </a:t>
            </a:r>
            <a:r>
              <a:rPr lang="en-US" sz="1200" b="1" strike="noStrike" spc="0">
                <a:solidFill>
                  <a:srgbClr val="004A98"/>
                </a:solidFill>
                <a:latin typeface="Microsoft YaHei"/>
                <a:ea typeface="Microsoft YaHei"/>
              </a:rPr>
              <a:t>On-Generator Training</a:t>
            </a:r>
            <a:r>
              <a:rPr lang="zh-CN" sz="1200" b="1" strike="noStrike" spc="0">
                <a:solidFill>
                  <a:srgbClr val="004A98"/>
                </a:solidFill>
                <a:latin typeface="Microsoft YaHei"/>
                <a:ea typeface="Microsoft YaHei"/>
              </a:rPr>
              <a:t>？</a:t>
            </a:r>
            <a:endParaRPr lang="en-US" sz="1200" b="0" strike="noStrike" spc="0">
              <a:latin typeface="Arial"/>
            </a:endParaRPr>
          </a:p>
        </p:txBody>
      </p:sp>
      <p:sp>
        <p:nvSpPr>
          <p:cNvPr id="568572138" name="Text 26"/>
          <p:cNvSpPr/>
          <p:nvPr/>
        </p:nvSpPr>
        <p:spPr bwMode="auto">
          <a:xfrm>
            <a:off x="859680" y="5029199"/>
            <a:ext cx="4525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1500" lnSpcReduction="20000"/>
          </a:bodyPr>
          <a:lstStyle/>
          <a:p>
            <a:pPr>
              <a:lnSpc>
                <a:spcPct val="100000"/>
              </a:lnSpc>
              <a:buNone/>
              <a:tabLst>
                <a:tab pos="0" algn="l"/>
              </a:tabLst>
              <a:defRPr/>
            </a:pPr>
            <a:r>
              <a:rPr lang="zh-CN" sz="1200" b="0" strike="noStrike" spc="0" dirty="0">
                <a:solidFill>
                  <a:srgbClr val="1A2634"/>
                </a:solidFill>
                <a:latin typeface="Microsoft YaHei"/>
                <a:ea typeface="Microsoft YaHei"/>
              </a:rPr>
              <a:t>普通离线数据训练的判别器很难见到生成器真实会犯的错误；</a:t>
            </a:r>
            <a:r>
              <a:rPr lang="en-US" sz="1200" b="0" strike="noStrike" spc="0" dirty="0">
                <a:solidFill>
                  <a:srgbClr val="1A2634"/>
                </a:solidFill>
                <a:latin typeface="Microsoft YaHei"/>
                <a:ea typeface="Microsoft YaHei"/>
              </a:rPr>
              <a:t>On-Generator </a:t>
            </a:r>
            <a:r>
              <a:rPr lang="zh-CN" sz="1200" b="0" strike="noStrike" spc="0" dirty="0">
                <a:solidFill>
                  <a:srgbClr val="1A2634"/>
                </a:solidFill>
                <a:latin typeface="Microsoft YaHei"/>
                <a:ea typeface="Microsoft YaHei"/>
              </a:rPr>
              <a:t>数据直接来自当前生成器，因此更能学习“看起来合理但实际失败”的候选。</a:t>
            </a:r>
            <a:endParaRPr lang="en-US" sz="1200" b="0" strike="noStrike" spc="0" dirty="0">
              <a:latin typeface="Arial"/>
            </a:endParaRPr>
          </a:p>
        </p:txBody>
      </p:sp>
      <p:sp>
        <p:nvSpPr>
          <p:cNvPr id="1639035752" name="Text 27"/>
          <p:cNvSpPr/>
          <p:nvPr/>
        </p:nvSpPr>
        <p:spPr bwMode="auto">
          <a:xfrm>
            <a:off x="475560" y="6464880"/>
            <a:ext cx="795492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zh-CN" sz="750" b="0" strike="noStrike" spc="0">
                <a:solidFill>
                  <a:srgbClr val="6E7684"/>
                </a:solidFill>
                <a:latin typeface="Microsoft YaHei"/>
                <a:ea typeface="Microsoft YaHei"/>
              </a:rPr>
              <a:t>图源：</a:t>
            </a:r>
            <a:r>
              <a:rPr lang="en-US" sz="750" b="0" strike="noStrike" spc="0">
                <a:solidFill>
                  <a:srgbClr val="6E7684"/>
                </a:solidFill>
                <a:latin typeface="Microsoft YaHei"/>
                <a:ea typeface="Microsoft YaHei"/>
              </a:rPr>
              <a:t>NVlabs / GraspGen </a:t>
            </a:r>
            <a:r>
              <a:rPr lang="zh-CN" sz="750" b="0" strike="noStrike" spc="0">
                <a:solidFill>
                  <a:srgbClr val="6E7684"/>
                </a:solidFill>
                <a:latin typeface="Microsoft YaHei"/>
                <a:ea typeface="Microsoft YaHei"/>
              </a:rPr>
              <a:t>官方 </a:t>
            </a:r>
            <a:r>
              <a:rPr lang="en-US" sz="750" b="0" strike="noStrike" spc="0">
                <a:solidFill>
                  <a:srgbClr val="6E7684"/>
                </a:solidFill>
                <a:latin typeface="Microsoft YaHei"/>
                <a:ea typeface="Microsoft YaHei"/>
              </a:rPr>
              <a:t>GitHub</a:t>
            </a:r>
            <a:r>
              <a:rPr lang="zh-CN" sz="750" b="0" strike="noStrike" spc="0">
                <a:solidFill>
                  <a:srgbClr val="6E7684"/>
                </a:solidFill>
                <a:latin typeface="Microsoft YaHei"/>
                <a:ea typeface="Microsoft YaHei"/>
              </a:rPr>
              <a:t>；内容依据 </a:t>
            </a:r>
            <a:r>
              <a:rPr lang="en-US" sz="750" b="0" strike="noStrike" spc="0">
                <a:solidFill>
                  <a:srgbClr val="6E7684"/>
                </a:solidFill>
                <a:latin typeface="Microsoft YaHei"/>
                <a:ea typeface="Microsoft YaHei"/>
              </a:rPr>
              <a:t>GraspGen </a:t>
            </a:r>
            <a:r>
              <a:rPr lang="zh-CN" sz="750" b="0" strike="noStrike" spc="0">
                <a:solidFill>
                  <a:srgbClr val="6E7684"/>
                </a:solidFill>
                <a:latin typeface="Microsoft YaHei"/>
                <a:ea typeface="Microsoft YaHei"/>
              </a:rPr>
              <a:t>官方资料整理</a:t>
            </a:r>
            <a:endParaRPr lang="en-US" sz="750" b="0" strike="noStrike" spc="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43399485" name="Rounded Rectangle 3"/>
          <p:cNvSpPr/>
          <p:nvPr/>
        </p:nvSpPr>
        <p:spPr bwMode="auto">
          <a:xfrm>
            <a:off x="342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sp>
        <p:nvSpPr>
          <p:cNvPr id="973031717" name="PlaceHolder 2"/>
          <p:cNvSpPr>
            <a:spLocks noGrp="1"/>
          </p:cNvSpPr>
          <p:nvPr>
            <p:ph type="title"/>
          </p:nvPr>
        </p:nvSpPr>
        <p:spPr bwMode="auto">
          <a:xfrm>
            <a:off x="320040" y="960120"/>
            <a:ext cx="8366400" cy="411120"/>
          </a:xfrm>
          <a:prstGeom prst="rect">
            <a:avLst/>
          </a:prstGeom>
          <a:noFill/>
          <a:ln w="0">
            <a:noFill/>
          </a:ln>
        </p:spPr>
        <p:txBody>
          <a:bodyPr vertOverflow="overflow" horzOverflow="overflow" vert="horz" wrap="square" lIns="91440" tIns="45720" rIns="91440" bIns="45720" numCol="1" spcCol="0" rtlCol="0" fromWordArt="0" anchor="ctr" anchorCtr="0" forceAA="0" compatLnSpc="0">
            <a:normAutofit fontScale="90000"/>
          </a:bodyPr>
          <a:lstStyle/>
          <a:p>
            <a:pPr marL="0" marR="0" indent="0" algn="l">
              <a:lnSpc>
                <a:spcPct val="90000"/>
              </a:lnSpc>
              <a:spcBef>
                <a:spcPts val="0"/>
              </a:spcBef>
              <a:spcAft>
                <a:spcPts val="0"/>
              </a:spcAft>
              <a:buNone/>
              <a:defRPr/>
            </a:pPr>
            <a:r>
              <a:rPr lang="zh-CN" sz="2200" b="1" strike="noStrike" spc="0">
                <a:solidFill>
                  <a:srgbClr val="004993"/>
                </a:solidFill>
                <a:latin typeface="Noto Sans CJK SC"/>
                <a:ea typeface="等线"/>
              </a:rPr>
              <a:t>3.5</a:t>
            </a:r>
            <a:r>
              <a:rPr lang="en-US" sz="2200" b="1" strike="noStrike" spc="0">
                <a:solidFill>
                  <a:srgbClr val="004993"/>
                </a:solidFill>
                <a:latin typeface="Noto Sans CJK SC"/>
                <a:ea typeface="等线"/>
              </a:rPr>
              <a:t> </a:t>
            </a:r>
            <a:r>
              <a:rPr lang="en-US" sz="2100" b="1" i="0" u="none" strike="noStrike" cap="none" spc="0">
                <a:solidFill>
                  <a:schemeClr val="accent1"/>
                </a:solidFill>
                <a:latin typeface="Open Sans"/>
                <a:cs typeface="Open Sans"/>
              </a:rPr>
              <a:t>训练策略</a:t>
            </a:r>
          </a:p>
        </p:txBody>
      </p:sp>
      <p:graphicFrame>
        <p:nvGraphicFramePr>
          <p:cNvPr id="2096298824" name="表格 2096298823"/>
          <p:cNvGraphicFramePr>
            <a:graphicFrameLocks/>
          </p:cNvGraphicFramePr>
          <p:nvPr>
            <p:extLst>
              <p:ext uri="{D42A27DB-BD31-4B8C-83A1-F6EECF244321}">
                <p14:modId xmlns:p14="http://schemas.microsoft.com/office/powerpoint/2010/main" val="1997178935"/>
              </p:ext>
            </p:extLst>
          </p:nvPr>
        </p:nvGraphicFramePr>
        <p:xfrm>
          <a:off x="705046" y="2339423"/>
          <a:ext cx="5155701" cy="3291840"/>
        </p:xfrm>
        <a:graphic>
          <a:graphicData uri="http://schemas.openxmlformats.org/drawingml/2006/table">
            <a:tbl>
              <a:tblPr firstRow="1" bandRow="1" bandCol="1">
                <a:tableStyleId>{5C22544A-7EE6-4342-B048-85BDC9FD1C3A}</a:tableStyleId>
              </a:tblPr>
              <a:tblGrid>
                <a:gridCol w="1718567">
                  <a:extLst>
                    <a:ext uri="{9D8B030D-6E8A-4147-A177-3AD203B41FA5}">
                      <a16:colId xmlns:a16="http://schemas.microsoft.com/office/drawing/2014/main" val="20000"/>
                    </a:ext>
                  </a:extLst>
                </a:gridCol>
                <a:gridCol w="1718567">
                  <a:extLst>
                    <a:ext uri="{9D8B030D-6E8A-4147-A177-3AD203B41FA5}">
                      <a16:colId xmlns:a16="http://schemas.microsoft.com/office/drawing/2014/main" val="20001"/>
                    </a:ext>
                  </a:extLst>
                </a:gridCol>
                <a:gridCol w="1718567">
                  <a:extLst>
                    <a:ext uri="{9D8B030D-6E8A-4147-A177-3AD203B41FA5}">
                      <a16:colId xmlns:a16="http://schemas.microsoft.com/office/drawing/2014/main" val="20002"/>
                    </a:ext>
                  </a:extLst>
                </a:gridCol>
              </a:tblGrid>
              <a:tr h="255324">
                <a:tc>
                  <a:txBody>
                    <a:bodyPr/>
                    <a:lstStyle/>
                    <a:p>
                      <a:pPr>
                        <a:defRPr/>
                      </a:pPr>
                      <a:r>
                        <a:rPr sz="1400"/>
                        <a:t>维度</a:t>
                      </a:r>
                    </a:p>
                  </a:txBody>
                  <a:tcPr/>
                </a:tc>
                <a:tc>
                  <a:txBody>
                    <a:bodyPr/>
                    <a:lstStyle/>
                    <a:p>
                      <a:pPr>
                        <a:defRPr/>
                      </a:pPr>
                      <a:r>
                        <a:rPr sz="1400"/>
                        <a:t>原配置 (8×A100)</a:t>
                      </a:r>
                    </a:p>
                  </a:txBody>
                  <a:tcPr/>
                </a:tc>
                <a:tc>
                  <a:txBody>
                    <a:bodyPr/>
                    <a:lstStyle/>
                    <a:p>
                      <a:pPr>
                        <a:defRPr/>
                      </a:pPr>
                      <a:r>
                        <a:rPr sz="1400"/>
                        <a:t>适配后 (RTX 3060 6GB)</a:t>
                      </a:r>
                    </a:p>
                  </a:txBody>
                  <a:tcPr/>
                </a:tc>
                <a:extLst>
                  <a:ext uri="{0D108BD9-81ED-4DB2-BD59-A6C34878D82A}">
                    <a16:rowId xmlns:a16="http://schemas.microsoft.com/office/drawing/2014/main" val="10000"/>
                  </a:ext>
                </a:extLst>
              </a:tr>
              <a:tr h="253440">
                <a:tc>
                  <a:txBody>
                    <a:bodyPr/>
                    <a:lstStyle/>
                    <a:p>
                      <a:pPr>
                        <a:defRPr/>
                      </a:pPr>
                      <a:r>
                        <a:rPr sz="1400"/>
                        <a:t>backbone</a:t>
                      </a:r>
                    </a:p>
                  </a:txBody>
                  <a:tcPr/>
                </a:tc>
                <a:tc>
                  <a:txBody>
                    <a:bodyPr/>
                    <a:lstStyle/>
                    <a:p>
                      <a:pPr>
                        <a:defRPr/>
                      </a:pPr>
                      <a:r>
                        <a:rPr sz="1400"/>
                        <a:t>PTV3</a:t>
                      </a:r>
                    </a:p>
                  </a:txBody>
                  <a:tcPr/>
                </a:tc>
                <a:tc>
                  <a:txBody>
                    <a:bodyPr/>
                    <a:lstStyle/>
                    <a:p>
                      <a:pPr>
                        <a:defRPr/>
                      </a:pPr>
                      <a:r>
                        <a:rPr sz="1400"/>
                        <a:t>PointNet (1.5M params)</a:t>
                      </a:r>
                    </a:p>
                  </a:txBody>
                  <a:tcPr/>
                </a:tc>
                <a:extLst>
                  <a:ext uri="{0D108BD9-81ED-4DB2-BD59-A6C34878D82A}">
                    <a16:rowId xmlns:a16="http://schemas.microsoft.com/office/drawing/2014/main" val="10001"/>
                  </a:ext>
                </a:extLst>
              </a:tr>
              <a:tr h="253440">
                <a:tc>
                  <a:txBody>
                    <a:bodyPr/>
                    <a:lstStyle/>
                    <a:p>
                      <a:pPr>
                        <a:defRPr/>
                      </a:pPr>
                      <a:r>
                        <a:rPr sz="1400"/>
                        <a:t>batch size</a:t>
                      </a:r>
                    </a:p>
                  </a:txBody>
                  <a:tcPr/>
                </a:tc>
                <a:tc>
                  <a:txBody>
                    <a:bodyPr/>
                    <a:lstStyle/>
                    <a:p>
                      <a:pPr>
                        <a:defRPr/>
                      </a:pPr>
                      <a:r>
                        <a:rPr sz="1400"/>
                        <a:t>16/gpu → 128</a:t>
                      </a:r>
                    </a:p>
                  </a:txBody>
                  <a:tcPr/>
                </a:tc>
                <a:tc>
                  <a:txBody>
                    <a:bodyPr/>
                    <a:lstStyle/>
                    <a:p>
                      <a:pPr>
                        <a:defRPr/>
                      </a:pPr>
                      <a:r>
                        <a:rPr sz="1400" b="1"/>
                        <a:t>batch=64</a:t>
                      </a:r>
                      <a:endParaRPr sz="1400"/>
                    </a:p>
                  </a:txBody>
                  <a:tcPr/>
                </a:tc>
                <a:extLst>
                  <a:ext uri="{0D108BD9-81ED-4DB2-BD59-A6C34878D82A}">
                    <a16:rowId xmlns:a16="http://schemas.microsoft.com/office/drawing/2014/main" val="10002"/>
                  </a:ext>
                </a:extLst>
              </a:tr>
              <a:tr h="253440">
                <a:tc>
                  <a:txBody>
                    <a:bodyPr/>
                    <a:lstStyle/>
                    <a:p>
                      <a:pPr>
                        <a:defRPr/>
                      </a:pPr>
                      <a:r>
                        <a:rPr sz="1400"/>
                        <a:t>num_workers</a:t>
                      </a:r>
                    </a:p>
                  </a:txBody>
                  <a:tcPr/>
                </a:tc>
                <a:tc>
                  <a:txBody>
                    <a:bodyPr/>
                    <a:lstStyle/>
                    <a:p>
                      <a:pPr>
                        <a:defRPr/>
                      </a:pPr>
                      <a:r>
                        <a:rPr sz="1400"/>
                        <a:t>默认</a:t>
                      </a:r>
                    </a:p>
                  </a:txBody>
                  <a:tcPr/>
                </a:tc>
                <a:tc>
                  <a:txBody>
                    <a:bodyPr/>
                    <a:lstStyle/>
                    <a:p>
                      <a:pPr>
                        <a:defRPr/>
                      </a:pPr>
                      <a:r>
                        <a:rPr sz="1400" b="1"/>
                        <a:t>8</a:t>
                      </a:r>
                      <a:endParaRPr sz="1400"/>
                    </a:p>
                  </a:txBody>
                  <a:tcPr/>
                </a:tc>
                <a:extLst>
                  <a:ext uri="{0D108BD9-81ED-4DB2-BD59-A6C34878D82A}">
                    <a16:rowId xmlns:a16="http://schemas.microsoft.com/office/drawing/2014/main" val="10003"/>
                  </a:ext>
                </a:extLst>
              </a:tr>
              <a:tr h="257062">
                <a:tc>
                  <a:txBody>
                    <a:bodyPr/>
                    <a:lstStyle/>
                    <a:p>
                      <a:pPr>
                        <a:defRPr/>
                      </a:pPr>
                      <a:r>
                        <a:rPr sz="1400"/>
                        <a:t>data.redundancy</a:t>
                      </a:r>
                    </a:p>
                  </a:txBody>
                  <a:tcPr/>
                </a:tc>
                <a:tc>
                  <a:txBody>
                    <a:bodyPr/>
                    <a:lstStyle/>
                    <a:p>
                      <a:pPr>
                        <a:defRPr/>
                      </a:pPr>
                      <a:r>
                        <a:rPr sz="1400"/>
                        <a:t>默认 2</a:t>
                      </a:r>
                    </a:p>
                  </a:txBody>
                  <a:tcPr/>
                </a:tc>
                <a:tc>
                  <a:txBody>
                    <a:bodyPr/>
                    <a:lstStyle/>
                    <a:p>
                      <a:pPr>
                        <a:defRPr/>
                      </a:pPr>
                      <a:r>
                        <a:rPr sz="1400" b="1" dirty="0"/>
                        <a:t>1</a:t>
                      </a:r>
                      <a:r>
                        <a:rPr sz="1400" dirty="0"/>
                        <a:t> (</a:t>
                      </a:r>
                      <a:r>
                        <a:rPr sz="1400" dirty="0" err="1"/>
                        <a:t>减少</a:t>
                      </a:r>
                      <a:r>
                        <a:rPr sz="1400" dirty="0"/>
                        <a:t> cache </a:t>
                      </a:r>
                      <a:r>
                        <a:rPr sz="1400" dirty="0" err="1"/>
                        <a:t>构建压力</a:t>
                      </a:r>
                      <a:r>
                        <a:rPr sz="1400" dirty="0"/>
                        <a:t>)</a:t>
                      </a:r>
                    </a:p>
                  </a:txBody>
                  <a:tcPr/>
                </a:tc>
                <a:extLst>
                  <a:ext uri="{0D108BD9-81ED-4DB2-BD59-A6C34878D82A}">
                    <a16:rowId xmlns:a16="http://schemas.microsoft.com/office/drawing/2014/main" val="10004"/>
                  </a:ext>
                </a:extLst>
              </a:tr>
              <a:tr h="257062">
                <a:tc>
                  <a:txBody>
                    <a:bodyPr/>
                    <a:lstStyle/>
                    <a:p>
                      <a:pPr>
                        <a:defRPr/>
                      </a:pPr>
                      <a:r>
                        <a:rPr sz="1400"/>
                        <a:t>data.preload_dataset</a:t>
                      </a:r>
                    </a:p>
                  </a:txBody>
                  <a:tcPr/>
                </a:tc>
                <a:tc>
                  <a:txBody>
                    <a:bodyPr/>
                    <a:lstStyle/>
                    <a:p>
                      <a:pPr>
                        <a:defRPr/>
                      </a:pPr>
                      <a:r>
                        <a:rPr sz="1400"/>
                        <a:t>True</a:t>
                      </a:r>
                    </a:p>
                  </a:txBody>
                  <a:tcPr/>
                </a:tc>
                <a:tc>
                  <a:txBody>
                    <a:bodyPr/>
                    <a:lstStyle/>
                    <a:p>
                      <a:pPr>
                        <a:defRPr/>
                      </a:pPr>
                      <a:r>
                        <a:rPr sz="1400" b="1"/>
                        <a:t>False</a:t>
                      </a:r>
                      <a:r>
                        <a:rPr sz="1400"/>
                        <a:t> (避免 OOM)</a:t>
                      </a:r>
                    </a:p>
                  </a:txBody>
                  <a:tcPr/>
                </a:tc>
                <a:extLst>
                  <a:ext uri="{0D108BD9-81ED-4DB2-BD59-A6C34878D82A}">
                    <a16:rowId xmlns:a16="http://schemas.microsoft.com/office/drawing/2014/main" val="10005"/>
                  </a:ext>
                </a:extLst>
              </a:tr>
              <a:tr h="253440">
                <a:tc>
                  <a:txBody>
                    <a:bodyPr/>
                    <a:lstStyle/>
                    <a:p>
                      <a:pPr>
                        <a:defRPr/>
                      </a:pPr>
                      <a:r>
                        <a:rPr sz="1400"/>
                        <a:t>LR</a:t>
                      </a:r>
                    </a:p>
                  </a:txBody>
                  <a:tcPr/>
                </a:tc>
                <a:tc>
                  <a:txBody>
                    <a:bodyPr/>
                    <a:lstStyle/>
                    <a:p>
                      <a:pPr>
                        <a:defRPr/>
                      </a:pPr>
                      <a:r>
                        <a:rPr sz="1400"/>
                        <a:t>基础值</a:t>
                      </a:r>
                    </a:p>
                  </a:txBody>
                  <a:tcPr/>
                </a:tc>
                <a:tc>
                  <a:txBody>
                    <a:bodyPr/>
                    <a:lstStyle/>
                    <a:p>
                      <a:pPr>
                        <a:defRPr/>
                      </a:pPr>
                      <a:r>
                        <a:rPr sz="1400" b="1"/>
                        <a:t>1e-5</a:t>
                      </a:r>
                      <a:r>
                        <a:rPr sz="1400"/>
                        <a:t> (AdamW)</a:t>
                      </a:r>
                    </a:p>
                  </a:txBody>
                  <a:tcPr/>
                </a:tc>
                <a:extLst>
                  <a:ext uri="{0D108BD9-81ED-4DB2-BD59-A6C34878D82A}">
                    <a16:rowId xmlns:a16="http://schemas.microsoft.com/office/drawing/2014/main" val="10006"/>
                  </a:ext>
                </a:extLst>
              </a:tr>
              <a:tr h="257062">
                <a:tc>
                  <a:txBody>
                    <a:bodyPr/>
                    <a:lstStyle/>
                    <a:p>
                      <a:pPr>
                        <a:defRPr/>
                      </a:pPr>
                      <a:r>
                        <a:rPr sz="1400"/>
                        <a:t>训练数据</a:t>
                      </a:r>
                    </a:p>
                  </a:txBody>
                  <a:tcPr/>
                </a:tc>
                <a:tc>
                  <a:txBody>
                    <a:bodyPr/>
                    <a:lstStyle/>
                    <a:p>
                      <a:pPr>
                        <a:defRPr/>
                      </a:pPr>
                      <a:r>
                        <a:rPr sz="1400"/>
                        <a:t>7657 物体</a:t>
                      </a:r>
                    </a:p>
                  </a:txBody>
                  <a:tcPr/>
                </a:tc>
                <a:tc>
                  <a:txBody>
                    <a:bodyPr/>
                    <a:lstStyle/>
                    <a:p>
                      <a:pPr>
                        <a:defRPr/>
                      </a:pPr>
                      <a:r>
                        <a:rPr sz="1400" b="1" dirty="0"/>
                        <a:t>7657</a:t>
                      </a:r>
                      <a:r>
                        <a:rPr sz="1400" dirty="0"/>
                        <a:t> (</a:t>
                      </a:r>
                      <a:r>
                        <a:rPr sz="1400" dirty="0" err="1"/>
                        <a:t>完整</a:t>
                      </a:r>
                      <a:r>
                        <a:rPr sz="1400" dirty="0"/>
                        <a:t> split)</a:t>
                      </a:r>
                    </a:p>
                  </a:txBody>
                  <a:tcPr/>
                </a:tc>
                <a:extLst>
                  <a:ext uri="{0D108BD9-81ED-4DB2-BD59-A6C34878D82A}">
                    <a16:rowId xmlns:a16="http://schemas.microsoft.com/office/drawing/2014/main" val="10007"/>
                  </a:ext>
                </a:extLst>
              </a:tr>
            </a:tbl>
          </a:graphicData>
        </a:graphic>
      </p:graphicFrame>
      <p:graphicFrame>
        <p:nvGraphicFramePr>
          <p:cNvPr id="1783449181" name="表格 1783449180"/>
          <p:cNvGraphicFramePr>
            <a:graphicFrameLocks/>
          </p:cNvGraphicFramePr>
          <p:nvPr>
            <p:extLst>
              <p:ext uri="{D42A27DB-BD31-4B8C-83A1-F6EECF244321}">
                <p14:modId xmlns:p14="http://schemas.microsoft.com/office/powerpoint/2010/main" val="3141834445"/>
              </p:ext>
            </p:extLst>
          </p:nvPr>
        </p:nvGraphicFramePr>
        <p:xfrm>
          <a:off x="6123400" y="2852936"/>
          <a:ext cx="2415946" cy="1920240"/>
        </p:xfrm>
        <a:graphic>
          <a:graphicData uri="http://schemas.openxmlformats.org/drawingml/2006/table">
            <a:tbl>
              <a:tblPr firstRow="1" bandRow="1" bandCol="1">
                <a:tableStyleId>{5C22544A-7EE6-4342-B048-85BDC9FD1C3A}</a:tableStyleId>
              </a:tblPr>
              <a:tblGrid>
                <a:gridCol w="1207973">
                  <a:extLst>
                    <a:ext uri="{9D8B030D-6E8A-4147-A177-3AD203B41FA5}">
                      <a16:colId xmlns:a16="http://schemas.microsoft.com/office/drawing/2014/main" val="20000"/>
                    </a:ext>
                  </a:extLst>
                </a:gridCol>
                <a:gridCol w="1207973">
                  <a:extLst>
                    <a:ext uri="{9D8B030D-6E8A-4147-A177-3AD203B41FA5}">
                      <a16:colId xmlns:a16="http://schemas.microsoft.com/office/drawing/2014/main" val="20001"/>
                    </a:ext>
                  </a:extLst>
                </a:gridCol>
              </a:tblGrid>
              <a:tr h="264529">
                <a:tc>
                  <a:txBody>
                    <a:bodyPr/>
                    <a:lstStyle/>
                    <a:p>
                      <a:pPr>
                        <a:defRPr/>
                      </a:pPr>
                      <a:r>
                        <a:rPr sz="1600"/>
                        <a:t>指标</a:t>
                      </a:r>
                    </a:p>
                  </a:txBody>
                  <a:tcPr/>
                </a:tc>
                <a:tc>
                  <a:txBody>
                    <a:bodyPr/>
                    <a:lstStyle/>
                    <a:p>
                      <a:pPr>
                        <a:defRPr/>
                      </a:pPr>
                      <a:r>
                        <a:rPr sz="1600"/>
                        <a:t>数值</a:t>
                      </a:r>
                    </a:p>
                  </a:txBody>
                  <a:tcPr/>
                </a:tc>
                <a:extLst>
                  <a:ext uri="{0D108BD9-81ED-4DB2-BD59-A6C34878D82A}">
                    <a16:rowId xmlns:a16="http://schemas.microsoft.com/office/drawing/2014/main" val="10000"/>
                  </a:ext>
                </a:extLst>
              </a:tr>
              <a:tr h="258121">
                <a:tc>
                  <a:txBody>
                    <a:bodyPr/>
                    <a:lstStyle/>
                    <a:p>
                      <a:pPr>
                        <a:defRPr/>
                      </a:pPr>
                      <a:r>
                        <a:rPr sz="1600"/>
                        <a:t>平移误差</a:t>
                      </a:r>
                    </a:p>
                  </a:txBody>
                  <a:tcPr/>
                </a:tc>
                <a:tc>
                  <a:txBody>
                    <a:bodyPr/>
                    <a:lstStyle/>
                    <a:p>
                      <a:pPr>
                        <a:defRPr/>
                      </a:pPr>
                      <a:r>
                        <a:rPr sz="1600"/>
                        <a:t>约 7.4 cm</a:t>
                      </a:r>
                    </a:p>
                  </a:txBody>
                  <a:tcPr/>
                </a:tc>
                <a:extLst>
                  <a:ext uri="{0D108BD9-81ED-4DB2-BD59-A6C34878D82A}">
                    <a16:rowId xmlns:a16="http://schemas.microsoft.com/office/drawing/2014/main" val="10001"/>
                  </a:ext>
                </a:extLst>
              </a:tr>
              <a:tr h="258121">
                <a:tc>
                  <a:txBody>
                    <a:bodyPr/>
                    <a:lstStyle/>
                    <a:p>
                      <a:pPr>
                        <a:defRPr/>
                      </a:pPr>
                      <a:r>
                        <a:rPr sz="1600"/>
                        <a:t>旋转误差</a:t>
                      </a:r>
                    </a:p>
                  </a:txBody>
                  <a:tcPr/>
                </a:tc>
                <a:tc>
                  <a:txBody>
                    <a:bodyPr/>
                    <a:lstStyle/>
                    <a:p>
                      <a:pPr>
                        <a:defRPr/>
                      </a:pPr>
                      <a:r>
                        <a:rPr sz="1600"/>
                        <a:t>约 0.927 rad</a:t>
                      </a:r>
                    </a:p>
                  </a:txBody>
                  <a:tcPr/>
                </a:tc>
                <a:extLst>
                  <a:ext uri="{0D108BD9-81ED-4DB2-BD59-A6C34878D82A}">
                    <a16:rowId xmlns:a16="http://schemas.microsoft.com/office/drawing/2014/main" val="10002"/>
                  </a:ext>
                </a:extLst>
              </a:tr>
              <a:tr h="254552">
                <a:tc>
                  <a:txBody>
                    <a:bodyPr/>
                    <a:lstStyle/>
                    <a:p>
                      <a:pPr>
                        <a:defRPr/>
                      </a:pPr>
                      <a:r>
                        <a:rPr sz="1600"/>
                        <a:t>Recall</a:t>
                      </a:r>
                    </a:p>
                  </a:txBody>
                  <a:tcPr/>
                </a:tc>
                <a:tc>
                  <a:txBody>
                    <a:bodyPr/>
                    <a:lstStyle/>
                    <a:p>
                      <a:pPr>
                        <a:defRPr/>
                      </a:pPr>
                      <a:r>
                        <a:rPr sz="1600"/>
                        <a:t>12.4%</a:t>
                      </a:r>
                    </a:p>
                  </a:txBody>
                  <a:tcPr/>
                </a:tc>
                <a:extLst>
                  <a:ext uri="{0D108BD9-81ED-4DB2-BD59-A6C34878D82A}">
                    <a16:rowId xmlns:a16="http://schemas.microsoft.com/office/drawing/2014/main" val="10003"/>
                  </a:ext>
                </a:extLst>
              </a:tr>
              <a:tr h="254552">
                <a:tc>
                  <a:txBody>
                    <a:bodyPr/>
                    <a:lstStyle/>
                    <a:p>
                      <a:pPr>
                        <a:defRPr/>
                      </a:pPr>
                      <a:r>
                        <a:rPr sz="1600"/>
                        <a:t>Precision</a:t>
                      </a:r>
                    </a:p>
                  </a:txBody>
                  <a:tcPr/>
                </a:tc>
                <a:tc>
                  <a:txBody>
                    <a:bodyPr/>
                    <a:lstStyle/>
                    <a:p>
                      <a:pPr>
                        <a:defRPr/>
                      </a:pPr>
                      <a:r>
                        <a:rPr sz="1600" dirty="0"/>
                        <a:t>24.2%</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337267038" name="Image 0" descr="/mnt/data/template_bg_no_page.png"/>
          <p:cNvPicPr/>
          <p:nvPr/>
        </p:nvPicPr>
        <p:blipFill rotWithShape="1">
          <a:blip r:embed="rId3"/>
          <a:stretch/>
        </p:blipFill>
        <p:spPr bwMode="auto">
          <a:xfrm>
            <a:off x="0" y="0"/>
            <a:ext cx="9143640" cy="6857640"/>
          </a:xfrm>
          <a:prstGeom prst="rect">
            <a:avLst/>
          </a:prstGeom>
          <a:ln w="0">
            <a:noFill/>
          </a:ln>
        </p:spPr>
      </p:pic>
      <p:sp>
        <p:nvSpPr>
          <p:cNvPr id="1164061419" name="Text 0"/>
          <p:cNvSpPr/>
          <p:nvPr/>
        </p:nvSpPr>
        <p:spPr bwMode="auto">
          <a:xfrm>
            <a:off x="8119800" y="274320"/>
            <a:ext cx="776878"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buNone/>
              <a:tabLst>
                <a:tab pos="0" algn="l"/>
              </a:tabLst>
              <a:defRPr/>
            </a:pPr>
            <a:r>
              <a:rPr lang="en-US" sz="1100" b="0" strike="noStrike" spc="0">
                <a:solidFill>
                  <a:srgbClr val="FFFFFF"/>
                </a:solidFill>
                <a:latin typeface="Arial"/>
                <a:ea typeface="Arial"/>
              </a:rPr>
              <a:t>Page 1</a:t>
            </a:r>
            <a:endParaRPr lang="en-US" sz="1100" b="0" strike="noStrike" spc="0">
              <a:latin typeface="Arial"/>
            </a:endParaRPr>
          </a:p>
        </p:txBody>
      </p:sp>
      <p:sp>
        <p:nvSpPr>
          <p:cNvPr id="1072519680" name="Text 1"/>
          <p:cNvSpPr/>
          <p:nvPr/>
        </p:nvSpPr>
        <p:spPr bwMode="auto">
          <a:xfrm>
            <a:off x="411480" y="951120"/>
            <a:ext cx="82292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tabLst>
                <a:tab pos="0" algn="l"/>
              </a:tabLst>
              <a:defRPr/>
            </a:pPr>
            <a:r>
              <a:rPr lang="en-US" sz="2200" b="1" strike="noStrike" spc="0">
                <a:solidFill>
                  <a:srgbClr val="004A98"/>
                </a:solidFill>
                <a:latin typeface="Microsoft YaHei"/>
                <a:ea typeface="Microsoft YaHei"/>
              </a:rPr>
              <a:t>4. </a:t>
            </a:r>
            <a:r>
              <a:rPr lang="zh-CN" sz="2200" b="1" strike="noStrike" spc="0">
                <a:solidFill>
                  <a:srgbClr val="004A98"/>
                </a:solidFill>
                <a:latin typeface="Microsoft YaHei"/>
                <a:ea typeface="Microsoft YaHei"/>
              </a:rPr>
              <a:t>预训练模型评估与参数调试</a:t>
            </a:r>
            <a:endParaRPr lang="en-US" sz="2200" b="0" strike="noStrike" spc="0">
              <a:latin typeface="Arial"/>
            </a:endParaRPr>
          </a:p>
        </p:txBody>
      </p:sp>
      <p:sp>
        <p:nvSpPr>
          <p:cNvPr id="1891641049" name="Shape 2"/>
          <p:cNvSpPr/>
          <p:nvPr/>
        </p:nvSpPr>
        <p:spPr bwMode="auto">
          <a:xfrm>
            <a:off x="18000" y="1426319"/>
            <a:ext cx="9107640" cy="360"/>
          </a:xfrm>
          <a:prstGeom prst="line">
            <a:avLst/>
          </a:prstGeom>
          <a:ln w="13970">
            <a:solidFill>
              <a:srgbClr val="004A98"/>
            </a:solidFill>
            <a:round/>
          </a:ln>
        </p:spPr>
        <p:style>
          <a:lnRef idx="0">
            <a:scrgbClr r="0" g="0" b="0"/>
          </a:lnRef>
          <a:fillRef idx="0">
            <a:scrgbClr r="0" g="0" b="0"/>
          </a:fillRef>
          <a:effectRef idx="0">
            <a:scrgbClr r="0" g="0" b="0"/>
          </a:effectRef>
          <a:fontRef idx="minor"/>
        </p:style>
      </p:sp>
      <p:sp>
        <p:nvSpPr>
          <p:cNvPr id="1237275186" name="Shape 3"/>
          <p:cNvSpPr/>
          <p:nvPr/>
        </p:nvSpPr>
        <p:spPr bwMode="auto">
          <a:xfrm>
            <a:off x="255960" y="1581840"/>
            <a:ext cx="8631720" cy="4827600"/>
          </a:xfrm>
          <a:prstGeom prst="rect">
            <a:avLst/>
          </a:prstGeom>
          <a:noFill/>
          <a:ln w="13335">
            <a:solidFill>
              <a:srgbClr val="9E9E9E"/>
            </a:solidFill>
            <a:round/>
          </a:ln>
        </p:spPr>
        <p:style>
          <a:lnRef idx="0">
            <a:scrgbClr r="0" g="0" b="0"/>
          </a:lnRef>
          <a:fillRef idx="0">
            <a:scrgbClr r="0" g="0" b="0"/>
          </a:fillRef>
          <a:effectRef idx="0">
            <a:scrgbClr r="0" g="0" b="0"/>
          </a:effectRef>
          <a:fontRef idx="minor"/>
        </p:style>
      </p:sp>
      <p:sp>
        <p:nvSpPr>
          <p:cNvPr id="218063583" name="Text 4"/>
          <p:cNvSpPr/>
          <p:nvPr/>
        </p:nvSpPr>
        <p:spPr bwMode="auto">
          <a:xfrm>
            <a:off x="594360" y="1965960"/>
            <a:ext cx="7954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zh-CN" sz="2900" b="1" strike="noStrike" spc="0">
                <a:solidFill>
                  <a:srgbClr val="1D2733"/>
                </a:solidFill>
                <a:latin typeface="Microsoft YaHei"/>
                <a:ea typeface="Microsoft YaHei"/>
              </a:rPr>
              <a:t>官方预训练 </a:t>
            </a:r>
            <a:r>
              <a:rPr lang="en-US" sz="2900" b="1" strike="noStrike" spc="0">
                <a:solidFill>
                  <a:srgbClr val="1D2733"/>
                </a:solidFill>
                <a:latin typeface="Microsoft YaHei"/>
                <a:ea typeface="Microsoft YaHei"/>
              </a:rPr>
              <a:t>GraspGen </a:t>
            </a:r>
            <a:r>
              <a:rPr lang="zh-CN" sz="2900" b="1" strike="noStrike" spc="0">
                <a:solidFill>
                  <a:srgbClr val="1D2733"/>
                </a:solidFill>
                <a:latin typeface="Microsoft YaHei"/>
                <a:ea typeface="Microsoft YaHei"/>
              </a:rPr>
              <a:t>模型评估</a:t>
            </a:r>
            <a:endParaRPr lang="en-US" sz="2900" b="0" strike="noStrike" spc="0">
              <a:latin typeface="Arial"/>
            </a:endParaRPr>
          </a:p>
        </p:txBody>
      </p:sp>
      <p:sp>
        <p:nvSpPr>
          <p:cNvPr id="1883201014" name="Text 5"/>
          <p:cNvSpPr/>
          <p:nvPr/>
        </p:nvSpPr>
        <p:spPr bwMode="auto">
          <a:xfrm>
            <a:off x="960120" y="2697480"/>
            <a:ext cx="72234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5500" lnSpcReduction="10000"/>
          </a:bodyPr>
          <a:lstStyle/>
          <a:p>
            <a:pPr algn="ctr">
              <a:lnSpc>
                <a:spcPct val="100000"/>
              </a:lnSpc>
              <a:buNone/>
              <a:tabLst>
                <a:tab pos="0" algn="l"/>
              </a:tabLst>
              <a:defRPr/>
            </a:pPr>
            <a:r>
              <a:rPr lang="zh-CN" sz="1400" b="0" strike="noStrike" spc="0">
                <a:solidFill>
                  <a:srgbClr val="666666"/>
                </a:solidFill>
                <a:latin typeface="Microsoft YaHei"/>
                <a:ea typeface="Microsoft YaHei"/>
              </a:rPr>
              <a:t>不是从零训练，而是验证：模型生成的 </a:t>
            </a:r>
            <a:r>
              <a:rPr lang="en-US" sz="1400" b="0" strike="noStrike" spc="0">
                <a:solidFill>
                  <a:srgbClr val="666666"/>
                </a:solidFill>
                <a:latin typeface="Microsoft YaHei"/>
                <a:ea typeface="Microsoft YaHei"/>
              </a:rPr>
              <a:t>6DoF </a:t>
            </a:r>
            <a:r>
              <a:rPr lang="zh-CN" sz="1400" b="0" strike="noStrike" spc="0">
                <a:solidFill>
                  <a:srgbClr val="666666"/>
                </a:solidFill>
                <a:latin typeface="Microsoft YaHei"/>
                <a:ea typeface="Microsoft YaHei"/>
              </a:rPr>
              <a:t>抓取是否接近 </a:t>
            </a:r>
            <a:r>
              <a:rPr lang="en-US" sz="1400" b="0" strike="noStrike" spc="0">
                <a:solidFill>
                  <a:srgbClr val="666666"/>
                </a:solidFill>
                <a:latin typeface="Microsoft YaHei"/>
                <a:ea typeface="Microsoft YaHei"/>
              </a:rPr>
              <a:t>GT(</a:t>
            </a:r>
            <a:r>
              <a:rPr lang="zh-CN" sz="1400" b="0" strike="noStrike" spc="0">
                <a:solidFill>
                  <a:srgbClr val="666666"/>
                </a:solidFill>
                <a:latin typeface="Microsoft YaHei"/>
                <a:ea typeface="Microsoft YaHei"/>
              </a:rPr>
              <a:t>官方数据集标注好的正确姿态）、是否无碰撞、是否可筛选。</a:t>
            </a:r>
            <a:endParaRPr lang="en-US" sz="1400" b="0" strike="noStrike" spc="0">
              <a:latin typeface="Arial"/>
            </a:endParaRPr>
          </a:p>
        </p:txBody>
      </p:sp>
      <p:sp>
        <p:nvSpPr>
          <p:cNvPr id="679902788" name="Shape 6"/>
          <p:cNvSpPr/>
          <p:nvPr/>
        </p:nvSpPr>
        <p:spPr bwMode="auto">
          <a:xfrm>
            <a:off x="685800" y="3767400"/>
            <a:ext cx="1206720" cy="658080"/>
          </a:xfrm>
          <a:prstGeom prst="roundRect">
            <a:avLst>
              <a:gd name="adj" fmla="val 11111"/>
            </a:avLst>
          </a:prstGeom>
          <a:solidFill>
            <a:srgbClr val="004A98"/>
          </a:solidFill>
          <a:ln w="12700">
            <a:solidFill>
              <a:srgbClr val="004A98"/>
            </a:solidFill>
            <a:round/>
          </a:ln>
        </p:spPr>
        <p:style>
          <a:lnRef idx="0">
            <a:scrgbClr r="0" g="0" b="0"/>
          </a:lnRef>
          <a:fillRef idx="0">
            <a:scrgbClr r="0" g="0" b="0"/>
          </a:fillRef>
          <a:effectRef idx="0">
            <a:scrgbClr r="0" g="0" b="0"/>
          </a:effectRef>
          <a:fontRef idx="minor"/>
        </p:style>
      </p:sp>
      <p:sp>
        <p:nvSpPr>
          <p:cNvPr id="2033502186" name="Text 7"/>
          <p:cNvSpPr/>
          <p:nvPr/>
        </p:nvSpPr>
        <p:spPr bwMode="auto">
          <a:xfrm>
            <a:off x="749878" y="3886200"/>
            <a:ext cx="1078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tabLst>
                <a:tab pos="0" algn="l"/>
              </a:tabLst>
              <a:defRPr/>
            </a:pPr>
            <a:r>
              <a:rPr lang="zh-CN" sz="1050" b="1" strike="noStrike" spc="0">
                <a:solidFill>
                  <a:srgbClr val="FFFFFF"/>
                </a:solidFill>
                <a:latin typeface="Microsoft YaHei"/>
                <a:ea typeface="Microsoft YaHei"/>
              </a:rPr>
              <a:t>局部点云 </a:t>
            </a:r>
            <a:r>
              <a:rPr lang="en-US" sz="1050" b="1" strike="noStrike" spc="0">
                <a:solidFill>
                  <a:srgbClr val="FFFFFF"/>
                </a:solidFill>
                <a:latin typeface="Microsoft YaHei"/>
                <a:ea typeface="Microsoft YaHei"/>
              </a:rPr>
              <a:t>ROI</a:t>
            </a:r>
            <a:endParaRPr lang="en-US" sz="1050" b="0" strike="noStrike" spc="0">
              <a:latin typeface="Arial"/>
            </a:endParaRPr>
          </a:p>
        </p:txBody>
      </p:sp>
      <p:sp>
        <p:nvSpPr>
          <p:cNvPr id="843479291" name="Shape 8"/>
          <p:cNvSpPr/>
          <p:nvPr/>
        </p:nvSpPr>
        <p:spPr bwMode="auto">
          <a:xfrm rot="5400000">
            <a:off x="2003040" y="3959280"/>
            <a:ext cx="200880" cy="255600"/>
          </a:xfrm>
          <a:prstGeom prst="triangle">
            <a:avLst>
              <a:gd name="adj" fmla="val 50000"/>
            </a:avLst>
          </a:prstGeom>
          <a:solidFill>
            <a:srgbClr val="7999BD"/>
          </a:solidFill>
          <a:ln w="12700">
            <a:solidFill>
              <a:srgbClr val="7999BD"/>
            </a:solidFill>
            <a:round/>
          </a:ln>
        </p:spPr>
        <p:style>
          <a:lnRef idx="0">
            <a:scrgbClr r="0" g="0" b="0"/>
          </a:lnRef>
          <a:fillRef idx="0">
            <a:scrgbClr r="0" g="0" b="0"/>
          </a:fillRef>
          <a:effectRef idx="0">
            <a:scrgbClr r="0" g="0" b="0"/>
          </a:effectRef>
          <a:fontRef idx="minor"/>
        </p:style>
      </p:sp>
      <p:sp>
        <p:nvSpPr>
          <p:cNvPr id="1504145416" name="Shape 9"/>
          <p:cNvSpPr/>
          <p:nvPr/>
        </p:nvSpPr>
        <p:spPr bwMode="auto">
          <a:xfrm>
            <a:off x="2304360" y="3767400"/>
            <a:ext cx="1206720" cy="658080"/>
          </a:xfrm>
          <a:prstGeom prst="roundRect">
            <a:avLst>
              <a:gd name="adj" fmla="val 11111"/>
            </a:avLst>
          </a:prstGeom>
          <a:solidFill>
            <a:srgbClr val="0A5DB3"/>
          </a:solidFill>
          <a:ln w="12700">
            <a:solidFill>
              <a:srgbClr val="0A5DB3"/>
            </a:solidFill>
            <a:round/>
          </a:ln>
        </p:spPr>
        <p:style>
          <a:lnRef idx="0">
            <a:scrgbClr r="0" g="0" b="0"/>
          </a:lnRef>
          <a:fillRef idx="0">
            <a:scrgbClr r="0" g="0" b="0"/>
          </a:fillRef>
          <a:effectRef idx="0">
            <a:scrgbClr r="0" g="0" b="0"/>
          </a:effectRef>
          <a:fontRef idx="minor"/>
        </p:style>
      </p:sp>
      <p:sp>
        <p:nvSpPr>
          <p:cNvPr id="1121519782" name="Text 10"/>
          <p:cNvSpPr/>
          <p:nvPr/>
        </p:nvSpPr>
        <p:spPr bwMode="auto">
          <a:xfrm>
            <a:off x="2368440" y="3886200"/>
            <a:ext cx="1078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tabLst>
                <a:tab pos="0" algn="l"/>
              </a:tabLst>
              <a:defRPr/>
            </a:pPr>
            <a:r>
              <a:rPr lang="en-US" sz="1050" b="1" strike="noStrike" spc="0">
                <a:solidFill>
                  <a:srgbClr val="FFFFFF"/>
                </a:solidFill>
                <a:latin typeface="Microsoft YaHei"/>
                <a:ea typeface="Microsoft YaHei"/>
              </a:rPr>
              <a:t>Generator</a:t>
            </a:r>
            <a:endParaRPr lang="en-US" sz="1050" b="0" strike="noStrike" spc="0">
              <a:latin typeface="Arial"/>
            </a:endParaRPr>
          </a:p>
          <a:p>
            <a:pPr algn="ctr">
              <a:lnSpc>
                <a:spcPct val="100000"/>
              </a:lnSpc>
              <a:buNone/>
              <a:tabLst>
                <a:tab pos="0" algn="l"/>
              </a:tabLst>
              <a:defRPr/>
            </a:pPr>
            <a:r>
              <a:rPr lang="zh-CN" sz="1050" b="1" strike="noStrike" spc="0">
                <a:solidFill>
                  <a:srgbClr val="FFFFFF"/>
                </a:solidFill>
                <a:latin typeface="Microsoft YaHei"/>
                <a:ea typeface="Microsoft YaHei"/>
              </a:rPr>
              <a:t>候选 </a:t>
            </a:r>
            <a:r>
              <a:rPr lang="en-US" sz="1050" b="1" strike="noStrike" spc="0">
                <a:solidFill>
                  <a:srgbClr val="FFFFFF"/>
                </a:solidFill>
                <a:latin typeface="Microsoft YaHei"/>
                <a:ea typeface="Microsoft YaHei"/>
              </a:rPr>
              <a:t>6DoF grasp</a:t>
            </a:r>
            <a:endParaRPr lang="en-US" sz="1050" b="0" strike="noStrike" spc="0">
              <a:latin typeface="Arial"/>
            </a:endParaRPr>
          </a:p>
        </p:txBody>
      </p:sp>
      <p:sp>
        <p:nvSpPr>
          <p:cNvPr id="1034811121" name="Shape 11"/>
          <p:cNvSpPr/>
          <p:nvPr/>
        </p:nvSpPr>
        <p:spPr bwMode="auto">
          <a:xfrm rot="5400000">
            <a:off x="3621240" y="3959280"/>
            <a:ext cx="200880" cy="255600"/>
          </a:xfrm>
          <a:prstGeom prst="triangle">
            <a:avLst>
              <a:gd name="adj" fmla="val 50000"/>
            </a:avLst>
          </a:prstGeom>
          <a:solidFill>
            <a:srgbClr val="7999BD"/>
          </a:solidFill>
          <a:ln w="12700">
            <a:solidFill>
              <a:srgbClr val="7999BD"/>
            </a:solidFill>
            <a:round/>
          </a:ln>
        </p:spPr>
        <p:style>
          <a:lnRef idx="0">
            <a:scrgbClr r="0" g="0" b="0"/>
          </a:lnRef>
          <a:fillRef idx="0">
            <a:scrgbClr r="0" g="0" b="0"/>
          </a:fillRef>
          <a:effectRef idx="0">
            <a:scrgbClr r="0" g="0" b="0"/>
          </a:effectRef>
          <a:fontRef idx="minor"/>
        </p:style>
      </p:sp>
      <p:sp>
        <p:nvSpPr>
          <p:cNvPr id="1772931304" name="Shape 12"/>
          <p:cNvSpPr/>
          <p:nvPr/>
        </p:nvSpPr>
        <p:spPr bwMode="auto">
          <a:xfrm>
            <a:off x="3922920" y="3767400"/>
            <a:ext cx="1206720" cy="658080"/>
          </a:xfrm>
          <a:prstGeom prst="roundRect">
            <a:avLst>
              <a:gd name="adj" fmla="val 11111"/>
            </a:avLst>
          </a:prstGeom>
          <a:solidFill>
            <a:srgbClr val="3C8D3F"/>
          </a:solidFill>
          <a:ln w="12700">
            <a:solidFill>
              <a:srgbClr val="3C8D3F"/>
            </a:solidFill>
            <a:round/>
          </a:ln>
        </p:spPr>
        <p:style>
          <a:lnRef idx="0">
            <a:scrgbClr r="0" g="0" b="0"/>
          </a:lnRef>
          <a:fillRef idx="0">
            <a:scrgbClr r="0" g="0" b="0"/>
          </a:fillRef>
          <a:effectRef idx="0">
            <a:scrgbClr r="0" g="0" b="0"/>
          </a:effectRef>
          <a:fontRef idx="minor"/>
        </p:style>
      </p:sp>
      <p:sp>
        <p:nvSpPr>
          <p:cNvPr id="1051684939" name="Text 13"/>
          <p:cNvSpPr/>
          <p:nvPr/>
        </p:nvSpPr>
        <p:spPr bwMode="auto">
          <a:xfrm>
            <a:off x="3986640" y="3886200"/>
            <a:ext cx="1078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tabLst>
                <a:tab pos="0" algn="l"/>
              </a:tabLst>
              <a:defRPr/>
            </a:pPr>
            <a:r>
              <a:rPr lang="en-US" sz="1050" b="1" strike="noStrike" spc="0">
                <a:solidFill>
                  <a:srgbClr val="FFFFFF"/>
                </a:solidFill>
                <a:latin typeface="Microsoft YaHei"/>
                <a:ea typeface="Microsoft YaHei"/>
              </a:rPr>
              <a:t>Discriminator</a:t>
            </a:r>
            <a:endParaRPr lang="en-US" sz="1050" b="0" strike="noStrike" spc="0">
              <a:latin typeface="Arial"/>
            </a:endParaRPr>
          </a:p>
          <a:p>
            <a:pPr algn="ctr">
              <a:lnSpc>
                <a:spcPct val="100000"/>
              </a:lnSpc>
              <a:buNone/>
              <a:tabLst>
                <a:tab pos="0" algn="l"/>
              </a:tabLst>
              <a:defRPr/>
            </a:pPr>
            <a:r>
              <a:rPr lang="en-US" sz="1050" b="1" strike="noStrike" spc="0">
                <a:solidFill>
                  <a:srgbClr val="FFFFFF"/>
                </a:solidFill>
                <a:latin typeface="Microsoft YaHei"/>
                <a:ea typeface="Microsoft YaHei"/>
              </a:rPr>
              <a:t>score </a:t>
            </a:r>
            <a:r>
              <a:rPr lang="zh-CN" sz="1050" b="1" strike="noStrike" spc="0">
                <a:solidFill>
                  <a:srgbClr val="FFFFFF"/>
                </a:solidFill>
                <a:latin typeface="Microsoft YaHei"/>
                <a:ea typeface="Microsoft YaHei"/>
              </a:rPr>
              <a:t>打分</a:t>
            </a:r>
            <a:endParaRPr lang="en-US" sz="1050" b="0" strike="noStrike" spc="0">
              <a:latin typeface="Arial"/>
            </a:endParaRPr>
          </a:p>
        </p:txBody>
      </p:sp>
      <p:sp>
        <p:nvSpPr>
          <p:cNvPr id="1361297380" name="Shape 14"/>
          <p:cNvSpPr/>
          <p:nvPr/>
        </p:nvSpPr>
        <p:spPr bwMode="auto">
          <a:xfrm rot="5400000">
            <a:off x="5239800" y="3959280"/>
            <a:ext cx="200880" cy="255600"/>
          </a:xfrm>
          <a:prstGeom prst="triangle">
            <a:avLst>
              <a:gd name="adj" fmla="val 50000"/>
            </a:avLst>
          </a:prstGeom>
          <a:solidFill>
            <a:srgbClr val="7999BD"/>
          </a:solidFill>
          <a:ln w="12700">
            <a:solidFill>
              <a:srgbClr val="7999BD"/>
            </a:solidFill>
            <a:round/>
          </a:ln>
        </p:spPr>
        <p:style>
          <a:lnRef idx="0">
            <a:scrgbClr r="0" g="0" b="0"/>
          </a:lnRef>
          <a:fillRef idx="0">
            <a:scrgbClr r="0" g="0" b="0"/>
          </a:fillRef>
          <a:effectRef idx="0">
            <a:scrgbClr r="0" g="0" b="0"/>
          </a:effectRef>
          <a:fontRef idx="minor"/>
        </p:style>
      </p:sp>
      <p:sp>
        <p:nvSpPr>
          <p:cNvPr id="663554539" name="Shape 15"/>
          <p:cNvSpPr/>
          <p:nvPr/>
        </p:nvSpPr>
        <p:spPr bwMode="auto">
          <a:xfrm>
            <a:off x="5541119" y="3767400"/>
            <a:ext cx="1206720" cy="658080"/>
          </a:xfrm>
          <a:prstGeom prst="roundRect">
            <a:avLst>
              <a:gd name="adj" fmla="val 11111"/>
            </a:avLst>
          </a:prstGeom>
          <a:solidFill>
            <a:srgbClr val="F28E2B"/>
          </a:solidFill>
          <a:ln w="12700">
            <a:solidFill>
              <a:srgbClr val="F28E2B"/>
            </a:solidFill>
            <a:round/>
          </a:ln>
        </p:spPr>
        <p:style>
          <a:lnRef idx="0">
            <a:scrgbClr r="0" g="0" b="0"/>
          </a:lnRef>
          <a:fillRef idx="0">
            <a:scrgbClr r="0" g="0" b="0"/>
          </a:fillRef>
          <a:effectRef idx="0">
            <a:scrgbClr r="0" g="0" b="0"/>
          </a:effectRef>
          <a:fontRef idx="minor"/>
        </p:style>
      </p:sp>
      <p:sp>
        <p:nvSpPr>
          <p:cNvPr id="805854655" name="Text 16"/>
          <p:cNvSpPr/>
          <p:nvPr/>
        </p:nvSpPr>
        <p:spPr bwMode="auto">
          <a:xfrm>
            <a:off x="5605199" y="3886200"/>
            <a:ext cx="1078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tabLst>
                <a:tab pos="0" algn="l"/>
              </a:tabLst>
              <a:defRPr/>
            </a:pPr>
            <a:r>
              <a:rPr lang="zh-CN" sz="1050" b="1" strike="noStrike" spc="0">
                <a:solidFill>
                  <a:srgbClr val="FFFFFF"/>
                </a:solidFill>
                <a:latin typeface="Microsoft YaHei"/>
                <a:ea typeface="Microsoft YaHei"/>
              </a:rPr>
              <a:t>阈值 </a:t>
            </a:r>
            <a:r>
              <a:rPr lang="en-US" sz="1050" b="1" strike="noStrike" spc="0">
                <a:solidFill>
                  <a:srgbClr val="FFFFFF"/>
                </a:solidFill>
                <a:latin typeface="Microsoft YaHei"/>
                <a:ea typeface="Microsoft YaHei"/>
              </a:rPr>
              <a:t>/ NMS</a:t>
            </a:r>
            <a:endParaRPr lang="en-US" sz="1050" b="0" strike="noStrike" spc="0">
              <a:latin typeface="Arial"/>
            </a:endParaRPr>
          </a:p>
          <a:p>
            <a:pPr algn="ctr">
              <a:lnSpc>
                <a:spcPct val="100000"/>
              </a:lnSpc>
              <a:buNone/>
              <a:tabLst>
                <a:tab pos="0" algn="l"/>
              </a:tabLst>
              <a:defRPr/>
            </a:pPr>
            <a:r>
              <a:rPr lang="zh-CN" sz="1050" b="1" strike="noStrike" spc="0">
                <a:solidFill>
                  <a:srgbClr val="FFFFFF"/>
                </a:solidFill>
                <a:latin typeface="Microsoft YaHei"/>
                <a:ea typeface="Microsoft YaHei"/>
              </a:rPr>
              <a:t>碰撞过滤</a:t>
            </a:r>
            <a:endParaRPr lang="en-US" sz="1050" b="0" strike="noStrike" spc="0">
              <a:latin typeface="Arial"/>
            </a:endParaRPr>
          </a:p>
        </p:txBody>
      </p:sp>
      <p:sp>
        <p:nvSpPr>
          <p:cNvPr id="192858163" name="Shape 17"/>
          <p:cNvSpPr/>
          <p:nvPr/>
        </p:nvSpPr>
        <p:spPr bwMode="auto">
          <a:xfrm rot="5400000">
            <a:off x="6858360" y="3959280"/>
            <a:ext cx="200880" cy="255600"/>
          </a:xfrm>
          <a:prstGeom prst="triangle">
            <a:avLst>
              <a:gd name="adj" fmla="val 50000"/>
            </a:avLst>
          </a:prstGeom>
          <a:solidFill>
            <a:srgbClr val="7999BD"/>
          </a:solidFill>
          <a:ln w="12700">
            <a:solidFill>
              <a:srgbClr val="7999BD"/>
            </a:solidFill>
            <a:round/>
          </a:ln>
        </p:spPr>
        <p:style>
          <a:lnRef idx="0">
            <a:scrgbClr r="0" g="0" b="0"/>
          </a:lnRef>
          <a:fillRef idx="0">
            <a:scrgbClr r="0" g="0" b="0"/>
          </a:fillRef>
          <a:effectRef idx="0">
            <a:scrgbClr r="0" g="0" b="0"/>
          </a:effectRef>
          <a:fontRef idx="minor"/>
        </p:style>
      </p:sp>
      <p:sp>
        <p:nvSpPr>
          <p:cNvPr id="1546878213" name="Shape 18"/>
          <p:cNvSpPr/>
          <p:nvPr/>
        </p:nvSpPr>
        <p:spPr bwMode="auto">
          <a:xfrm>
            <a:off x="7159680" y="3767400"/>
            <a:ext cx="1206720" cy="658080"/>
          </a:xfrm>
          <a:prstGeom prst="roundRect">
            <a:avLst>
              <a:gd name="adj" fmla="val 11111"/>
            </a:avLst>
          </a:prstGeom>
          <a:solidFill>
            <a:srgbClr val="DE5B5B"/>
          </a:solidFill>
          <a:ln w="12700">
            <a:solidFill>
              <a:srgbClr val="DE5B5B"/>
            </a:solidFill>
            <a:round/>
          </a:ln>
        </p:spPr>
        <p:style>
          <a:lnRef idx="0">
            <a:scrgbClr r="0" g="0" b="0"/>
          </a:lnRef>
          <a:fillRef idx="0">
            <a:scrgbClr r="0" g="0" b="0"/>
          </a:fillRef>
          <a:effectRef idx="0">
            <a:scrgbClr r="0" g="0" b="0"/>
          </a:effectRef>
          <a:fontRef idx="minor"/>
        </p:style>
      </p:sp>
      <p:sp>
        <p:nvSpPr>
          <p:cNvPr id="190971756" name="Text 19"/>
          <p:cNvSpPr/>
          <p:nvPr/>
        </p:nvSpPr>
        <p:spPr bwMode="auto">
          <a:xfrm>
            <a:off x="7223760" y="3886200"/>
            <a:ext cx="1078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tabLst>
                <a:tab pos="0" algn="l"/>
              </a:tabLst>
              <a:defRPr/>
            </a:pPr>
            <a:r>
              <a:rPr lang="en-US" sz="1050" b="1" strike="noStrike" spc="0">
                <a:solidFill>
                  <a:srgbClr val="FFFFFF"/>
                </a:solidFill>
                <a:latin typeface="Microsoft YaHei"/>
                <a:ea typeface="Microsoft YaHei"/>
              </a:rPr>
              <a:t>GT </a:t>
            </a:r>
            <a:r>
              <a:rPr lang="zh-CN" sz="1050" b="1" strike="noStrike" spc="0">
                <a:solidFill>
                  <a:srgbClr val="FFFFFF"/>
                </a:solidFill>
                <a:latin typeface="Microsoft YaHei"/>
                <a:ea typeface="Microsoft YaHei"/>
              </a:rPr>
              <a:t>匹配</a:t>
            </a:r>
            <a:endParaRPr lang="en-US" sz="1050" b="0" strike="noStrike" spc="0">
              <a:latin typeface="Arial"/>
            </a:endParaRPr>
          </a:p>
          <a:p>
            <a:pPr algn="ctr">
              <a:lnSpc>
                <a:spcPct val="100000"/>
              </a:lnSpc>
              <a:buNone/>
              <a:tabLst>
                <a:tab pos="0" algn="l"/>
              </a:tabLst>
              <a:defRPr/>
            </a:pPr>
            <a:r>
              <a:rPr lang="zh-CN" sz="1050" b="1" strike="noStrike" spc="0">
                <a:solidFill>
                  <a:srgbClr val="FFFFFF"/>
                </a:solidFill>
                <a:latin typeface="Microsoft YaHei"/>
                <a:ea typeface="Microsoft YaHei"/>
              </a:rPr>
              <a:t>指标统计</a:t>
            </a:r>
            <a:endParaRPr lang="en-US" sz="1050" b="0" strike="noStrike" spc="0">
              <a:latin typeface="Arial"/>
            </a:endParaRPr>
          </a:p>
        </p:txBody>
      </p:sp>
      <p:sp>
        <p:nvSpPr>
          <p:cNvPr id="243509115" name="Text 20"/>
          <p:cNvSpPr/>
          <p:nvPr/>
        </p:nvSpPr>
        <p:spPr bwMode="auto">
          <a:xfrm>
            <a:off x="777240" y="5074920"/>
            <a:ext cx="7589160" cy="29231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tabLst>
                <a:tab pos="0" algn="l"/>
              </a:tabLst>
              <a:defRPr/>
            </a:pPr>
            <a:r>
              <a:rPr lang="zh-CN" sz="1250" b="1" strike="noStrike" spc="0">
                <a:solidFill>
                  <a:srgbClr val="004A98"/>
                </a:solidFill>
                <a:latin typeface="Microsoft YaHei"/>
                <a:ea typeface="Microsoft YaHei"/>
              </a:rPr>
              <a:t>评估对象：官方数据集小样本，每个样本 </a:t>
            </a:r>
            <a:r>
              <a:rPr lang="en-US" sz="1250" b="1" strike="noStrike" spc="0">
                <a:solidFill>
                  <a:srgbClr val="004A98"/>
                </a:solidFill>
                <a:latin typeface="Microsoft YaHei"/>
                <a:ea typeface="Microsoft YaHei"/>
              </a:rPr>
              <a:t>2048 </a:t>
            </a:r>
            <a:r>
              <a:rPr lang="zh-CN" sz="1250" b="1" strike="noStrike" spc="0">
                <a:solidFill>
                  <a:srgbClr val="004A98"/>
                </a:solidFill>
                <a:latin typeface="Microsoft YaHei"/>
                <a:ea typeface="Microsoft YaHei"/>
              </a:rPr>
              <a:t>点；加载官方 </a:t>
            </a:r>
            <a:r>
              <a:rPr lang="en-US" sz="1250" b="1" strike="noStrike" spc="0">
                <a:solidFill>
                  <a:srgbClr val="004A98"/>
                </a:solidFill>
                <a:latin typeface="Microsoft YaHei"/>
                <a:ea typeface="Microsoft YaHei"/>
              </a:rPr>
              <a:t>robotiq_2f_140 </a:t>
            </a:r>
            <a:r>
              <a:rPr lang="zh-CN" sz="1250" b="1" strike="noStrike" spc="0">
                <a:solidFill>
                  <a:srgbClr val="004A98"/>
                </a:solidFill>
                <a:latin typeface="Microsoft YaHei"/>
                <a:ea typeface="Microsoft YaHei"/>
              </a:rPr>
              <a:t>生成器与判别器权重。</a:t>
            </a:r>
            <a:endParaRPr lang="en-US" sz="1250" b="0" strike="noStrike" spc="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307535388" name="Image 0" descr="/mnt/data/template_bg_no_page.png"/>
          <p:cNvPicPr/>
          <p:nvPr/>
        </p:nvPicPr>
        <p:blipFill rotWithShape="1">
          <a:blip r:embed="rId3"/>
          <a:stretch/>
        </p:blipFill>
        <p:spPr bwMode="auto">
          <a:xfrm>
            <a:off x="0" y="0"/>
            <a:ext cx="9143640" cy="6857640"/>
          </a:xfrm>
          <a:prstGeom prst="rect">
            <a:avLst/>
          </a:prstGeom>
          <a:ln w="0">
            <a:noFill/>
          </a:ln>
        </p:spPr>
      </p:pic>
      <p:sp>
        <p:nvSpPr>
          <p:cNvPr id="584684734" name="Text 0"/>
          <p:cNvSpPr/>
          <p:nvPr/>
        </p:nvSpPr>
        <p:spPr bwMode="auto">
          <a:xfrm>
            <a:off x="8119800" y="274320"/>
            <a:ext cx="776878"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buNone/>
              <a:tabLst>
                <a:tab pos="0" algn="l"/>
              </a:tabLst>
              <a:defRPr/>
            </a:pPr>
            <a:r>
              <a:rPr lang="en-US" sz="1100" b="0" strike="noStrike" spc="0">
                <a:solidFill>
                  <a:srgbClr val="FFFFFF"/>
                </a:solidFill>
                <a:latin typeface="Arial"/>
                <a:ea typeface="Arial"/>
              </a:rPr>
              <a:t>Page 2</a:t>
            </a:r>
            <a:endParaRPr lang="en-US" sz="1100" b="0" strike="noStrike" spc="0">
              <a:latin typeface="Arial"/>
            </a:endParaRPr>
          </a:p>
        </p:txBody>
      </p:sp>
      <p:sp>
        <p:nvSpPr>
          <p:cNvPr id="1968265015" name="Text 1"/>
          <p:cNvSpPr/>
          <p:nvPr/>
        </p:nvSpPr>
        <p:spPr bwMode="auto">
          <a:xfrm>
            <a:off x="411480" y="951120"/>
            <a:ext cx="82292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tabLst>
                <a:tab pos="0" algn="l"/>
              </a:tabLst>
              <a:defRPr/>
            </a:pPr>
            <a:r>
              <a:rPr lang="en-US" sz="2200" b="1" strike="noStrike" spc="0" dirty="0">
                <a:solidFill>
                  <a:srgbClr val="004A98"/>
                </a:solidFill>
                <a:latin typeface="Microsoft YaHei"/>
                <a:ea typeface="Microsoft YaHei"/>
              </a:rPr>
              <a:t>4.1 </a:t>
            </a:r>
            <a:r>
              <a:rPr lang="zh-CN" sz="2200" b="1" strike="noStrike" spc="0" dirty="0">
                <a:solidFill>
                  <a:srgbClr val="004A98"/>
                </a:solidFill>
                <a:latin typeface="Microsoft YaHei"/>
                <a:ea typeface="Microsoft YaHei"/>
              </a:rPr>
              <a:t>综合评估结果：</a:t>
            </a:r>
            <a:r>
              <a:rPr lang="en-US" sz="2200" b="1" strike="noStrike" spc="0" dirty="0">
                <a:solidFill>
                  <a:srgbClr val="004A98"/>
                </a:solidFill>
                <a:latin typeface="Microsoft YaHei"/>
                <a:ea typeface="Microsoft YaHei"/>
              </a:rPr>
              <a:t>Recall / Precision / Collision-free</a:t>
            </a:r>
            <a:endParaRPr lang="en-US" sz="2200" b="0" strike="noStrike" spc="0" dirty="0">
              <a:latin typeface="Arial"/>
            </a:endParaRPr>
          </a:p>
        </p:txBody>
      </p:sp>
      <p:sp>
        <p:nvSpPr>
          <p:cNvPr id="831288423" name="Shape 2"/>
          <p:cNvSpPr/>
          <p:nvPr/>
        </p:nvSpPr>
        <p:spPr bwMode="auto">
          <a:xfrm>
            <a:off x="18000" y="1426319"/>
            <a:ext cx="9107640" cy="360"/>
          </a:xfrm>
          <a:prstGeom prst="line">
            <a:avLst/>
          </a:prstGeom>
          <a:ln w="13970">
            <a:solidFill>
              <a:srgbClr val="004A98"/>
            </a:solidFill>
            <a:round/>
          </a:ln>
        </p:spPr>
        <p:style>
          <a:lnRef idx="0">
            <a:scrgbClr r="0" g="0" b="0"/>
          </a:lnRef>
          <a:fillRef idx="0">
            <a:scrgbClr r="0" g="0" b="0"/>
          </a:fillRef>
          <a:effectRef idx="0">
            <a:scrgbClr r="0" g="0" b="0"/>
          </a:effectRef>
          <a:fontRef idx="minor"/>
        </p:style>
      </p:sp>
      <p:sp>
        <p:nvSpPr>
          <p:cNvPr id="637211968" name="Shape 3"/>
          <p:cNvSpPr/>
          <p:nvPr/>
        </p:nvSpPr>
        <p:spPr bwMode="auto">
          <a:xfrm>
            <a:off x="255960" y="1581840"/>
            <a:ext cx="8631720" cy="4827600"/>
          </a:xfrm>
          <a:prstGeom prst="rect">
            <a:avLst/>
          </a:prstGeom>
          <a:noFill/>
          <a:ln w="13335">
            <a:solidFill>
              <a:srgbClr val="9E9E9E"/>
            </a:solidFill>
            <a:round/>
          </a:ln>
        </p:spPr>
        <p:style>
          <a:lnRef idx="0">
            <a:scrgbClr r="0" g="0" b="0"/>
          </a:lnRef>
          <a:fillRef idx="0">
            <a:scrgbClr r="0" g="0" b="0"/>
          </a:fillRef>
          <a:effectRef idx="0">
            <a:scrgbClr r="0" g="0" b="0"/>
          </a:effectRef>
          <a:fontRef idx="minor"/>
        </p:style>
      </p:sp>
      <p:sp>
        <p:nvSpPr>
          <p:cNvPr id="619126873" name="Shape 4"/>
          <p:cNvSpPr/>
          <p:nvPr/>
        </p:nvSpPr>
        <p:spPr bwMode="auto">
          <a:xfrm>
            <a:off x="6446520" y="1901880"/>
            <a:ext cx="2148480" cy="3154320"/>
          </a:xfrm>
          <a:prstGeom prst="rect">
            <a:avLst/>
          </a:prstGeom>
          <a:solidFill>
            <a:srgbClr val="EAF2FC"/>
          </a:solidFill>
          <a:ln w="12700">
            <a:solidFill>
              <a:srgbClr val="CFE2F6"/>
            </a:solidFill>
            <a:round/>
          </a:ln>
        </p:spPr>
        <p:style>
          <a:lnRef idx="0">
            <a:scrgbClr r="0" g="0" b="0"/>
          </a:lnRef>
          <a:fillRef idx="0">
            <a:scrgbClr r="0" g="0" b="0"/>
          </a:fillRef>
          <a:effectRef idx="0">
            <a:scrgbClr r="0" g="0" b="0"/>
          </a:effectRef>
          <a:fontRef idx="minor"/>
        </p:style>
      </p:sp>
      <p:sp>
        <p:nvSpPr>
          <p:cNvPr id="913775050" name="Text 5"/>
          <p:cNvSpPr/>
          <p:nvPr/>
        </p:nvSpPr>
        <p:spPr bwMode="auto">
          <a:xfrm>
            <a:off x="6583680" y="2020680"/>
            <a:ext cx="1874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zh-CN" sz="1250" b="1" strike="noStrike" spc="0">
                <a:solidFill>
                  <a:srgbClr val="004A98"/>
                </a:solidFill>
                <a:latin typeface="Microsoft YaHei"/>
                <a:ea typeface="Microsoft YaHei"/>
              </a:rPr>
              <a:t>图在干什么？</a:t>
            </a:r>
            <a:endParaRPr lang="en-US" sz="1250" b="0" strike="noStrike" spc="0">
              <a:latin typeface="Arial"/>
            </a:endParaRPr>
          </a:p>
        </p:txBody>
      </p:sp>
      <p:sp>
        <p:nvSpPr>
          <p:cNvPr id="1411662536" name="Text 6"/>
          <p:cNvSpPr/>
          <p:nvPr/>
        </p:nvSpPr>
        <p:spPr bwMode="auto">
          <a:xfrm>
            <a:off x="6611038" y="2377440"/>
            <a:ext cx="1828440" cy="2587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a:lnSpc>
                <a:spcPct val="100000"/>
              </a:lnSpc>
              <a:spcBef>
                <a:spcPts val="1416"/>
              </a:spcBef>
              <a:buNone/>
              <a:tabLst>
                <a:tab pos="0" algn="l"/>
              </a:tabLst>
              <a:defRPr/>
            </a:pPr>
            <a:r>
              <a:rPr lang="en-US" sz="1200" b="0" strike="noStrike" spc="0">
                <a:solidFill>
                  <a:srgbClr val="1D2733"/>
                </a:solidFill>
                <a:latin typeface="Microsoft YaHei"/>
                <a:ea typeface="Microsoft YaHei"/>
              </a:rPr>
              <a:t>• </a:t>
            </a:r>
            <a:r>
              <a:rPr lang="zh-CN" sz="1200" b="0" strike="noStrike" spc="0">
                <a:solidFill>
                  <a:srgbClr val="1D2733"/>
                </a:solidFill>
                <a:latin typeface="Microsoft YaHei"/>
                <a:ea typeface="Microsoft YaHei"/>
              </a:rPr>
              <a:t>用官方 </a:t>
            </a:r>
            <a:r>
              <a:rPr lang="en-US" sz="1200" b="0" strike="noStrike" spc="0">
                <a:solidFill>
                  <a:srgbClr val="1D2733"/>
                </a:solidFill>
                <a:latin typeface="Microsoft YaHei"/>
                <a:ea typeface="Microsoft YaHei"/>
              </a:rPr>
              <a:t>GT grasp </a:t>
            </a:r>
            <a:r>
              <a:rPr lang="zh-CN" sz="1200" b="0" strike="noStrike" spc="0">
                <a:solidFill>
                  <a:srgbClr val="1D2733"/>
                </a:solidFill>
                <a:latin typeface="Microsoft YaHei"/>
                <a:ea typeface="Microsoft YaHei"/>
              </a:rPr>
              <a:t>标注评价预测结果。</a:t>
            </a:r>
            <a:endParaRPr lang="en-US" sz="1200" b="0" strike="noStrike" spc="0">
              <a:latin typeface="Arial"/>
            </a:endParaRPr>
          </a:p>
          <a:p>
            <a:pPr>
              <a:lnSpc>
                <a:spcPct val="100000"/>
              </a:lnSpc>
              <a:spcBef>
                <a:spcPts val="1416"/>
              </a:spcBef>
              <a:buNone/>
              <a:tabLst>
                <a:tab pos="0" algn="l"/>
              </a:tabLst>
              <a:defRPr/>
            </a:pPr>
            <a:r>
              <a:rPr lang="en-US" sz="1200" b="0" strike="noStrike" spc="0">
                <a:solidFill>
                  <a:srgbClr val="1D2733"/>
                </a:solidFill>
                <a:latin typeface="Microsoft YaHei"/>
                <a:ea typeface="Microsoft YaHei"/>
              </a:rPr>
              <a:t>• Recall</a:t>
            </a:r>
            <a:r>
              <a:rPr lang="zh-CN" sz="1200" b="0" strike="noStrike" spc="0">
                <a:solidFill>
                  <a:srgbClr val="1D2733"/>
                </a:solidFill>
                <a:latin typeface="Microsoft YaHei"/>
                <a:ea typeface="Microsoft YaHei"/>
              </a:rPr>
              <a:t>：模型对可行抓取空间的覆盖能力。</a:t>
            </a:r>
            <a:endParaRPr lang="en-US" sz="1200" b="0" strike="noStrike" spc="0">
              <a:latin typeface="Arial"/>
            </a:endParaRPr>
          </a:p>
          <a:p>
            <a:pPr>
              <a:lnSpc>
                <a:spcPct val="100000"/>
              </a:lnSpc>
              <a:spcBef>
                <a:spcPts val="1416"/>
              </a:spcBef>
              <a:buNone/>
              <a:tabLst>
                <a:tab pos="0" algn="l"/>
              </a:tabLst>
              <a:defRPr/>
            </a:pPr>
            <a:r>
              <a:rPr lang="en-US" sz="1200" b="0" strike="noStrike" spc="0">
                <a:solidFill>
                  <a:srgbClr val="1D2733"/>
                </a:solidFill>
                <a:latin typeface="Microsoft YaHei"/>
                <a:ea typeface="Microsoft YaHei"/>
              </a:rPr>
              <a:t>• Precision</a:t>
            </a:r>
            <a:r>
              <a:rPr lang="zh-CN" sz="1200" b="0" strike="noStrike" spc="0">
                <a:solidFill>
                  <a:srgbClr val="1D2733"/>
                </a:solidFill>
                <a:latin typeface="Microsoft YaHei"/>
                <a:ea typeface="Microsoft YaHei"/>
              </a:rPr>
              <a:t>：预测 </a:t>
            </a:r>
            <a:r>
              <a:rPr lang="en-US" sz="1200" b="0" strike="noStrike" spc="0">
                <a:solidFill>
                  <a:srgbClr val="1D2733"/>
                </a:solidFill>
                <a:latin typeface="Microsoft YaHei"/>
                <a:ea typeface="Microsoft YaHei"/>
              </a:rPr>
              <a:t>grasp </a:t>
            </a:r>
            <a:r>
              <a:rPr lang="zh-CN" sz="1200" b="0" strike="noStrike" spc="0">
                <a:solidFill>
                  <a:srgbClr val="1D2733"/>
                </a:solidFill>
                <a:latin typeface="Microsoft YaHei"/>
                <a:ea typeface="Microsoft YaHei"/>
              </a:rPr>
              <a:t>是否同时接近平移和旋转 </a:t>
            </a:r>
            <a:r>
              <a:rPr lang="en-US" sz="1200" b="0" strike="noStrike" spc="0">
                <a:solidFill>
                  <a:srgbClr val="1D2733"/>
                </a:solidFill>
                <a:latin typeface="Microsoft YaHei"/>
                <a:ea typeface="Microsoft YaHei"/>
              </a:rPr>
              <a:t>GT</a:t>
            </a:r>
            <a:r>
              <a:rPr lang="zh-CN" sz="1200" b="0" strike="noStrike" spc="0">
                <a:solidFill>
                  <a:srgbClr val="1D2733"/>
                </a:solidFill>
                <a:latin typeface="Microsoft YaHei"/>
                <a:ea typeface="Microsoft YaHei"/>
              </a:rPr>
              <a:t>。</a:t>
            </a:r>
            <a:endParaRPr lang="en-US" sz="1200" b="0" strike="noStrike" spc="0">
              <a:latin typeface="Arial"/>
            </a:endParaRPr>
          </a:p>
          <a:p>
            <a:pPr>
              <a:lnSpc>
                <a:spcPct val="100000"/>
              </a:lnSpc>
              <a:spcBef>
                <a:spcPts val="1416"/>
              </a:spcBef>
              <a:buNone/>
              <a:tabLst>
                <a:tab pos="0" algn="l"/>
              </a:tabLst>
              <a:defRPr/>
            </a:pPr>
            <a:r>
              <a:rPr lang="en-US" sz="1200" b="0" strike="noStrike" spc="0">
                <a:solidFill>
                  <a:srgbClr val="1D2733"/>
                </a:solidFill>
                <a:latin typeface="Microsoft YaHei"/>
                <a:ea typeface="Microsoft YaHei"/>
              </a:rPr>
              <a:t>• Collision-free</a:t>
            </a:r>
            <a:r>
              <a:rPr lang="zh-CN" sz="1200" b="0" strike="noStrike" spc="0">
                <a:solidFill>
                  <a:srgbClr val="1D2733"/>
                </a:solidFill>
                <a:latin typeface="Microsoft YaHei"/>
                <a:ea typeface="Microsoft YaHei"/>
              </a:rPr>
              <a:t>：碰撞过滤后仍有效的比例。</a:t>
            </a:r>
            <a:endParaRPr lang="en-US" sz="1200" b="0" strike="noStrike" spc="0">
              <a:latin typeface="Arial"/>
            </a:endParaRPr>
          </a:p>
        </p:txBody>
      </p:sp>
      <p:sp>
        <p:nvSpPr>
          <p:cNvPr id="837992833" name="Shape 7"/>
          <p:cNvSpPr/>
          <p:nvPr/>
        </p:nvSpPr>
        <p:spPr bwMode="auto">
          <a:xfrm rot="21592200">
            <a:off x="306720" y="5799600"/>
            <a:ext cx="8513280" cy="310680"/>
          </a:xfrm>
          <a:prstGeom prst="rect">
            <a:avLst/>
          </a:prstGeom>
          <a:solidFill>
            <a:srgbClr val="EAF2FC"/>
          </a:solidFill>
          <a:ln w="12700">
            <a:solidFill>
              <a:srgbClr val="EAF2FC"/>
            </a:solidFill>
            <a:round/>
          </a:ln>
        </p:spPr>
        <p:style>
          <a:lnRef idx="0">
            <a:scrgbClr r="0" g="0" b="0"/>
          </a:lnRef>
          <a:fillRef idx="0">
            <a:scrgbClr r="0" g="0" b="0"/>
          </a:fillRef>
          <a:effectRef idx="0">
            <a:scrgbClr r="0" g="0" b="0"/>
          </a:effectRef>
          <a:fontRef idx="minor"/>
        </p:style>
      </p:sp>
      <p:sp>
        <p:nvSpPr>
          <p:cNvPr id="1876835680" name="Text 8"/>
          <p:cNvSpPr/>
          <p:nvPr/>
        </p:nvSpPr>
        <p:spPr bwMode="auto">
          <a:xfrm>
            <a:off x="540000" y="5898240"/>
            <a:ext cx="810000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76000" lnSpcReduction="10000"/>
          </a:bodyPr>
          <a:lstStyle/>
          <a:p>
            <a:pPr>
              <a:lnSpc>
                <a:spcPct val="100000"/>
              </a:lnSpc>
              <a:buNone/>
              <a:tabLst>
                <a:tab pos="0" algn="l"/>
              </a:tabLst>
              <a:defRPr/>
            </a:pPr>
            <a:r>
              <a:rPr lang="zh-CN" sz="1400" b="1" strike="noStrike" spc="0">
                <a:solidFill>
                  <a:srgbClr val="222222"/>
                </a:solidFill>
                <a:latin typeface="Microsoft YaHei"/>
                <a:ea typeface="Microsoft YaHei"/>
              </a:rPr>
              <a:t>汇总 所有样本的 </a:t>
            </a:r>
            <a:r>
              <a:rPr lang="en-US" sz="1400" b="1" strike="noStrike" spc="0">
                <a:solidFill>
                  <a:srgbClr val="222222"/>
                </a:solidFill>
                <a:latin typeface="Microsoft YaHei"/>
                <a:ea typeface="Microsoft YaHei"/>
              </a:rPr>
              <a:t>Recall</a:t>
            </a:r>
            <a:r>
              <a:rPr lang="zh-CN" sz="1400" b="1" strike="noStrike" spc="0">
                <a:solidFill>
                  <a:srgbClr val="222222"/>
                </a:solidFill>
                <a:latin typeface="Microsoft YaHei"/>
                <a:ea typeface="Microsoft YaHei"/>
              </a:rPr>
              <a:t>、</a:t>
            </a:r>
            <a:r>
              <a:rPr lang="en-US" sz="1400" b="1" strike="noStrike" spc="0">
                <a:solidFill>
                  <a:srgbClr val="222222"/>
                </a:solidFill>
                <a:latin typeface="Microsoft YaHei"/>
                <a:ea typeface="Microsoft YaHei"/>
              </a:rPr>
              <a:t>Precision </a:t>
            </a:r>
            <a:r>
              <a:rPr lang="zh-CN" sz="1400" b="1" strike="noStrike" spc="0">
                <a:solidFill>
                  <a:srgbClr val="222222"/>
                </a:solidFill>
                <a:latin typeface="Microsoft YaHei"/>
                <a:ea typeface="Microsoft YaHei"/>
              </a:rPr>
              <a:t>和碰撞有效率，判断候选抓取是否覆盖 </a:t>
            </a:r>
            <a:r>
              <a:rPr lang="en-US" sz="1400" b="1" strike="noStrike" spc="0">
                <a:solidFill>
                  <a:srgbClr val="222222"/>
                </a:solidFill>
                <a:latin typeface="Microsoft YaHei"/>
                <a:ea typeface="Microsoft YaHei"/>
              </a:rPr>
              <a:t>GT</a:t>
            </a:r>
            <a:r>
              <a:rPr lang="zh-CN" sz="1400" b="1" strike="noStrike" spc="0">
                <a:solidFill>
                  <a:srgbClr val="222222"/>
                </a:solidFill>
                <a:latin typeface="Microsoft YaHei"/>
                <a:ea typeface="Microsoft YaHei"/>
              </a:rPr>
              <a:t>、是否接近 </a:t>
            </a:r>
            <a:r>
              <a:rPr lang="en-US" sz="1400" b="1" strike="noStrike" spc="0">
                <a:solidFill>
                  <a:srgbClr val="222222"/>
                </a:solidFill>
                <a:latin typeface="Microsoft YaHei"/>
                <a:ea typeface="Microsoft YaHei"/>
              </a:rPr>
              <a:t>GT</a:t>
            </a:r>
            <a:r>
              <a:rPr lang="zh-CN" sz="1400" b="1" strike="noStrike" spc="0">
                <a:solidFill>
                  <a:srgbClr val="222222"/>
                </a:solidFill>
                <a:latin typeface="Microsoft YaHei"/>
                <a:ea typeface="Microsoft YaHei"/>
              </a:rPr>
              <a:t>、是否无碰撞</a:t>
            </a:r>
            <a:endParaRPr lang="en-US" sz="1400" b="1" strike="noStrike" spc="0">
              <a:latin typeface="Arial"/>
            </a:endParaRPr>
          </a:p>
        </p:txBody>
      </p:sp>
      <p:pic>
        <p:nvPicPr>
          <p:cNvPr id="34574402" name="Image 4" descr="/mnt/data/01_overall_metrics_50samples.png"/>
          <p:cNvPicPr/>
          <p:nvPr/>
        </p:nvPicPr>
        <p:blipFill rotWithShape="1">
          <a:blip r:embed="rId4"/>
          <a:stretch/>
        </p:blipFill>
        <p:spPr bwMode="auto">
          <a:xfrm>
            <a:off x="400320" y="1800000"/>
            <a:ext cx="5899680" cy="333180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273655574" name="Image 0" descr="/mnt/data/template_bg_no_page.png"/>
          <p:cNvPicPr/>
          <p:nvPr/>
        </p:nvPicPr>
        <p:blipFill rotWithShape="1">
          <a:blip r:embed="rId3"/>
          <a:stretch/>
        </p:blipFill>
        <p:spPr bwMode="auto">
          <a:xfrm>
            <a:off x="36360" y="360"/>
            <a:ext cx="9143640" cy="6857640"/>
          </a:xfrm>
          <a:prstGeom prst="rect">
            <a:avLst/>
          </a:prstGeom>
          <a:ln w="0">
            <a:noFill/>
          </a:ln>
        </p:spPr>
      </p:pic>
      <p:sp>
        <p:nvSpPr>
          <p:cNvPr id="1745590524" name="Text 0"/>
          <p:cNvSpPr/>
          <p:nvPr/>
        </p:nvSpPr>
        <p:spPr bwMode="auto">
          <a:xfrm>
            <a:off x="8119800" y="274320"/>
            <a:ext cx="776878"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buNone/>
              <a:tabLst>
                <a:tab pos="0" algn="l"/>
              </a:tabLst>
              <a:defRPr/>
            </a:pPr>
            <a:r>
              <a:rPr lang="en-US" sz="1100" b="0" strike="noStrike" spc="0">
                <a:solidFill>
                  <a:srgbClr val="FFFFFF"/>
                </a:solidFill>
                <a:latin typeface="Arial"/>
                <a:ea typeface="Arial"/>
              </a:rPr>
              <a:t>Page 3</a:t>
            </a:r>
            <a:endParaRPr lang="en-US" sz="1100" b="0" strike="noStrike" spc="0">
              <a:latin typeface="Arial"/>
            </a:endParaRPr>
          </a:p>
        </p:txBody>
      </p:sp>
      <p:sp>
        <p:nvSpPr>
          <p:cNvPr id="1416319643" name="Text 1"/>
          <p:cNvSpPr/>
          <p:nvPr/>
        </p:nvSpPr>
        <p:spPr bwMode="auto">
          <a:xfrm>
            <a:off x="411480" y="951120"/>
            <a:ext cx="82292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tabLst>
                <a:tab pos="0" algn="l"/>
              </a:tabLst>
              <a:defRPr/>
            </a:pPr>
            <a:r>
              <a:rPr lang="en-US" sz="2200" b="1" strike="noStrike" spc="0">
                <a:solidFill>
                  <a:srgbClr val="004A98"/>
                </a:solidFill>
                <a:latin typeface="Microsoft YaHei"/>
                <a:ea typeface="Microsoft YaHei"/>
              </a:rPr>
              <a:t>4.2 ADD-S </a:t>
            </a:r>
            <a:r>
              <a:rPr lang="zh-CN" sz="2200" b="1" strike="noStrike" spc="0">
                <a:solidFill>
                  <a:srgbClr val="004A98"/>
                </a:solidFill>
                <a:latin typeface="Microsoft YaHei"/>
                <a:ea typeface="Microsoft YaHei"/>
              </a:rPr>
              <a:t>抓取集合距离：预测集合与 </a:t>
            </a:r>
            <a:r>
              <a:rPr lang="en-US" sz="2200" b="1" strike="noStrike" spc="0">
                <a:solidFill>
                  <a:srgbClr val="004A98"/>
                </a:solidFill>
                <a:latin typeface="Microsoft YaHei"/>
                <a:ea typeface="Microsoft YaHei"/>
              </a:rPr>
              <a:t>GT </a:t>
            </a:r>
            <a:r>
              <a:rPr lang="zh-CN" sz="2200" b="1" strike="noStrike" spc="0">
                <a:solidFill>
                  <a:srgbClr val="004A98"/>
                </a:solidFill>
                <a:latin typeface="Microsoft YaHei"/>
                <a:ea typeface="Microsoft YaHei"/>
              </a:rPr>
              <a:t>集合差多远</a:t>
            </a:r>
            <a:endParaRPr lang="en-US" sz="2200" b="0" strike="noStrike" spc="0">
              <a:latin typeface="Arial"/>
            </a:endParaRPr>
          </a:p>
        </p:txBody>
      </p:sp>
      <p:sp>
        <p:nvSpPr>
          <p:cNvPr id="1343809506" name="Shape 2"/>
          <p:cNvSpPr/>
          <p:nvPr/>
        </p:nvSpPr>
        <p:spPr bwMode="auto">
          <a:xfrm>
            <a:off x="18000" y="1426319"/>
            <a:ext cx="9107640" cy="360"/>
          </a:xfrm>
          <a:prstGeom prst="line">
            <a:avLst/>
          </a:prstGeom>
          <a:ln w="13970">
            <a:solidFill>
              <a:srgbClr val="004A98"/>
            </a:solidFill>
            <a:round/>
          </a:ln>
        </p:spPr>
        <p:style>
          <a:lnRef idx="0">
            <a:scrgbClr r="0" g="0" b="0"/>
          </a:lnRef>
          <a:fillRef idx="0">
            <a:scrgbClr r="0" g="0" b="0"/>
          </a:fillRef>
          <a:effectRef idx="0">
            <a:scrgbClr r="0" g="0" b="0"/>
          </a:effectRef>
          <a:fontRef idx="minor"/>
        </p:style>
      </p:sp>
      <p:sp>
        <p:nvSpPr>
          <p:cNvPr id="895492323" name="Shape 3"/>
          <p:cNvSpPr/>
          <p:nvPr/>
        </p:nvSpPr>
        <p:spPr bwMode="auto">
          <a:xfrm>
            <a:off x="255960" y="1581840"/>
            <a:ext cx="8631720" cy="4827600"/>
          </a:xfrm>
          <a:prstGeom prst="rect">
            <a:avLst/>
          </a:prstGeom>
          <a:noFill/>
          <a:ln w="13335">
            <a:solidFill>
              <a:srgbClr val="9E9E9E"/>
            </a:solidFill>
            <a:round/>
          </a:ln>
        </p:spPr>
        <p:style>
          <a:lnRef idx="0">
            <a:scrgbClr r="0" g="0" b="0"/>
          </a:lnRef>
          <a:fillRef idx="0">
            <a:scrgbClr r="0" g="0" b="0"/>
          </a:fillRef>
          <a:effectRef idx="0">
            <a:scrgbClr r="0" g="0" b="0"/>
          </a:effectRef>
          <a:fontRef idx="minor"/>
        </p:style>
      </p:sp>
      <p:sp>
        <p:nvSpPr>
          <p:cNvPr id="1583881206" name="Shape 4"/>
          <p:cNvSpPr/>
          <p:nvPr/>
        </p:nvSpPr>
        <p:spPr bwMode="auto">
          <a:xfrm>
            <a:off x="6446520" y="1828800"/>
            <a:ext cx="2148480" cy="3382920"/>
          </a:xfrm>
          <a:prstGeom prst="rect">
            <a:avLst/>
          </a:prstGeom>
          <a:solidFill>
            <a:srgbClr val="EAF2FC"/>
          </a:solidFill>
          <a:ln w="12700">
            <a:solidFill>
              <a:srgbClr val="CFE2F6"/>
            </a:solidFill>
            <a:round/>
          </a:ln>
        </p:spPr>
        <p:style>
          <a:lnRef idx="0">
            <a:scrgbClr r="0" g="0" b="0"/>
          </a:lnRef>
          <a:fillRef idx="0">
            <a:scrgbClr r="0" g="0" b="0"/>
          </a:fillRef>
          <a:effectRef idx="0">
            <a:scrgbClr r="0" g="0" b="0"/>
          </a:effectRef>
          <a:fontRef idx="minor"/>
        </p:style>
      </p:sp>
      <p:sp>
        <p:nvSpPr>
          <p:cNvPr id="1821688390" name="Text 5"/>
          <p:cNvSpPr/>
          <p:nvPr/>
        </p:nvSpPr>
        <p:spPr bwMode="auto">
          <a:xfrm>
            <a:off x="6583680" y="1947600"/>
            <a:ext cx="1874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buNone/>
              <a:tabLst>
                <a:tab pos="0" algn="l"/>
              </a:tabLst>
              <a:defRPr/>
            </a:pPr>
            <a:r>
              <a:rPr lang="zh-CN" sz="1250" b="1" strike="noStrike" spc="0">
                <a:solidFill>
                  <a:srgbClr val="004A98"/>
                </a:solidFill>
                <a:latin typeface="Microsoft YaHei"/>
                <a:ea typeface="Microsoft YaHei"/>
              </a:rPr>
              <a:t>图在干什么？</a:t>
            </a:r>
            <a:endParaRPr lang="en-US" sz="1250" b="0" strike="noStrike" spc="0">
              <a:latin typeface="Arial"/>
            </a:endParaRPr>
          </a:p>
        </p:txBody>
      </p:sp>
      <p:sp>
        <p:nvSpPr>
          <p:cNvPr id="345856277" name="Text 6"/>
          <p:cNvSpPr/>
          <p:nvPr/>
        </p:nvSpPr>
        <p:spPr bwMode="auto">
          <a:xfrm>
            <a:off x="6611038" y="2304360"/>
            <a:ext cx="1828440" cy="2815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a:lnSpc>
                <a:spcPct val="100000"/>
              </a:lnSpc>
              <a:spcBef>
                <a:spcPts val="1700"/>
              </a:spcBef>
              <a:buNone/>
              <a:tabLst>
                <a:tab pos="0" algn="l"/>
              </a:tabLst>
              <a:defRPr/>
            </a:pPr>
            <a:r>
              <a:rPr lang="en-US" sz="1200" b="0" strike="noStrike" spc="0">
                <a:solidFill>
                  <a:srgbClr val="1D2733"/>
                </a:solidFill>
                <a:latin typeface="Microsoft YaHei"/>
                <a:ea typeface="Microsoft YaHei"/>
              </a:rPr>
              <a:t>• </a:t>
            </a:r>
            <a:r>
              <a:rPr lang="zh-CN" sz="1200" b="0" strike="noStrike" spc="0">
                <a:solidFill>
                  <a:srgbClr val="1D2733"/>
                </a:solidFill>
                <a:latin typeface="Microsoft YaHei"/>
                <a:ea typeface="Microsoft YaHei"/>
              </a:rPr>
              <a:t>不是只比较夹爪中心点。</a:t>
            </a:r>
            <a:endParaRPr lang="en-US" sz="1200" b="0" strike="noStrike" spc="0">
              <a:latin typeface="Arial"/>
            </a:endParaRPr>
          </a:p>
          <a:p>
            <a:pPr>
              <a:lnSpc>
                <a:spcPct val="100000"/>
              </a:lnSpc>
              <a:spcBef>
                <a:spcPts val="1700"/>
              </a:spcBef>
              <a:buNone/>
              <a:tabLst>
                <a:tab pos="0" algn="l"/>
              </a:tabLst>
              <a:defRPr/>
            </a:pPr>
            <a:r>
              <a:rPr lang="en-US" sz="1200" b="0" strike="noStrike" spc="0">
                <a:solidFill>
                  <a:srgbClr val="1D2733"/>
                </a:solidFill>
                <a:latin typeface="Microsoft YaHei"/>
                <a:ea typeface="Microsoft YaHei"/>
              </a:rPr>
              <a:t>• </a:t>
            </a:r>
            <a:r>
              <a:rPr lang="zh-CN" sz="1200" b="0" strike="noStrike" spc="0">
                <a:solidFill>
                  <a:srgbClr val="1D2733"/>
                </a:solidFill>
                <a:latin typeface="Microsoft YaHei"/>
                <a:ea typeface="Microsoft YaHei"/>
              </a:rPr>
              <a:t>用夹爪控制点计算姿态集合距离。</a:t>
            </a:r>
            <a:endParaRPr lang="en-US" sz="1200" b="0" strike="noStrike" spc="0">
              <a:latin typeface="Arial"/>
            </a:endParaRPr>
          </a:p>
          <a:p>
            <a:pPr>
              <a:lnSpc>
                <a:spcPct val="100000"/>
              </a:lnSpc>
              <a:spcBef>
                <a:spcPts val="1700"/>
              </a:spcBef>
              <a:buNone/>
              <a:tabLst>
                <a:tab pos="0" algn="l"/>
              </a:tabLst>
              <a:defRPr/>
            </a:pPr>
            <a:r>
              <a:rPr lang="en-US" sz="1200" b="0" strike="noStrike" spc="0">
                <a:solidFill>
                  <a:srgbClr val="1D2733"/>
                </a:solidFill>
                <a:latin typeface="Microsoft YaHei"/>
                <a:ea typeface="Microsoft YaHei"/>
              </a:rPr>
              <a:t>• Pred→GT</a:t>
            </a:r>
            <a:r>
              <a:rPr lang="zh-CN" sz="1200" b="0" strike="noStrike" spc="0">
                <a:solidFill>
                  <a:srgbClr val="1D2733"/>
                </a:solidFill>
                <a:latin typeface="Microsoft YaHei"/>
                <a:ea typeface="Microsoft YaHei"/>
              </a:rPr>
              <a:t>：预测到最近 </a:t>
            </a:r>
            <a:r>
              <a:rPr lang="en-US" sz="1200" b="0" strike="noStrike" spc="0">
                <a:solidFill>
                  <a:srgbClr val="1D2733"/>
                </a:solidFill>
                <a:latin typeface="Microsoft YaHei"/>
                <a:ea typeface="Microsoft YaHei"/>
              </a:rPr>
              <a:t>GT </a:t>
            </a:r>
            <a:r>
              <a:rPr lang="zh-CN" sz="1200" b="0" strike="noStrike" spc="0">
                <a:solidFill>
                  <a:srgbClr val="1D2733"/>
                </a:solidFill>
                <a:latin typeface="Microsoft YaHei"/>
                <a:ea typeface="Microsoft YaHei"/>
              </a:rPr>
              <a:t>的距离。</a:t>
            </a:r>
            <a:endParaRPr lang="en-US" sz="1200" b="0" strike="noStrike" spc="0">
              <a:latin typeface="Arial"/>
            </a:endParaRPr>
          </a:p>
          <a:p>
            <a:pPr>
              <a:lnSpc>
                <a:spcPct val="100000"/>
              </a:lnSpc>
              <a:spcBef>
                <a:spcPts val="1700"/>
              </a:spcBef>
              <a:buNone/>
              <a:tabLst>
                <a:tab pos="0" algn="l"/>
              </a:tabLst>
              <a:defRPr/>
            </a:pPr>
            <a:r>
              <a:rPr lang="en-US" sz="1200" b="0" strike="noStrike" spc="0">
                <a:solidFill>
                  <a:srgbClr val="1D2733"/>
                </a:solidFill>
                <a:latin typeface="Microsoft YaHei"/>
                <a:ea typeface="Microsoft YaHei"/>
              </a:rPr>
              <a:t>• GT→Pred</a:t>
            </a:r>
            <a:r>
              <a:rPr lang="zh-CN" sz="1200" b="0" strike="noStrike" spc="0">
                <a:solidFill>
                  <a:srgbClr val="1D2733"/>
                </a:solidFill>
                <a:latin typeface="Microsoft YaHei"/>
                <a:ea typeface="Microsoft YaHei"/>
              </a:rPr>
              <a:t>：</a:t>
            </a:r>
            <a:r>
              <a:rPr lang="en-US" sz="1200" b="0" strike="noStrike" spc="0">
                <a:solidFill>
                  <a:srgbClr val="1D2733"/>
                </a:solidFill>
                <a:latin typeface="Microsoft YaHei"/>
                <a:ea typeface="Microsoft YaHei"/>
              </a:rPr>
              <a:t>GT </a:t>
            </a:r>
            <a:r>
              <a:rPr lang="zh-CN" sz="1200" b="0" strike="noStrike" spc="0">
                <a:solidFill>
                  <a:srgbClr val="1D2733"/>
                </a:solidFill>
                <a:latin typeface="Microsoft YaHei"/>
                <a:ea typeface="Microsoft YaHei"/>
              </a:rPr>
              <a:t>到最近预测的距离。</a:t>
            </a:r>
            <a:endParaRPr lang="en-US" sz="1200" b="0" strike="noStrike" spc="0">
              <a:latin typeface="Arial"/>
            </a:endParaRPr>
          </a:p>
          <a:p>
            <a:pPr>
              <a:lnSpc>
                <a:spcPct val="100000"/>
              </a:lnSpc>
              <a:spcBef>
                <a:spcPts val="1700"/>
              </a:spcBef>
              <a:buNone/>
              <a:tabLst>
                <a:tab pos="0" algn="l"/>
              </a:tabLst>
              <a:defRPr/>
            </a:pPr>
            <a:r>
              <a:rPr lang="en-US" sz="1200" b="0" strike="noStrike" spc="0">
                <a:solidFill>
                  <a:srgbClr val="1D2733"/>
                </a:solidFill>
                <a:latin typeface="Microsoft YaHei"/>
                <a:ea typeface="Microsoft YaHei"/>
              </a:rPr>
              <a:t>• </a:t>
            </a:r>
            <a:r>
              <a:rPr lang="zh-CN" sz="1200" b="0" strike="noStrike" spc="0">
                <a:solidFill>
                  <a:srgbClr val="1D2733"/>
                </a:solidFill>
                <a:latin typeface="Microsoft YaHei"/>
                <a:ea typeface="Microsoft YaHei"/>
              </a:rPr>
              <a:t>单位为 </a:t>
            </a:r>
            <a:r>
              <a:rPr lang="en-US" sz="1200" b="0" strike="noStrike" spc="0">
                <a:solidFill>
                  <a:srgbClr val="1D2733"/>
                </a:solidFill>
                <a:latin typeface="Microsoft YaHei"/>
                <a:ea typeface="Microsoft YaHei"/>
              </a:rPr>
              <a:t>mm</a:t>
            </a:r>
            <a:r>
              <a:rPr lang="zh-CN" sz="1200" b="0" strike="noStrike" spc="0">
                <a:solidFill>
                  <a:srgbClr val="1D2733"/>
                </a:solidFill>
                <a:latin typeface="Microsoft YaHei"/>
                <a:ea typeface="Microsoft YaHei"/>
              </a:rPr>
              <a:t>，越低代表越接近。</a:t>
            </a:r>
            <a:endParaRPr lang="en-US" sz="1200" b="0" strike="noStrike" spc="0">
              <a:latin typeface="Arial"/>
            </a:endParaRPr>
          </a:p>
        </p:txBody>
      </p:sp>
      <p:sp>
        <p:nvSpPr>
          <p:cNvPr id="1857984868" name="Shape 7"/>
          <p:cNvSpPr/>
          <p:nvPr/>
        </p:nvSpPr>
        <p:spPr bwMode="auto">
          <a:xfrm>
            <a:off x="255960" y="5678640"/>
            <a:ext cx="8631720" cy="310680"/>
          </a:xfrm>
          <a:prstGeom prst="rect">
            <a:avLst/>
          </a:prstGeom>
          <a:solidFill>
            <a:srgbClr val="EAF2FC"/>
          </a:solidFill>
          <a:ln w="12700">
            <a:solidFill>
              <a:srgbClr val="EAF2FC"/>
            </a:solidFill>
            <a:round/>
          </a:ln>
        </p:spPr>
        <p:style>
          <a:lnRef idx="0">
            <a:scrgbClr r="0" g="0" b="0"/>
          </a:lnRef>
          <a:fillRef idx="0">
            <a:scrgbClr r="0" g="0" b="0"/>
          </a:fillRef>
          <a:effectRef idx="0">
            <a:scrgbClr r="0" g="0" b="0"/>
          </a:effectRef>
          <a:fontRef idx="minor"/>
        </p:style>
      </p:sp>
      <p:sp>
        <p:nvSpPr>
          <p:cNvPr id="1273861358" name="Text 8"/>
          <p:cNvSpPr/>
          <p:nvPr/>
        </p:nvSpPr>
        <p:spPr bwMode="auto">
          <a:xfrm>
            <a:off x="523438" y="5760000"/>
            <a:ext cx="793656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77000" lnSpcReduction="10000"/>
          </a:bodyPr>
          <a:lstStyle/>
          <a:p>
            <a:pPr>
              <a:lnSpc>
                <a:spcPct val="100000"/>
              </a:lnSpc>
              <a:buNone/>
              <a:tabLst>
                <a:tab pos="0" algn="l"/>
              </a:tabLst>
              <a:defRPr/>
            </a:pPr>
            <a:r>
              <a:rPr lang="en-US" sz="1400" b="1" strike="noStrike" spc="0">
                <a:solidFill>
                  <a:srgbClr val="1D2733"/>
                </a:solidFill>
                <a:latin typeface="Microsoft YaHei"/>
                <a:ea typeface="Microsoft YaHei"/>
              </a:rPr>
              <a:t>ADD-S </a:t>
            </a:r>
            <a:r>
              <a:rPr lang="zh-CN" sz="1400" b="1" strike="noStrike" spc="0">
                <a:solidFill>
                  <a:srgbClr val="1D2733"/>
                </a:solidFill>
                <a:latin typeface="Microsoft YaHei"/>
                <a:ea typeface="Microsoft YaHei"/>
              </a:rPr>
              <a:t>同时反映位置和姿态差异，更适合评价 </a:t>
            </a:r>
            <a:r>
              <a:rPr lang="en-US" sz="1400" b="1" strike="noStrike" spc="0">
                <a:solidFill>
                  <a:srgbClr val="1D2733"/>
                </a:solidFill>
                <a:latin typeface="Microsoft YaHei"/>
                <a:ea typeface="Microsoft YaHei"/>
              </a:rPr>
              <a:t>6DoF </a:t>
            </a:r>
            <a:r>
              <a:rPr lang="zh-CN" sz="1400" b="1" strike="noStrike" spc="0">
                <a:solidFill>
                  <a:srgbClr val="1D2733"/>
                </a:solidFill>
                <a:latin typeface="Microsoft YaHei"/>
                <a:ea typeface="Microsoft YaHei"/>
              </a:rPr>
              <a:t>抓取的几何质量</a:t>
            </a:r>
            <a:r>
              <a:rPr lang="zh-CN" sz="1200" b="1" strike="noStrike" spc="0">
                <a:solidFill>
                  <a:srgbClr val="1D2733"/>
                </a:solidFill>
                <a:latin typeface="Microsoft YaHei"/>
                <a:ea typeface="Microsoft YaHei"/>
              </a:rPr>
              <a:t>。</a:t>
            </a:r>
            <a:endParaRPr lang="en-US" sz="1200" b="0" strike="noStrike" spc="0">
              <a:latin typeface="Arial"/>
            </a:endParaRPr>
          </a:p>
        </p:txBody>
      </p:sp>
      <p:pic>
        <p:nvPicPr>
          <p:cNvPr id="793073363" name="Image 5" descr="/mnt/data/03_adds_distance_50samples.png"/>
          <p:cNvPicPr/>
          <p:nvPr/>
        </p:nvPicPr>
        <p:blipFill rotWithShape="1">
          <a:blip r:embed="rId4"/>
          <a:stretch/>
        </p:blipFill>
        <p:spPr bwMode="auto">
          <a:xfrm>
            <a:off x="508680" y="1782720"/>
            <a:ext cx="5791320" cy="325728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37559029" name="Image 0" descr="/mnt/data/template_bg_no_page.png"/>
          <p:cNvPicPr/>
          <p:nvPr/>
        </p:nvPicPr>
        <p:blipFill rotWithShape="1">
          <a:blip r:embed="rId3"/>
          <a:stretch/>
        </p:blipFill>
        <p:spPr bwMode="auto">
          <a:xfrm>
            <a:off x="360" y="0"/>
            <a:ext cx="9143640" cy="6857640"/>
          </a:xfrm>
          <a:prstGeom prst="rect">
            <a:avLst/>
          </a:prstGeom>
          <a:ln w="0">
            <a:noFill/>
          </a:ln>
        </p:spPr>
      </p:pic>
      <p:sp>
        <p:nvSpPr>
          <p:cNvPr id="1682922432" name="Text 0"/>
          <p:cNvSpPr/>
          <p:nvPr/>
        </p:nvSpPr>
        <p:spPr bwMode="auto">
          <a:xfrm>
            <a:off x="8119800" y="274320"/>
            <a:ext cx="776878"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buNone/>
              <a:tabLst>
                <a:tab pos="0" algn="l"/>
              </a:tabLst>
              <a:defRPr/>
            </a:pPr>
            <a:r>
              <a:rPr lang="en-US" sz="1100" b="0" strike="noStrike" spc="0">
                <a:solidFill>
                  <a:srgbClr val="FFFFFF"/>
                </a:solidFill>
                <a:latin typeface="Arial"/>
                <a:ea typeface="Arial"/>
              </a:rPr>
              <a:t>Page 4</a:t>
            </a:r>
            <a:endParaRPr lang="en-US" sz="1100" b="0" strike="noStrike" spc="0">
              <a:latin typeface="Arial"/>
            </a:endParaRPr>
          </a:p>
        </p:txBody>
      </p:sp>
      <p:sp>
        <p:nvSpPr>
          <p:cNvPr id="623144181" name="Text 1"/>
          <p:cNvSpPr/>
          <p:nvPr/>
        </p:nvSpPr>
        <p:spPr bwMode="auto">
          <a:xfrm>
            <a:off x="411480" y="951120"/>
            <a:ext cx="82292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tabLst>
                <a:tab pos="0" algn="l"/>
              </a:tabLst>
              <a:defRPr/>
            </a:pPr>
            <a:r>
              <a:rPr lang="en-US" sz="2200" b="1" strike="noStrike" spc="0">
                <a:solidFill>
                  <a:srgbClr val="004A98"/>
                </a:solidFill>
                <a:latin typeface="Microsoft YaHei"/>
                <a:ea typeface="Microsoft YaHei"/>
              </a:rPr>
              <a:t>4.3 Discriminator </a:t>
            </a:r>
            <a:r>
              <a:rPr lang="zh-CN" sz="2200" b="1" strike="noStrike" spc="0">
                <a:solidFill>
                  <a:srgbClr val="004A98"/>
                </a:solidFill>
                <a:latin typeface="Microsoft YaHei"/>
                <a:ea typeface="Microsoft YaHei"/>
              </a:rPr>
              <a:t>评分分析：</a:t>
            </a:r>
            <a:r>
              <a:rPr lang="en-US" sz="2200" b="1" strike="noStrike" spc="0">
                <a:solidFill>
                  <a:srgbClr val="004A98"/>
                </a:solidFill>
                <a:latin typeface="Microsoft YaHei"/>
                <a:ea typeface="Microsoft YaHei"/>
              </a:rPr>
              <a:t>score </a:t>
            </a:r>
            <a:r>
              <a:rPr lang="zh-CN" sz="2200" b="1" strike="noStrike" spc="0">
                <a:solidFill>
                  <a:srgbClr val="004A98"/>
                </a:solidFill>
                <a:latin typeface="Microsoft YaHei"/>
                <a:ea typeface="Microsoft YaHei"/>
              </a:rPr>
              <a:t>阈值调试与 </a:t>
            </a:r>
            <a:r>
              <a:rPr lang="en-US" sz="2200" b="1" strike="noStrike" spc="0">
                <a:solidFill>
                  <a:srgbClr val="004A98"/>
                </a:solidFill>
                <a:latin typeface="Microsoft YaHei"/>
                <a:ea typeface="Microsoft YaHei"/>
              </a:rPr>
              <a:t>GT </a:t>
            </a:r>
            <a:r>
              <a:rPr lang="zh-CN" sz="2200" b="1" strike="noStrike" spc="0">
                <a:solidFill>
                  <a:srgbClr val="004A98"/>
                </a:solidFill>
                <a:latin typeface="Microsoft YaHei"/>
                <a:ea typeface="Microsoft YaHei"/>
              </a:rPr>
              <a:t>匹配分配</a:t>
            </a:r>
            <a:endParaRPr lang="en-US" sz="2200" b="0" strike="noStrike" spc="0">
              <a:latin typeface="Arial"/>
            </a:endParaRPr>
          </a:p>
        </p:txBody>
      </p:sp>
      <p:sp>
        <p:nvSpPr>
          <p:cNvPr id="1364098425" name="Shape 2"/>
          <p:cNvSpPr/>
          <p:nvPr/>
        </p:nvSpPr>
        <p:spPr bwMode="auto">
          <a:xfrm>
            <a:off x="18000" y="1426319"/>
            <a:ext cx="9107640" cy="360"/>
          </a:xfrm>
          <a:prstGeom prst="line">
            <a:avLst/>
          </a:prstGeom>
          <a:ln w="13970">
            <a:solidFill>
              <a:srgbClr val="004A98"/>
            </a:solidFill>
            <a:round/>
          </a:ln>
        </p:spPr>
        <p:style>
          <a:lnRef idx="0">
            <a:scrgbClr r="0" g="0" b="0"/>
          </a:lnRef>
          <a:fillRef idx="0">
            <a:scrgbClr r="0" g="0" b="0"/>
          </a:fillRef>
          <a:effectRef idx="0">
            <a:scrgbClr r="0" g="0" b="0"/>
          </a:effectRef>
          <a:fontRef idx="minor"/>
        </p:style>
      </p:sp>
      <p:sp>
        <p:nvSpPr>
          <p:cNvPr id="1919092541" name="Shape 3"/>
          <p:cNvSpPr/>
          <p:nvPr/>
        </p:nvSpPr>
        <p:spPr bwMode="auto">
          <a:xfrm>
            <a:off x="255960" y="1581840"/>
            <a:ext cx="8631720" cy="4827600"/>
          </a:xfrm>
          <a:prstGeom prst="rect">
            <a:avLst/>
          </a:prstGeom>
          <a:noFill/>
          <a:ln w="13335">
            <a:solidFill>
              <a:srgbClr val="9E9E9E"/>
            </a:solidFill>
            <a:round/>
          </a:ln>
        </p:spPr>
        <p:style>
          <a:lnRef idx="0">
            <a:scrgbClr r="0" g="0" b="0"/>
          </a:lnRef>
          <a:fillRef idx="0">
            <a:scrgbClr r="0" g="0" b="0"/>
          </a:fillRef>
          <a:effectRef idx="0">
            <a:scrgbClr r="0" g="0" b="0"/>
          </a:effectRef>
          <a:fontRef idx="minor"/>
        </p:style>
      </p:sp>
      <p:sp>
        <p:nvSpPr>
          <p:cNvPr id="360038300" name="Shape 4"/>
          <p:cNvSpPr/>
          <p:nvPr/>
        </p:nvSpPr>
        <p:spPr bwMode="auto">
          <a:xfrm>
            <a:off x="777240" y="4860000"/>
            <a:ext cx="3337200" cy="671760"/>
          </a:xfrm>
          <a:prstGeom prst="roundRect">
            <a:avLst>
              <a:gd name="adj" fmla="val 21429"/>
            </a:avLst>
          </a:prstGeom>
          <a:solidFill>
            <a:srgbClr val="004A98"/>
          </a:solidFill>
          <a:ln w="12700">
            <a:solidFill>
              <a:srgbClr val="004A98"/>
            </a:solidFill>
            <a:round/>
          </a:ln>
        </p:spPr>
        <p:style>
          <a:lnRef idx="0">
            <a:scrgbClr r="0" g="0" b="0"/>
          </a:lnRef>
          <a:fillRef idx="0">
            <a:scrgbClr r="0" g="0" b="0"/>
          </a:fillRef>
          <a:effectRef idx="0">
            <a:scrgbClr r="0" g="0" b="0"/>
          </a:effectRef>
          <a:fontRef idx="minor"/>
        </p:style>
      </p:sp>
      <p:sp>
        <p:nvSpPr>
          <p:cNvPr id="1364237875" name="Text 5"/>
          <p:cNvSpPr/>
          <p:nvPr/>
        </p:nvSpPr>
        <p:spPr bwMode="auto">
          <a:xfrm>
            <a:off x="831960" y="5220000"/>
            <a:ext cx="312804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spcBef>
                <a:spcPts val="849"/>
              </a:spcBef>
              <a:buNone/>
              <a:tabLst>
                <a:tab pos="0" algn="l"/>
              </a:tabLst>
              <a:defRPr/>
            </a:pPr>
            <a:r>
              <a:rPr lang="en-US" sz="1200" b="1" strike="noStrike" spc="0">
                <a:solidFill>
                  <a:srgbClr val="FFFFFF"/>
                </a:solidFill>
                <a:latin typeface="Microsoft YaHei"/>
                <a:ea typeface="Microsoft YaHei"/>
              </a:rPr>
              <a:t>score threshold → Precision / Recall</a:t>
            </a:r>
            <a:endParaRPr lang="en-US" sz="1200" b="0" strike="noStrike" spc="0">
              <a:latin typeface="Arial"/>
            </a:endParaRPr>
          </a:p>
          <a:p>
            <a:pPr algn="ctr">
              <a:lnSpc>
                <a:spcPct val="100000"/>
              </a:lnSpc>
              <a:spcBef>
                <a:spcPts val="849"/>
              </a:spcBef>
              <a:buNone/>
              <a:tabLst>
                <a:tab pos="0" algn="l"/>
              </a:tabLst>
              <a:defRPr/>
            </a:pPr>
            <a:r>
              <a:rPr lang="zh-CN" sz="1200" b="1" strike="noStrike" spc="0">
                <a:solidFill>
                  <a:srgbClr val="FFFFFF"/>
                </a:solidFill>
                <a:latin typeface="Microsoft YaHei"/>
              </a:rPr>
              <a:t>阈值变化对筛选结果的影响；</a:t>
            </a:r>
            <a:endParaRPr lang="en-US" sz="1200" b="0" strike="noStrike" spc="0">
              <a:latin typeface="Arial"/>
            </a:endParaRPr>
          </a:p>
          <a:p>
            <a:pPr algn="ctr">
              <a:lnSpc>
                <a:spcPct val="100000"/>
              </a:lnSpc>
              <a:buNone/>
              <a:tabLst>
                <a:tab pos="0" algn="l"/>
              </a:tabLst>
              <a:defRPr/>
            </a:pPr>
            <a:endParaRPr lang="en-US" sz="950" b="0" strike="noStrike" spc="0">
              <a:latin typeface="Arial"/>
            </a:endParaRPr>
          </a:p>
        </p:txBody>
      </p:sp>
      <p:sp>
        <p:nvSpPr>
          <p:cNvPr id="1766938666" name="Shape 6"/>
          <p:cNvSpPr/>
          <p:nvPr/>
        </p:nvSpPr>
        <p:spPr bwMode="auto">
          <a:xfrm>
            <a:off x="4974480" y="4860000"/>
            <a:ext cx="3337200" cy="671760"/>
          </a:xfrm>
          <a:prstGeom prst="roundRect">
            <a:avLst>
              <a:gd name="adj" fmla="val 21429"/>
            </a:avLst>
          </a:prstGeom>
          <a:solidFill>
            <a:srgbClr val="3C8D3F"/>
          </a:solidFill>
          <a:ln w="12700">
            <a:solidFill>
              <a:srgbClr val="3C8D3F"/>
            </a:solidFill>
            <a:round/>
          </a:ln>
        </p:spPr>
        <p:style>
          <a:lnRef idx="0">
            <a:scrgbClr r="0" g="0" b="0"/>
          </a:lnRef>
          <a:fillRef idx="0">
            <a:scrgbClr r="0" g="0" b="0"/>
          </a:fillRef>
          <a:effectRef idx="0">
            <a:scrgbClr r="0" g="0" b="0"/>
          </a:effectRef>
          <a:fontRef idx="minor"/>
        </p:style>
      </p:sp>
      <p:sp>
        <p:nvSpPr>
          <p:cNvPr id="1739877806" name="Text 7"/>
          <p:cNvSpPr/>
          <p:nvPr/>
        </p:nvSpPr>
        <p:spPr bwMode="auto">
          <a:xfrm>
            <a:off x="5029199" y="5220000"/>
            <a:ext cx="322740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en-US" sz="1200" b="1" strike="noStrike" spc="0">
                <a:solidFill>
                  <a:srgbClr val="FFFFFF"/>
                </a:solidFill>
                <a:latin typeface="Microsoft YaHei"/>
                <a:ea typeface="Microsoft YaHei"/>
              </a:rPr>
              <a:t>score </a:t>
            </a:r>
            <a:r>
              <a:rPr lang="zh-CN" sz="1200" b="1" strike="noStrike" spc="0">
                <a:solidFill>
                  <a:srgbClr val="FFFFFF"/>
                </a:solidFill>
                <a:latin typeface="Microsoft YaHei"/>
                <a:ea typeface="Microsoft YaHei"/>
              </a:rPr>
              <a:t>分布：匹配 </a:t>
            </a:r>
            <a:r>
              <a:rPr lang="en-US" sz="1200" b="1" strike="noStrike" spc="0">
                <a:solidFill>
                  <a:srgbClr val="FFFFFF"/>
                </a:solidFill>
                <a:latin typeface="Microsoft YaHei"/>
                <a:ea typeface="Microsoft YaHei"/>
              </a:rPr>
              <a:t>/ </a:t>
            </a:r>
            <a:r>
              <a:rPr lang="zh-CN" sz="1200" b="1" strike="noStrike" spc="0">
                <a:solidFill>
                  <a:srgbClr val="FFFFFF"/>
                </a:solidFill>
                <a:latin typeface="Microsoft YaHei"/>
                <a:ea typeface="Microsoft YaHei"/>
              </a:rPr>
              <a:t>未匹配 </a:t>
            </a:r>
            <a:r>
              <a:rPr lang="en-US" sz="1200" b="1" strike="noStrike" spc="0">
                <a:solidFill>
                  <a:srgbClr val="FFFFFF"/>
                </a:solidFill>
                <a:latin typeface="Microsoft YaHei"/>
                <a:ea typeface="Microsoft YaHei"/>
              </a:rPr>
              <a:t>GT</a:t>
            </a:r>
            <a:endParaRPr lang="en-US" sz="1200" b="0" strike="noStrike" spc="0">
              <a:latin typeface="Arial"/>
            </a:endParaRPr>
          </a:p>
          <a:p>
            <a:pPr algn="ctr">
              <a:lnSpc>
                <a:spcPct val="100000"/>
              </a:lnSpc>
              <a:buNone/>
              <a:tabLst>
                <a:tab pos="0" algn="l"/>
              </a:tabLst>
              <a:defRPr/>
            </a:pPr>
            <a:r>
              <a:rPr lang="zh-CN" sz="1200" b="1" strike="noStrike" spc="0">
                <a:solidFill>
                  <a:srgbClr val="FFFFFF"/>
                </a:solidFill>
                <a:latin typeface="Microsoft YaHei"/>
                <a:ea typeface="Microsoft YaHei"/>
              </a:rPr>
              <a:t>高分候选是否更容易与 </a:t>
            </a:r>
            <a:r>
              <a:rPr lang="en-US" sz="1200" b="1" strike="noStrike" spc="0">
                <a:solidFill>
                  <a:srgbClr val="FFFFFF"/>
                </a:solidFill>
                <a:latin typeface="Microsoft YaHei"/>
                <a:ea typeface="Microsoft YaHei"/>
              </a:rPr>
              <a:t>GT </a:t>
            </a:r>
            <a:r>
              <a:rPr lang="zh-CN" sz="1200" b="1" strike="noStrike" spc="0">
                <a:solidFill>
                  <a:srgbClr val="FFFFFF"/>
                </a:solidFill>
                <a:latin typeface="Microsoft YaHei"/>
                <a:ea typeface="Microsoft YaHei"/>
              </a:rPr>
              <a:t>可行抓取匹配。</a:t>
            </a:r>
            <a:endParaRPr lang="en-US" sz="1200" b="0" strike="noStrike" spc="0">
              <a:latin typeface="Arial"/>
            </a:endParaRPr>
          </a:p>
          <a:p>
            <a:pPr algn="ctr">
              <a:lnSpc>
                <a:spcPct val="100000"/>
              </a:lnSpc>
              <a:buNone/>
              <a:tabLst>
                <a:tab pos="0" algn="l"/>
              </a:tabLst>
              <a:defRPr/>
            </a:pPr>
            <a:endParaRPr lang="en-US" sz="950" b="0" strike="noStrike" spc="0">
              <a:latin typeface="Arial"/>
            </a:endParaRPr>
          </a:p>
        </p:txBody>
      </p:sp>
      <p:sp>
        <p:nvSpPr>
          <p:cNvPr id="1529124159" name="Shape 8"/>
          <p:cNvSpPr/>
          <p:nvPr/>
        </p:nvSpPr>
        <p:spPr bwMode="auto">
          <a:xfrm>
            <a:off x="457200" y="5897880"/>
            <a:ext cx="8229240" cy="310680"/>
          </a:xfrm>
          <a:prstGeom prst="rect">
            <a:avLst/>
          </a:prstGeom>
          <a:solidFill>
            <a:srgbClr val="EAF2FC"/>
          </a:solidFill>
          <a:ln w="12700">
            <a:solidFill>
              <a:srgbClr val="EAF2FC"/>
            </a:solidFill>
            <a:round/>
          </a:ln>
        </p:spPr>
        <p:style>
          <a:lnRef idx="0">
            <a:scrgbClr r="0" g="0" b="0"/>
          </a:lnRef>
          <a:fillRef idx="0">
            <a:scrgbClr r="0" g="0" b="0"/>
          </a:fillRef>
          <a:effectRef idx="0">
            <a:scrgbClr r="0" g="0" b="0"/>
          </a:effectRef>
          <a:fontRef idx="minor"/>
        </p:style>
      </p:sp>
      <p:sp>
        <p:nvSpPr>
          <p:cNvPr id="1488613301" name="Text 9"/>
          <p:cNvSpPr/>
          <p:nvPr/>
        </p:nvSpPr>
        <p:spPr bwMode="auto">
          <a:xfrm>
            <a:off x="603360" y="5970960"/>
            <a:ext cx="793656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71000" lnSpcReduction="10000"/>
          </a:bodyPr>
          <a:lstStyle/>
          <a:p>
            <a:pPr>
              <a:lnSpc>
                <a:spcPct val="100000"/>
              </a:lnSpc>
              <a:buNone/>
              <a:tabLst>
                <a:tab pos="0" algn="l"/>
              </a:tabLst>
              <a:defRPr/>
            </a:pPr>
            <a:r>
              <a:rPr lang="en-US" sz="1500" b="1" strike="noStrike" spc="0">
                <a:solidFill>
                  <a:srgbClr val="222222"/>
                </a:solidFill>
                <a:latin typeface="Microsoft YaHei"/>
                <a:ea typeface="Microsoft YaHei"/>
              </a:rPr>
              <a:t>score </a:t>
            </a:r>
            <a:r>
              <a:rPr lang="zh-CN" sz="1500" b="1" strike="noStrike" spc="0">
                <a:solidFill>
                  <a:srgbClr val="222222"/>
                </a:solidFill>
                <a:latin typeface="Microsoft YaHei"/>
                <a:ea typeface="Microsoft YaHei"/>
              </a:rPr>
              <a:t>可以作为筛选依据：提高阈值会更保守；但高分不等于一定匹配 </a:t>
            </a:r>
            <a:r>
              <a:rPr lang="en-US" sz="1500" b="1" strike="noStrike" spc="0">
                <a:solidFill>
                  <a:srgbClr val="222222"/>
                </a:solidFill>
                <a:latin typeface="Microsoft YaHei"/>
                <a:ea typeface="Microsoft YaHei"/>
              </a:rPr>
              <a:t>GT</a:t>
            </a:r>
            <a:r>
              <a:rPr lang="zh-CN" sz="1500" b="1" strike="noStrike" spc="0">
                <a:solidFill>
                  <a:srgbClr val="222222"/>
                </a:solidFill>
                <a:latin typeface="Microsoft YaHei"/>
                <a:ea typeface="Microsoft YaHei"/>
              </a:rPr>
              <a:t>，因此还要结合几何误差和碰撞检测</a:t>
            </a:r>
            <a:endParaRPr lang="en-US" sz="1500" b="1" strike="noStrike" spc="0">
              <a:latin typeface="Arial"/>
            </a:endParaRPr>
          </a:p>
        </p:txBody>
      </p:sp>
      <p:pic>
        <p:nvPicPr>
          <p:cNvPr id="599261326" name="Image 6" descr="/mnt/data/04_score_precision_recall_50samples.png"/>
          <p:cNvPicPr/>
          <p:nvPr/>
        </p:nvPicPr>
        <p:blipFill rotWithShape="1">
          <a:blip r:embed="rId4"/>
          <a:stretch/>
        </p:blipFill>
        <p:spPr bwMode="auto">
          <a:xfrm>
            <a:off x="713520" y="1847520"/>
            <a:ext cx="3840120" cy="2742840"/>
          </a:xfrm>
          <a:prstGeom prst="rect">
            <a:avLst/>
          </a:prstGeom>
          <a:ln w="0">
            <a:noFill/>
          </a:ln>
        </p:spPr>
      </p:pic>
      <p:pic>
        <p:nvPicPr>
          <p:cNvPr id="868037135" name="Image 7" descr="/mnt/data/05_score_matched_histogram_50samples.png"/>
          <p:cNvPicPr/>
          <p:nvPr/>
        </p:nvPicPr>
        <p:blipFill rotWithShape="1">
          <a:blip r:embed="rId5"/>
          <a:stretch/>
        </p:blipFill>
        <p:spPr bwMode="auto">
          <a:xfrm>
            <a:off x="4572360" y="2066400"/>
            <a:ext cx="3840120" cy="230400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993963362" name="Image 0" descr="/mnt/data/template_bg_no_page.png"/>
          <p:cNvPicPr/>
          <p:nvPr/>
        </p:nvPicPr>
        <p:blipFill rotWithShape="1">
          <a:blip r:embed="rId3"/>
          <a:stretch/>
        </p:blipFill>
        <p:spPr bwMode="auto">
          <a:xfrm>
            <a:off x="0" y="0"/>
            <a:ext cx="9143640" cy="6857640"/>
          </a:xfrm>
          <a:prstGeom prst="rect">
            <a:avLst/>
          </a:prstGeom>
          <a:ln w="0">
            <a:noFill/>
          </a:ln>
        </p:spPr>
      </p:pic>
      <p:sp>
        <p:nvSpPr>
          <p:cNvPr id="1867244854" name="Text 0"/>
          <p:cNvSpPr/>
          <p:nvPr/>
        </p:nvSpPr>
        <p:spPr bwMode="auto">
          <a:xfrm>
            <a:off x="8119800" y="274320"/>
            <a:ext cx="776878"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buNone/>
              <a:tabLst>
                <a:tab pos="0" algn="l"/>
              </a:tabLst>
              <a:defRPr/>
            </a:pPr>
            <a:r>
              <a:rPr lang="en-US" sz="1100" b="0" strike="noStrike" spc="0">
                <a:solidFill>
                  <a:srgbClr val="FFFFFF"/>
                </a:solidFill>
                <a:latin typeface="Arial"/>
                <a:ea typeface="Arial"/>
              </a:rPr>
              <a:t>Page 5</a:t>
            </a:r>
            <a:endParaRPr lang="en-US" sz="1100" b="0" strike="noStrike" spc="0">
              <a:latin typeface="Arial"/>
            </a:endParaRPr>
          </a:p>
        </p:txBody>
      </p:sp>
      <p:sp>
        <p:nvSpPr>
          <p:cNvPr id="1661829510" name="Text 1"/>
          <p:cNvSpPr/>
          <p:nvPr/>
        </p:nvSpPr>
        <p:spPr bwMode="auto">
          <a:xfrm>
            <a:off x="411480" y="951120"/>
            <a:ext cx="82292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6000"/>
          </a:bodyPr>
          <a:lstStyle/>
          <a:p>
            <a:pPr>
              <a:lnSpc>
                <a:spcPct val="100000"/>
              </a:lnSpc>
              <a:buNone/>
              <a:tabLst>
                <a:tab pos="0" algn="l"/>
              </a:tabLst>
              <a:defRPr/>
            </a:pPr>
            <a:r>
              <a:rPr lang="en-US" sz="2200" b="1" strike="noStrike" spc="0">
                <a:solidFill>
                  <a:srgbClr val="004A98"/>
                </a:solidFill>
                <a:latin typeface="Microsoft YaHei"/>
                <a:ea typeface="Microsoft YaHei"/>
              </a:rPr>
              <a:t>4.4 GT </a:t>
            </a:r>
            <a:r>
              <a:rPr lang="zh-CN" sz="2200" b="1" strike="noStrike" spc="0">
                <a:solidFill>
                  <a:srgbClr val="004A98"/>
                </a:solidFill>
                <a:latin typeface="Microsoft YaHei"/>
                <a:ea typeface="Microsoft YaHei"/>
              </a:rPr>
              <a:t>与预测抓取：</a:t>
            </a:r>
            <a:r>
              <a:rPr lang="en-US" sz="2200" b="1" strike="noStrike" spc="0">
                <a:solidFill>
                  <a:srgbClr val="004A98"/>
                </a:solidFill>
                <a:latin typeface="Microsoft YaHei"/>
                <a:ea typeface="Microsoft YaHei"/>
              </a:rPr>
              <a:t>GraspGen</a:t>
            </a:r>
            <a:r>
              <a:rPr lang="zh-CN" sz="2200" b="1" strike="noStrike" spc="0">
                <a:solidFill>
                  <a:srgbClr val="004A98"/>
                </a:solidFill>
                <a:latin typeface="Microsoft YaHei"/>
                <a:ea typeface="Microsoft YaHei"/>
              </a:rPr>
              <a:t>最好</a:t>
            </a:r>
            <a:r>
              <a:rPr lang="en-US" sz="2200" b="1" strike="noStrike" spc="0">
                <a:solidFill>
                  <a:srgbClr val="004A98"/>
                </a:solidFill>
                <a:latin typeface="Microsoft YaHei"/>
                <a:ea typeface="Microsoft YaHei"/>
              </a:rPr>
              <a:t>/</a:t>
            </a:r>
            <a:r>
              <a:rPr lang="zh-CN" sz="2200" b="1" strike="noStrike" spc="0">
                <a:solidFill>
                  <a:srgbClr val="004A98"/>
                </a:solidFill>
                <a:latin typeface="Microsoft YaHei"/>
                <a:ea typeface="Microsoft YaHei"/>
              </a:rPr>
              <a:t>中等</a:t>
            </a:r>
            <a:r>
              <a:rPr lang="en-US" sz="2200" b="1" strike="noStrike" spc="0">
                <a:solidFill>
                  <a:srgbClr val="004A98"/>
                </a:solidFill>
                <a:latin typeface="Microsoft YaHei"/>
                <a:ea typeface="Microsoft YaHei"/>
              </a:rPr>
              <a:t>/</a:t>
            </a:r>
            <a:r>
              <a:rPr lang="zh-CN" sz="2200" b="1" strike="noStrike" spc="0">
                <a:solidFill>
                  <a:srgbClr val="004A98"/>
                </a:solidFill>
                <a:latin typeface="Microsoft YaHei"/>
                <a:ea typeface="Microsoft YaHei"/>
              </a:rPr>
              <a:t>最差案例可视化对比</a:t>
            </a:r>
            <a:endParaRPr lang="en-US" sz="2200" b="0" strike="noStrike" spc="0">
              <a:latin typeface="Arial"/>
            </a:endParaRPr>
          </a:p>
        </p:txBody>
      </p:sp>
      <p:sp>
        <p:nvSpPr>
          <p:cNvPr id="1508228971" name="Shape 2"/>
          <p:cNvSpPr/>
          <p:nvPr/>
        </p:nvSpPr>
        <p:spPr bwMode="auto">
          <a:xfrm>
            <a:off x="18000" y="1426319"/>
            <a:ext cx="9107640" cy="360"/>
          </a:xfrm>
          <a:prstGeom prst="line">
            <a:avLst/>
          </a:prstGeom>
          <a:ln w="13970">
            <a:solidFill>
              <a:srgbClr val="004A98"/>
            </a:solidFill>
            <a:round/>
          </a:ln>
        </p:spPr>
        <p:style>
          <a:lnRef idx="0">
            <a:scrgbClr r="0" g="0" b="0"/>
          </a:lnRef>
          <a:fillRef idx="0">
            <a:scrgbClr r="0" g="0" b="0"/>
          </a:fillRef>
          <a:effectRef idx="0">
            <a:scrgbClr r="0" g="0" b="0"/>
          </a:effectRef>
          <a:fontRef idx="minor"/>
        </p:style>
      </p:sp>
      <p:sp>
        <p:nvSpPr>
          <p:cNvPr id="1546444057" name="Shape 3"/>
          <p:cNvSpPr/>
          <p:nvPr/>
        </p:nvSpPr>
        <p:spPr bwMode="auto">
          <a:xfrm>
            <a:off x="255960" y="1581840"/>
            <a:ext cx="8631720" cy="4827600"/>
          </a:xfrm>
          <a:prstGeom prst="rect">
            <a:avLst/>
          </a:prstGeom>
          <a:noFill/>
          <a:ln w="13335">
            <a:solidFill>
              <a:srgbClr val="9E9E9E"/>
            </a:solidFill>
            <a:round/>
          </a:ln>
        </p:spPr>
        <p:style>
          <a:lnRef idx="0">
            <a:scrgbClr r="0" g="0" b="0"/>
          </a:lnRef>
          <a:fillRef idx="0">
            <a:scrgbClr r="0" g="0" b="0"/>
          </a:fillRef>
          <a:effectRef idx="0">
            <a:scrgbClr r="0" g="0" b="0"/>
          </a:effectRef>
          <a:fontRef idx="minor"/>
        </p:style>
      </p:sp>
      <p:sp>
        <p:nvSpPr>
          <p:cNvPr id="1708408453" name="Text 5"/>
          <p:cNvSpPr/>
          <p:nvPr/>
        </p:nvSpPr>
        <p:spPr bwMode="auto">
          <a:xfrm>
            <a:off x="1152000" y="5280840"/>
            <a:ext cx="121572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en-US" sz="950" b="1" strike="noStrike" spc="0">
                <a:solidFill>
                  <a:srgbClr val="FFFFFF"/>
                </a:solidFill>
                <a:latin typeface="Microsoft YaHei"/>
                <a:ea typeface="Microsoft YaHei"/>
              </a:rPr>
              <a:t>Sample 0</a:t>
            </a:r>
            <a:endParaRPr lang="en-US" sz="950" b="0" strike="noStrike" spc="0">
              <a:latin typeface="Arial"/>
            </a:endParaRPr>
          </a:p>
        </p:txBody>
      </p:sp>
      <p:sp>
        <p:nvSpPr>
          <p:cNvPr id="256016717" name="Text 7"/>
          <p:cNvSpPr/>
          <p:nvPr/>
        </p:nvSpPr>
        <p:spPr bwMode="auto">
          <a:xfrm>
            <a:off x="3959280" y="5280840"/>
            <a:ext cx="121572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en-US" sz="950" b="1" strike="noStrike" spc="0">
                <a:solidFill>
                  <a:srgbClr val="FFFFFF"/>
                </a:solidFill>
                <a:latin typeface="Microsoft YaHei"/>
                <a:ea typeface="Microsoft YaHei"/>
              </a:rPr>
              <a:t>Sample 1</a:t>
            </a:r>
            <a:endParaRPr lang="en-US" sz="950" b="0" strike="noStrike" spc="0">
              <a:latin typeface="Arial"/>
            </a:endParaRPr>
          </a:p>
        </p:txBody>
      </p:sp>
      <p:sp>
        <p:nvSpPr>
          <p:cNvPr id="815766179" name="Text 9"/>
          <p:cNvSpPr/>
          <p:nvPr/>
        </p:nvSpPr>
        <p:spPr bwMode="auto">
          <a:xfrm>
            <a:off x="6766560" y="5280840"/>
            <a:ext cx="1215720" cy="1641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buNone/>
              <a:tabLst>
                <a:tab pos="0" algn="l"/>
              </a:tabLst>
              <a:defRPr/>
            </a:pPr>
            <a:r>
              <a:rPr lang="en-US" sz="950" b="1" strike="noStrike" spc="0">
                <a:solidFill>
                  <a:srgbClr val="FFFFFF"/>
                </a:solidFill>
                <a:latin typeface="Microsoft YaHei"/>
                <a:ea typeface="Microsoft YaHei"/>
              </a:rPr>
              <a:t>Sample 2</a:t>
            </a:r>
            <a:endParaRPr lang="en-US" sz="950" b="0" strike="noStrike" spc="0">
              <a:latin typeface="Arial"/>
            </a:endParaRPr>
          </a:p>
        </p:txBody>
      </p:sp>
      <p:sp>
        <p:nvSpPr>
          <p:cNvPr id="666173035" name="Shape 10"/>
          <p:cNvSpPr/>
          <p:nvPr/>
        </p:nvSpPr>
        <p:spPr bwMode="auto">
          <a:xfrm>
            <a:off x="255960" y="5623560"/>
            <a:ext cx="8631720" cy="594000"/>
          </a:xfrm>
          <a:prstGeom prst="rect">
            <a:avLst/>
          </a:prstGeom>
          <a:solidFill>
            <a:srgbClr val="EAF2FC"/>
          </a:solidFill>
          <a:ln w="12700">
            <a:solidFill>
              <a:srgbClr val="CFE2F6"/>
            </a:solidFill>
            <a:round/>
          </a:ln>
        </p:spPr>
        <p:style>
          <a:lnRef idx="0">
            <a:scrgbClr r="0" g="0" b="0"/>
          </a:lnRef>
          <a:fillRef idx="0">
            <a:scrgbClr r="0" g="0" b="0"/>
          </a:fillRef>
          <a:effectRef idx="0">
            <a:scrgbClr r="0" g="0" b="0"/>
          </a:effectRef>
          <a:fontRef idx="minor"/>
        </p:style>
      </p:sp>
      <p:sp>
        <p:nvSpPr>
          <p:cNvPr id="876015553" name="Text 11"/>
          <p:cNvSpPr/>
          <p:nvPr/>
        </p:nvSpPr>
        <p:spPr bwMode="auto">
          <a:xfrm>
            <a:off x="822960" y="5742360"/>
            <a:ext cx="7497720" cy="228240"/>
          </a:xfrm>
          <a:prstGeom prst="rect">
            <a:avLst/>
          </a:prstGeom>
          <a:noFill/>
          <a:ln w="0">
            <a:noFill/>
          </a:ln>
        </p:spPr>
        <p:style>
          <a:lnRef idx="0">
            <a:scrgbClr r="0" g="0" b="0"/>
          </a:lnRef>
          <a:fillRef idx="0">
            <a:scrgbClr r="0" g="0" b="0"/>
          </a:fillRef>
          <a:effectRef idx="0">
            <a:scrgbClr r="0" g="0" b="0"/>
          </a:effectRef>
          <a:fontRef idx="minor"/>
        </p:style>
      </p:sp>
      <p:sp>
        <p:nvSpPr>
          <p:cNvPr id="818346966" name="Text 12"/>
          <p:cNvSpPr/>
          <p:nvPr/>
        </p:nvSpPr>
        <p:spPr bwMode="auto">
          <a:xfrm>
            <a:off x="540000" y="5760000"/>
            <a:ext cx="8280000" cy="45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a:lnSpc>
                <a:spcPct val="100000"/>
              </a:lnSpc>
              <a:buNone/>
              <a:tabLst>
                <a:tab pos="0" algn="l"/>
              </a:tabLst>
              <a:defRPr/>
            </a:pPr>
            <a:r>
              <a:rPr lang="zh-CN" sz="1400" b="1" strike="noStrike" spc="0">
                <a:solidFill>
                  <a:srgbClr val="1D2733"/>
                </a:solidFill>
                <a:latin typeface="Microsoft YaHei"/>
                <a:ea typeface="Microsoft YaHei"/>
              </a:rPr>
              <a:t>灰色点：输入物体点云；绿色：官方 </a:t>
            </a:r>
            <a:r>
              <a:rPr lang="en-US" sz="1400" b="1" strike="noStrike" spc="0">
                <a:solidFill>
                  <a:srgbClr val="1D2733"/>
                </a:solidFill>
                <a:latin typeface="Microsoft YaHei"/>
                <a:ea typeface="Microsoft YaHei"/>
              </a:rPr>
              <a:t>GT </a:t>
            </a:r>
            <a:r>
              <a:rPr lang="zh-CN" sz="1400" b="1" strike="noStrike" spc="0">
                <a:solidFill>
                  <a:srgbClr val="1D2733"/>
                </a:solidFill>
                <a:latin typeface="Microsoft YaHei"/>
                <a:ea typeface="Microsoft YaHei"/>
              </a:rPr>
              <a:t>可行抓取；彩色：模型预测 </a:t>
            </a:r>
            <a:r>
              <a:rPr lang="en-US" sz="1400" b="1" strike="noStrike" spc="0">
                <a:solidFill>
                  <a:srgbClr val="1D2733"/>
                </a:solidFill>
                <a:latin typeface="Microsoft YaHei"/>
                <a:ea typeface="Microsoft YaHei"/>
              </a:rPr>
              <a:t>Top grasp</a:t>
            </a:r>
            <a:r>
              <a:rPr lang="zh-CN" sz="1400" b="1" strike="noStrike" spc="0">
                <a:solidFill>
                  <a:srgbClr val="1D2733"/>
                </a:solidFill>
                <a:latin typeface="Microsoft YaHei"/>
                <a:ea typeface="Microsoft YaHei"/>
              </a:rPr>
              <a:t>，颜色对应</a:t>
            </a:r>
            <a:r>
              <a:rPr lang="en-US" sz="1400" b="1" strike="noStrike" spc="0">
                <a:solidFill>
                  <a:srgbClr val="1D2733"/>
                </a:solidFill>
                <a:latin typeface="Microsoft YaHei"/>
                <a:ea typeface="Microsoft YaHei"/>
              </a:rPr>
              <a:t>score</a:t>
            </a:r>
            <a:r>
              <a:rPr lang="zh-CN" sz="1400" b="1" strike="noStrike" spc="0">
                <a:solidFill>
                  <a:srgbClr val="1D2733"/>
                </a:solidFill>
                <a:latin typeface="Microsoft YaHei"/>
                <a:ea typeface="Microsoft YaHei"/>
              </a:rPr>
              <a:t>。</a:t>
            </a:r>
            <a:endParaRPr lang="en-US" sz="1400" b="1" strike="noStrike" spc="0">
              <a:latin typeface="Arial"/>
            </a:endParaRPr>
          </a:p>
        </p:txBody>
      </p:sp>
      <p:pic>
        <p:nvPicPr>
          <p:cNvPr id="866697051" name="图片 866697050"/>
          <p:cNvPicPr/>
          <p:nvPr/>
        </p:nvPicPr>
        <p:blipFill rotWithShape="1">
          <a:blip r:embed="rId4"/>
          <a:srcRect l="1568" t="11193" b="10462"/>
          <a:stretch/>
        </p:blipFill>
        <p:spPr bwMode="auto">
          <a:xfrm rot="8400">
            <a:off x="300600" y="1592280"/>
            <a:ext cx="8582040" cy="385776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41821197" name="PlaceHolder 2"/>
          <p:cNvSpPr>
            <a:spLocks noGrp="1"/>
          </p:cNvSpPr>
          <p:nvPr>
            <p:ph type="title"/>
          </p:nvPr>
        </p:nvSpPr>
        <p:spPr bwMode="auto">
          <a:xfrm>
            <a:off x="320040" y="960120"/>
            <a:ext cx="8366400" cy="411120"/>
          </a:xfrm>
          <a:prstGeom prst="rect">
            <a:avLst/>
          </a:prstGeom>
          <a:noFill/>
          <a:ln w="0">
            <a:noFill/>
          </a:ln>
        </p:spPr>
        <p:txBody>
          <a:bodyPr anchor="ctr">
            <a:normAutofit/>
          </a:bodyPr>
          <a:lstStyle/>
          <a:p>
            <a:pPr marL="0" marR="0" indent="0" algn="l">
              <a:lnSpc>
                <a:spcPct val="90000"/>
              </a:lnSpc>
              <a:spcBef>
                <a:spcPts val="0"/>
              </a:spcBef>
              <a:spcAft>
                <a:spcPts val="0"/>
              </a:spcAft>
              <a:buNone/>
              <a:defRPr/>
            </a:pPr>
            <a:r>
              <a:rPr lang="zh-CN" sz="2200" b="1" strike="noStrike" spc="0">
                <a:solidFill>
                  <a:srgbClr val="004993"/>
                </a:solidFill>
                <a:latin typeface="Noto Sans CJK SC"/>
                <a:ea typeface="等线"/>
              </a:rPr>
              <a:t>5.1</a:t>
            </a:r>
            <a:r>
              <a:rPr lang="en-US" sz="2200" b="1" strike="noStrike" spc="0">
                <a:solidFill>
                  <a:srgbClr val="004993"/>
                </a:solidFill>
                <a:latin typeface="Noto Sans CJK SC"/>
                <a:ea typeface="等线"/>
              </a:rPr>
              <a:t> </a:t>
            </a:r>
            <a:r>
              <a:rPr lang="zh-CN" sz="2100" b="1" i="0" u="none" strike="noStrike" cap="none" spc="0">
                <a:solidFill>
                  <a:schemeClr val="accent1"/>
                </a:solidFill>
                <a:latin typeface="Open Sans"/>
                <a:ea typeface="Open Sans"/>
                <a:cs typeface="Open Sans"/>
              </a:rPr>
              <a:t>6Dpose</a:t>
            </a:r>
            <a:r>
              <a:rPr lang="en-US" sz="2100" b="1" i="0" u="none" strike="noStrike" cap="none" spc="0">
                <a:solidFill>
                  <a:schemeClr val="accent1"/>
                </a:solidFill>
                <a:latin typeface="Open Sans"/>
                <a:ea typeface="Open Sans"/>
                <a:cs typeface="Open Sans"/>
              </a:rPr>
              <a:t>预测</a:t>
            </a:r>
            <a:endParaRPr lang="en-US" sz="2100" b="1" i="0" u="none" strike="noStrike" cap="none" spc="0">
              <a:solidFill>
                <a:schemeClr val="accent1"/>
              </a:solidFill>
              <a:latin typeface="Open Sans"/>
              <a:cs typeface="Open Sans"/>
            </a:endParaRPr>
          </a:p>
        </p:txBody>
      </p:sp>
      <p:sp>
        <p:nvSpPr>
          <p:cNvPr id="1334202873" name="Rounded Rectangle 3"/>
          <p:cNvSpPr/>
          <p:nvPr/>
        </p:nvSpPr>
        <p:spPr bwMode="auto">
          <a:xfrm>
            <a:off x="342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pic>
        <p:nvPicPr>
          <p:cNvPr id="1471924613" name="图片 1471924612"/>
          <p:cNvPicPr>
            <a:picLocks noChangeAspect="1"/>
          </p:cNvPicPr>
          <p:nvPr/>
        </p:nvPicPr>
        <p:blipFill rotWithShape="1">
          <a:blip r:embed="rId3"/>
          <a:stretch/>
        </p:blipFill>
        <p:spPr bwMode="auto">
          <a:xfrm>
            <a:off x="835832" y="2476499"/>
            <a:ext cx="2386874" cy="2086428"/>
          </a:xfrm>
          <a:prstGeom prst="rect">
            <a:avLst/>
          </a:prstGeom>
        </p:spPr>
      </p:pic>
      <p:pic>
        <p:nvPicPr>
          <p:cNvPr id="812083030" name="图片 812083029"/>
          <p:cNvPicPr>
            <a:picLocks noChangeAspect="1"/>
          </p:cNvPicPr>
          <p:nvPr/>
        </p:nvPicPr>
        <p:blipFill rotWithShape="1">
          <a:blip r:embed="rId4"/>
          <a:stretch/>
        </p:blipFill>
        <p:spPr bwMode="auto">
          <a:xfrm>
            <a:off x="3226552" y="2326496"/>
            <a:ext cx="2553373" cy="2270004"/>
          </a:xfrm>
          <a:prstGeom prst="rect">
            <a:avLst/>
          </a:prstGeom>
        </p:spPr>
      </p:pic>
      <p:pic>
        <p:nvPicPr>
          <p:cNvPr id="123678329" name="图片 123678328"/>
          <p:cNvPicPr>
            <a:picLocks noChangeAspect="1"/>
          </p:cNvPicPr>
          <p:nvPr/>
        </p:nvPicPr>
        <p:blipFill rotWithShape="1">
          <a:blip r:embed="rId5"/>
          <a:stretch/>
        </p:blipFill>
        <p:spPr bwMode="auto">
          <a:xfrm>
            <a:off x="6038229" y="2389996"/>
            <a:ext cx="2063639" cy="2354360"/>
          </a:xfrm>
          <a:prstGeom prst="rect">
            <a:avLst/>
          </a:prstGeom>
        </p:spPr>
      </p:pic>
      <p:sp>
        <p:nvSpPr>
          <p:cNvPr id="143719745" name="文本框 143719744"/>
          <p:cNvSpPr txBox="1"/>
          <p:nvPr/>
        </p:nvSpPr>
        <p:spPr bwMode="auto">
          <a:xfrm>
            <a:off x="2813071" y="5016499"/>
            <a:ext cx="183636" cy="24419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endParaRPr/>
          </a:p>
        </p:txBody>
      </p:sp>
      <p:sp>
        <p:nvSpPr>
          <p:cNvPr id="481774503" name="矩形 481774502"/>
          <p:cNvSpPr/>
          <p:nvPr/>
        </p:nvSpPr>
        <p:spPr bwMode="auto">
          <a:xfrm>
            <a:off x="2077736" y="5138599"/>
            <a:ext cx="4851006" cy="333000"/>
          </a:xfrm>
          <a:prstGeom prst="rect">
            <a:avLst/>
          </a:prstGeom>
          <a:solidFill>
            <a:srgbClr val="DEE6EF"/>
          </a:solidFill>
          <a:ln w="0">
            <a:solidFill>
              <a:srgbClr val="DEE7E5"/>
            </a:solidFill>
          </a:ln>
        </p:spPr>
        <p:style>
          <a:lnRef idx="0">
            <a:scrgbClr r="0" g="0" b="0"/>
          </a:lnRef>
          <a:fillRef idx="0">
            <a:scrgbClr r="0" g="0" b="0"/>
          </a:fillRef>
          <a:effectRef idx="0">
            <a:scrgbClr r="0" g="0" b="0"/>
          </a:effectRef>
          <a:fontRef idx="minor"/>
        </p:style>
        <p:txBody>
          <a:bodyPr anchor="ctr"/>
          <a:lstStyle/>
          <a:p>
            <a:pPr algn="ctr">
              <a:defRPr/>
            </a:pPr>
            <a:r>
              <a:rPr lang="en-US" sz="1600" b="0" i="0" u="none" strike="noStrike" cap="none" spc="0">
                <a:solidFill>
                  <a:schemeClr val="accent1"/>
                </a:solidFill>
                <a:latin typeface="Arial"/>
                <a:ea typeface="DejaVu Sans"/>
                <a:cs typeface="DejaVu Sans"/>
              </a:rPr>
              <a:t>使用模型输出所有可能的</a:t>
            </a:r>
            <a:r>
              <a:rPr lang="zh-CN" sz="1600" b="0" i="0" u="none" strike="noStrike" cap="none" spc="0">
                <a:solidFill>
                  <a:schemeClr val="accent1"/>
                </a:solidFill>
                <a:latin typeface="Arial"/>
                <a:ea typeface="DejaVu Sans"/>
                <a:cs typeface="DejaVu Sans"/>
              </a:rPr>
              <a:t>6D pose及候选抓取点</a:t>
            </a:r>
            <a:endParaRPr sz="1600">
              <a:solidFill>
                <a:schemeClr val="accen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62186912" name="PlaceHolder 2"/>
          <p:cNvSpPr>
            <a:spLocks noGrp="1"/>
          </p:cNvSpPr>
          <p:nvPr>
            <p:ph type="title"/>
          </p:nvPr>
        </p:nvSpPr>
        <p:spPr bwMode="auto">
          <a:xfrm>
            <a:off x="320040" y="960120"/>
            <a:ext cx="8366400" cy="411120"/>
          </a:xfrm>
          <a:prstGeom prst="rect">
            <a:avLst/>
          </a:prstGeom>
          <a:noFill/>
          <a:ln w="0">
            <a:noFill/>
          </a:ln>
        </p:spPr>
        <p:txBody>
          <a:bodyPr anchor="ctr">
            <a:normAutofit/>
          </a:bodyPr>
          <a:lstStyle/>
          <a:p>
            <a:pPr marL="0" marR="0" indent="0" algn="l">
              <a:lnSpc>
                <a:spcPct val="90000"/>
              </a:lnSpc>
              <a:spcBef>
                <a:spcPts val="0"/>
              </a:spcBef>
              <a:spcAft>
                <a:spcPts val="0"/>
              </a:spcAft>
              <a:buNone/>
              <a:defRPr/>
            </a:pPr>
            <a:r>
              <a:rPr lang="zh-CN" sz="2200" b="1" strike="noStrike" spc="0">
                <a:solidFill>
                  <a:srgbClr val="004993"/>
                </a:solidFill>
                <a:latin typeface="Noto Sans CJK SC"/>
                <a:ea typeface="等线"/>
              </a:rPr>
              <a:t>5.2</a:t>
            </a:r>
            <a:r>
              <a:rPr lang="en-US" sz="2200" b="1" strike="noStrike" spc="0">
                <a:solidFill>
                  <a:srgbClr val="004993"/>
                </a:solidFill>
                <a:latin typeface="Noto Sans CJK SC"/>
                <a:ea typeface="等线"/>
              </a:rPr>
              <a:t> </a:t>
            </a:r>
            <a:r>
              <a:rPr lang="zh-CN" sz="2100" b="1" i="0" u="none" strike="noStrike" cap="none" spc="0">
                <a:solidFill>
                  <a:schemeClr val="accent1"/>
                </a:solidFill>
                <a:latin typeface="Open Sans"/>
                <a:ea typeface="Open Sans"/>
                <a:cs typeface="Open Sans"/>
              </a:rPr>
              <a:t>碰撞预测</a:t>
            </a:r>
            <a:endParaRPr lang="en-US" sz="2100" b="1" i="0" u="none" strike="noStrike" cap="none" spc="0">
              <a:solidFill>
                <a:schemeClr val="accent1"/>
              </a:solidFill>
              <a:latin typeface="Open Sans"/>
              <a:cs typeface="Open Sans"/>
            </a:endParaRPr>
          </a:p>
        </p:txBody>
      </p:sp>
      <p:sp>
        <p:nvSpPr>
          <p:cNvPr id="1758927584" name="Rounded Rectangle 3"/>
          <p:cNvSpPr/>
          <p:nvPr/>
        </p:nvSpPr>
        <p:spPr bwMode="auto">
          <a:xfrm>
            <a:off x="342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pic>
        <p:nvPicPr>
          <p:cNvPr id="188285467" name="图片 188285466"/>
          <p:cNvPicPr>
            <a:picLocks noChangeAspect="1"/>
          </p:cNvPicPr>
          <p:nvPr/>
        </p:nvPicPr>
        <p:blipFill rotWithShape="1">
          <a:blip r:embed="rId3"/>
          <a:stretch/>
        </p:blipFill>
        <p:spPr bwMode="auto">
          <a:xfrm>
            <a:off x="3544044" y="2445475"/>
            <a:ext cx="1918391" cy="1845309"/>
          </a:xfrm>
          <a:prstGeom prst="rect">
            <a:avLst/>
          </a:prstGeom>
        </p:spPr>
      </p:pic>
      <p:pic>
        <p:nvPicPr>
          <p:cNvPr id="441592865" name="图片 441592864"/>
          <p:cNvPicPr>
            <a:picLocks noChangeAspect="1"/>
          </p:cNvPicPr>
          <p:nvPr/>
        </p:nvPicPr>
        <p:blipFill rotWithShape="1">
          <a:blip r:embed="rId4"/>
          <a:stretch/>
        </p:blipFill>
        <p:spPr bwMode="auto">
          <a:xfrm>
            <a:off x="581499" y="2480861"/>
            <a:ext cx="2703285" cy="1823940"/>
          </a:xfrm>
          <a:prstGeom prst="rect">
            <a:avLst/>
          </a:prstGeom>
        </p:spPr>
      </p:pic>
      <p:pic>
        <p:nvPicPr>
          <p:cNvPr id="1707891435" name="图片 1707891434"/>
          <p:cNvPicPr>
            <a:picLocks noChangeAspect="1"/>
          </p:cNvPicPr>
          <p:nvPr/>
        </p:nvPicPr>
        <p:blipFill rotWithShape="1">
          <a:blip r:embed="rId5"/>
          <a:stretch/>
        </p:blipFill>
        <p:spPr bwMode="auto">
          <a:xfrm>
            <a:off x="5821713" y="2445475"/>
            <a:ext cx="2734956" cy="1845309"/>
          </a:xfrm>
          <a:prstGeom prst="rect">
            <a:avLst/>
          </a:prstGeom>
        </p:spPr>
      </p:pic>
      <p:sp>
        <p:nvSpPr>
          <p:cNvPr id="2022484074" name="矩形 2022484073"/>
          <p:cNvSpPr/>
          <p:nvPr/>
        </p:nvSpPr>
        <p:spPr bwMode="auto">
          <a:xfrm>
            <a:off x="2077736" y="4590142"/>
            <a:ext cx="4851005" cy="1587499"/>
          </a:xfrm>
          <a:prstGeom prst="rect">
            <a:avLst/>
          </a:prstGeom>
          <a:solidFill>
            <a:srgbClr val="DEE6EF"/>
          </a:solidFill>
          <a:ln w="0">
            <a:solidFill>
              <a:srgbClr val="DEE7E5"/>
            </a:solidFill>
          </a:ln>
        </p:spPr>
        <p:style>
          <a:lnRef idx="0">
            <a:scrgbClr r="0" g="0" b="0"/>
          </a:lnRef>
          <a:fillRef idx="0">
            <a:scrgbClr r="0" g="0" b="0"/>
          </a:fillRef>
          <a:effectRef idx="0">
            <a:scrgbClr r="0" g="0" b="0"/>
          </a:effectRef>
          <a:fontRef idx="minor"/>
        </p:style>
        <p:txBody>
          <a:bodyPr anchor="ctr"/>
          <a:lstStyle/>
          <a:p>
            <a:pPr>
              <a:defRPr/>
            </a:pPr>
            <a:r>
              <a:rPr lang="en-US" sz="1600" b="1" i="0" u="none" strike="noStrike" cap="none" spc="0">
                <a:solidFill>
                  <a:schemeClr val="accent1"/>
                </a:solidFill>
                <a:latin typeface="Open Sans"/>
                <a:ea typeface="Open Sans"/>
                <a:cs typeface="Open Sans"/>
              </a:rPr>
              <a:t>流程：</a:t>
            </a:r>
            <a:endParaRPr sz="1600">
              <a:solidFill>
                <a:schemeClr val="accent1"/>
              </a:solidFill>
            </a:endParaRPr>
          </a:p>
          <a:p>
            <a:pPr marL="217792" indent="-217792">
              <a:buFont typeface="Wingdings"/>
              <a:buChar char="Ø"/>
              <a:defRPr/>
            </a:pPr>
            <a:r>
              <a:rPr lang="en-US" sz="1600" b="0" i="0" u="none" strike="noStrike" cap="none" spc="0">
                <a:solidFill>
                  <a:schemeClr val="accent1"/>
                </a:solidFill>
                <a:latin typeface="Open Sans"/>
                <a:ea typeface="Open Sans"/>
                <a:cs typeface="Open Sans"/>
              </a:rPr>
              <a:t>夹爪 collision mesh 按候选 T 变换到场景</a:t>
            </a:r>
            <a:endParaRPr sz="1600">
              <a:solidFill>
                <a:schemeClr val="accent1"/>
              </a:solidFill>
            </a:endParaRPr>
          </a:p>
          <a:p>
            <a:pPr marL="217792" indent="-217792">
              <a:buFont typeface="Wingdings"/>
              <a:buChar char="Ø"/>
              <a:defRPr/>
            </a:pPr>
            <a:r>
              <a:rPr lang="en-US" sz="1600" b="0" i="0" u="none" strike="noStrike" cap="none" spc="0">
                <a:solidFill>
                  <a:schemeClr val="accent1"/>
                </a:solidFill>
                <a:latin typeface="Open Sans"/>
                <a:ea typeface="Open Sans"/>
                <a:cs typeface="Open Sans"/>
              </a:rPr>
              <a:t>对夹爪表面采样控制点</a:t>
            </a:r>
            <a:endParaRPr sz="1600">
              <a:solidFill>
                <a:schemeClr val="accent1"/>
              </a:solidFill>
            </a:endParaRPr>
          </a:p>
          <a:p>
            <a:pPr marL="217792" indent="-217792">
              <a:buFont typeface="Wingdings"/>
              <a:buChar char="Ø"/>
              <a:defRPr/>
            </a:pPr>
            <a:r>
              <a:rPr lang="en-US" sz="1600" b="0" i="0" u="none" strike="noStrike" cap="none" spc="0">
                <a:solidFill>
                  <a:schemeClr val="accent1"/>
                </a:solidFill>
                <a:latin typeface="Open Sans"/>
                <a:ea typeface="Open Sans"/>
                <a:cs typeface="Open Sans"/>
              </a:rPr>
              <a:t>与场景点云计算最近距离</a:t>
            </a:r>
            <a:endParaRPr sz="1600">
              <a:solidFill>
                <a:schemeClr val="accent1"/>
              </a:solidFill>
            </a:endParaRPr>
          </a:p>
          <a:p>
            <a:pPr marL="217792" indent="-217792">
              <a:buFont typeface="Wingdings"/>
              <a:buChar char="Ø"/>
              <a:defRPr/>
            </a:pPr>
            <a:r>
              <a:rPr lang="en-US" sz="1600" b="0" i="0" u="none" strike="noStrike" cap="none" spc="0">
                <a:solidFill>
                  <a:schemeClr val="accent1"/>
                </a:solidFill>
                <a:latin typeface="Open Sans"/>
                <a:ea typeface="Open Sans"/>
                <a:cs typeface="Open Sans"/>
              </a:rPr>
              <a:t>&lt; 阈值 → 标记碰撞；否则通过</a:t>
            </a:r>
            <a:endParaRPr sz="1600">
              <a:solidFill>
                <a:schemeClr val="accent1"/>
              </a:solidFill>
            </a:endParaRPr>
          </a:p>
          <a:p>
            <a:pPr>
              <a:defRPr/>
            </a:pPr>
            <a:r>
              <a:rPr lang="en-US" sz="1600" b="0" i="0" u="none" strike="noStrike" cap="none" spc="0">
                <a:solidFill>
                  <a:schemeClr val="accent1"/>
                </a:solidFill>
                <a:latin typeface="Open Sans"/>
                <a:ea typeface="Open Sans"/>
                <a:cs typeface="Open Sans"/>
              </a:rPr>
              <a:t>保留 collision-free 候选排出</a:t>
            </a:r>
            <a:endParaRPr>
              <a:solidFill>
                <a:schemeClr val="accen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007421" name="PlaceHolder 2"/>
          <p:cNvSpPr>
            <a:spLocks noGrp="1"/>
          </p:cNvSpPr>
          <p:nvPr>
            <p:ph type="title"/>
          </p:nvPr>
        </p:nvSpPr>
        <p:spPr bwMode="auto">
          <a:xfrm>
            <a:off x="320040" y="960120"/>
            <a:ext cx="8366400" cy="411120"/>
          </a:xfrm>
          <a:prstGeom prst="rect">
            <a:avLst/>
          </a:prstGeom>
          <a:noFill/>
          <a:ln w="0">
            <a:noFill/>
          </a:ln>
        </p:spPr>
        <p:txBody>
          <a:bodyPr anchor="ctr">
            <a:normAutofit/>
          </a:bodyPr>
          <a:lstStyle/>
          <a:p>
            <a:pPr marL="0" marR="0" indent="0" algn="l">
              <a:lnSpc>
                <a:spcPct val="90000"/>
              </a:lnSpc>
              <a:spcBef>
                <a:spcPts val="0"/>
              </a:spcBef>
              <a:spcAft>
                <a:spcPts val="0"/>
              </a:spcAft>
              <a:buNone/>
              <a:defRPr/>
            </a:pPr>
            <a:r>
              <a:rPr lang="zh-CN" sz="2200" b="1" strike="noStrike" spc="0">
                <a:solidFill>
                  <a:srgbClr val="004993"/>
                </a:solidFill>
                <a:latin typeface="Noto Sans CJK SC"/>
                <a:ea typeface="等线"/>
              </a:rPr>
              <a:t>5.3</a:t>
            </a:r>
            <a:r>
              <a:rPr lang="en-US" sz="2200" b="1" strike="noStrike" spc="0">
                <a:solidFill>
                  <a:srgbClr val="004993"/>
                </a:solidFill>
                <a:latin typeface="Noto Sans CJK SC"/>
                <a:ea typeface="等线"/>
              </a:rPr>
              <a:t> </a:t>
            </a:r>
            <a:r>
              <a:rPr lang="en-US" sz="2100" b="1" i="0" u="none" strike="noStrike" cap="none" spc="0">
                <a:solidFill>
                  <a:schemeClr val="accent1"/>
                </a:solidFill>
                <a:latin typeface="Open Sans"/>
                <a:ea typeface="Open Sans"/>
                <a:cs typeface="Open Sans"/>
              </a:rPr>
              <a:t>坐标系转化与几何可执行性</a:t>
            </a:r>
            <a:endParaRPr lang="en-US" sz="2100" b="1" i="0" u="none" strike="noStrike" cap="none" spc="0">
              <a:solidFill>
                <a:schemeClr val="accent1"/>
              </a:solidFill>
              <a:latin typeface="Open Sans"/>
              <a:cs typeface="Open Sans"/>
            </a:endParaRPr>
          </a:p>
        </p:txBody>
      </p:sp>
      <p:sp>
        <p:nvSpPr>
          <p:cNvPr id="332406976" name="Rounded Rectangle 3"/>
          <p:cNvSpPr/>
          <p:nvPr/>
        </p:nvSpPr>
        <p:spPr bwMode="auto">
          <a:xfrm>
            <a:off x="342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sp>
        <p:nvSpPr>
          <p:cNvPr id="517594252" name="TextBox 6"/>
          <p:cNvSpPr/>
          <p:nvPr/>
        </p:nvSpPr>
        <p:spPr bwMode="auto">
          <a:xfrm>
            <a:off x="1906635" y="4737391"/>
            <a:ext cx="4790445" cy="242759"/>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defRPr/>
            </a:pPr>
            <a:endParaRPr/>
          </a:p>
        </p:txBody>
      </p:sp>
      <p:pic>
        <p:nvPicPr>
          <p:cNvPr id="2049932813" name="图片 2049932812"/>
          <p:cNvPicPr>
            <a:picLocks noChangeAspect="1"/>
          </p:cNvPicPr>
          <p:nvPr/>
        </p:nvPicPr>
        <p:blipFill rotWithShape="1">
          <a:blip r:embed="rId3"/>
          <a:stretch/>
        </p:blipFill>
        <p:spPr bwMode="auto">
          <a:xfrm>
            <a:off x="5017368" y="1914070"/>
            <a:ext cx="3238558" cy="2185095"/>
          </a:xfrm>
          <a:prstGeom prst="rect">
            <a:avLst/>
          </a:prstGeom>
        </p:spPr>
      </p:pic>
      <p:pic>
        <p:nvPicPr>
          <p:cNvPr id="789290828" name="图片 789290827"/>
          <p:cNvPicPr>
            <a:picLocks noChangeAspect="1"/>
          </p:cNvPicPr>
          <p:nvPr/>
        </p:nvPicPr>
        <p:blipFill rotWithShape="1">
          <a:blip r:embed="rId4"/>
          <a:stretch/>
        </p:blipFill>
        <p:spPr bwMode="auto">
          <a:xfrm>
            <a:off x="859068" y="1914070"/>
            <a:ext cx="3315428" cy="2236962"/>
          </a:xfrm>
          <a:prstGeom prst="rect">
            <a:avLst/>
          </a:prstGeom>
        </p:spPr>
      </p:pic>
      <p:sp>
        <p:nvSpPr>
          <p:cNvPr id="1838970651" name="矩形 1838970650"/>
          <p:cNvSpPr/>
          <p:nvPr/>
        </p:nvSpPr>
        <p:spPr bwMode="auto">
          <a:xfrm>
            <a:off x="2077735" y="5138599"/>
            <a:ext cx="4851005" cy="333000"/>
          </a:xfrm>
          <a:prstGeom prst="rect">
            <a:avLst/>
          </a:prstGeom>
          <a:solidFill>
            <a:srgbClr val="DEE6EF"/>
          </a:solidFill>
          <a:ln w="0">
            <a:solidFill>
              <a:srgbClr val="DEE7E5"/>
            </a:solidFill>
          </a:ln>
        </p:spPr>
        <p:style>
          <a:lnRef idx="0">
            <a:scrgbClr r="0" g="0" b="0"/>
          </a:lnRef>
          <a:fillRef idx="0">
            <a:scrgbClr r="0" g="0" b="0"/>
          </a:fillRef>
          <a:effectRef idx="0">
            <a:scrgbClr r="0" g="0" b="0"/>
          </a:effectRef>
          <a:fontRef idx="minor"/>
        </p:style>
        <p:txBody>
          <a:bodyPr anchor="ctr"/>
          <a:lstStyle/>
          <a:p>
            <a:pPr algn="ctr">
              <a:defRPr/>
            </a:pPr>
            <a:r>
              <a:rPr lang="en-US" sz="1600" b="0" i="0" u="none" strike="noStrike" cap="none" spc="0">
                <a:solidFill>
                  <a:schemeClr val="accent1"/>
                </a:solidFill>
                <a:latin typeface="Open Sans"/>
                <a:ea typeface="Open Sans"/>
                <a:cs typeface="Open Sans"/>
              </a:rPr>
              <a:t>红色表示夹爪穿过物体/桌面；绿色表示无穿模。</a:t>
            </a:r>
            <a:endParaRPr sz="1600">
              <a:solidFill>
                <a:schemeClr val="accen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2212394" name="PlaceHolder 2"/>
          <p:cNvSpPr>
            <a:spLocks noGrp="1"/>
          </p:cNvSpPr>
          <p:nvPr>
            <p:ph type="title"/>
          </p:nvPr>
        </p:nvSpPr>
        <p:spPr bwMode="auto">
          <a:xfrm>
            <a:off x="320040" y="960120"/>
            <a:ext cx="8366400" cy="411120"/>
          </a:xfrm>
          <a:prstGeom prst="rect">
            <a:avLst/>
          </a:prstGeom>
          <a:noFill/>
          <a:ln w="0">
            <a:noFill/>
          </a:ln>
        </p:spPr>
        <p:txBody>
          <a:bodyPr anchor="ctr">
            <a:normAutofit/>
          </a:bodyPr>
          <a:lstStyle/>
          <a:p>
            <a:pPr marL="0" marR="0" indent="0" algn="l">
              <a:lnSpc>
                <a:spcPct val="90000"/>
              </a:lnSpc>
              <a:spcBef>
                <a:spcPts val="0"/>
              </a:spcBef>
              <a:spcAft>
                <a:spcPts val="0"/>
              </a:spcAft>
              <a:buNone/>
              <a:defRPr/>
            </a:pPr>
            <a:r>
              <a:rPr lang="zh-CN" sz="2200" b="1" strike="noStrike" spc="0">
                <a:solidFill>
                  <a:srgbClr val="004993"/>
                </a:solidFill>
                <a:latin typeface="Noto Sans CJK SC"/>
                <a:ea typeface="等线"/>
              </a:rPr>
              <a:t>5.4</a:t>
            </a:r>
            <a:r>
              <a:rPr lang="en-US" sz="2200" b="1" strike="noStrike" spc="0">
                <a:solidFill>
                  <a:srgbClr val="004993"/>
                </a:solidFill>
                <a:latin typeface="Noto Sans CJK SC"/>
                <a:ea typeface="等线"/>
              </a:rPr>
              <a:t> </a:t>
            </a:r>
            <a:r>
              <a:rPr lang="en-US" sz="2100" b="1" i="0" u="none" strike="noStrike" cap="none" spc="0">
                <a:solidFill>
                  <a:schemeClr val="accent1"/>
                </a:solidFill>
                <a:latin typeface="Open Sans"/>
                <a:ea typeface="Open Sans"/>
                <a:cs typeface="Open Sans"/>
              </a:rPr>
              <a:t>Real World Demo Pipeline 流程</a:t>
            </a:r>
            <a:endParaRPr lang="en-US" sz="2100" b="1" i="0" u="none" strike="noStrike" cap="none" spc="0">
              <a:solidFill>
                <a:schemeClr val="accent1"/>
              </a:solidFill>
              <a:latin typeface="Open Sans"/>
              <a:cs typeface="Open Sans"/>
            </a:endParaRPr>
          </a:p>
        </p:txBody>
      </p:sp>
      <p:sp>
        <p:nvSpPr>
          <p:cNvPr id="731105953" name="Rounded Rectangle 3"/>
          <p:cNvSpPr/>
          <p:nvPr/>
        </p:nvSpPr>
        <p:spPr bwMode="auto">
          <a:xfrm>
            <a:off x="342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sp>
        <p:nvSpPr>
          <p:cNvPr id="43647507" name="TextBox 6"/>
          <p:cNvSpPr/>
          <p:nvPr/>
        </p:nvSpPr>
        <p:spPr bwMode="auto">
          <a:xfrm>
            <a:off x="1906635" y="4737390"/>
            <a:ext cx="4790445" cy="242758"/>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defRPr/>
            </a:pPr>
            <a:endParaRPr/>
          </a:p>
        </p:txBody>
      </p:sp>
      <p:sp>
        <p:nvSpPr>
          <p:cNvPr id="868473671" name="文本框 868473670"/>
          <p:cNvSpPr txBox="1"/>
          <p:nvPr/>
        </p:nvSpPr>
        <p:spPr bwMode="auto">
          <a:xfrm>
            <a:off x="1331640" y="1776983"/>
            <a:ext cx="6264696" cy="433400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indent="0" algn="l">
              <a:spcBef>
                <a:spcPts val="0"/>
              </a:spcBef>
              <a:spcAft>
                <a:spcPts val="0"/>
              </a:spcAft>
              <a:defRPr/>
            </a:pPr>
            <a:r>
              <a:rPr sz="1600" dirty="0" err="1">
                <a:solidFill>
                  <a:schemeClr val="accent1"/>
                </a:solidFill>
              </a:rPr>
              <a:t>真实</a:t>
            </a:r>
            <a:r>
              <a:rPr lang="zh-CN" sz="1600" dirty="0">
                <a:solidFill>
                  <a:schemeClr val="accent1"/>
                </a:solidFill>
              </a:rPr>
              <a:t>RGB-D图片</a:t>
            </a:r>
            <a:br>
              <a:rPr sz="1600" dirty="0">
                <a:solidFill>
                  <a:schemeClr val="accent1"/>
                </a:solidFill>
              </a:rPr>
            </a:br>
            <a:r>
              <a:rPr sz="1600" dirty="0"/>
              <a:t>  ↓ </a:t>
            </a:r>
            <a:r>
              <a:rPr sz="1600" dirty="0" err="1"/>
              <a:t>坐标系转化</a:t>
            </a:r>
            <a:br>
              <a:rPr sz="1600" dirty="0"/>
            </a:br>
            <a:r>
              <a:rPr sz="1600" dirty="0" err="1">
                <a:solidFill>
                  <a:schemeClr val="accent1"/>
                </a:solidFill>
              </a:rPr>
              <a:t>场景点云</a:t>
            </a:r>
            <a:r>
              <a:rPr sz="1600" dirty="0">
                <a:solidFill>
                  <a:schemeClr val="accent1"/>
                </a:solidFill>
              </a:rPr>
              <a:t> (N×3)</a:t>
            </a:r>
            <a:br>
              <a:rPr sz="1600" dirty="0">
                <a:solidFill>
                  <a:schemeClr val="accent1"/>
                </a:solidFill>
              </a:rPr>
            </a:br>
            <a:r>
              <a:rPr sz="1600" dirty="0"/>
              <a:t>  ↓ mask → </a:t>
            </a:r>
            <a:r>
              <a:rPr sz="1600" dirty="0" err="1"/>
              <a:t>目标物体局部点云</a:t>
            </a:r>
            <a:br>
              <a:rPr sz="1600" dirty="0"/>
            </a:br>
            <a:r>
              <a:rPr sz="1600" dirty="0"/>
              <a:t>  ↓ SOR → FPS → 1024 点</a:t>
            </a:r>
            <a:br>
              <a:rPr sz="1600" dirty="0"/>
            </a:br>
            <a:r>
              <a:rPr sz="1600" dirty="0" err="1">
                <a:solidFill>
                  <a:schemeClr val="accent1"/>
                </a:solidFill>
              </a:rPr>
              <a:t>GraspGen</a:t>
            </a:r>
            <a:r>
              <a:rPr sz="1600" dirty="0">
                <a:solidFill>
                  <a:schemeClr val="accent1"/>
                </a:solidFill>
              </a:rPr>
              <a:t> Pretrained Sampler</a:t>
            </a:r>
            <a:br>
              <a:rPr sz="1600" dirty="0">
                <a:solidFill>
                  <a:schemeClr val="accent1"/>
                </a:solidFill>
              </a:rPr>
            </a:br>
            <a:r>
              <a:rPr sz="1600" dirty="0"/>
              <a:t>  ↓ </a:t>
            </a:r>
            <a:r>
              <a:rPr sz="1600" dirty="0" err="1"/>
              <a:t>推理生成</a:t>
            </a:r>
            <a:r>
              <a:rPr sz="1600" dirty="0"/>
              <a:t> 100 </a:t>
            </a:r>
            <a:r>
              <a:rPr sz="1600" dirty="0" err="1"/>
              <a:t>候选</a:t>
            </a:r>
            <a:r>
              <a:rPr sz="1600" dirty="0"/>
              <a:t> (T, score)</a:t>
            </a:r>
            <a:br>
              <a:rPr sz="1600" dirty="0"/>
            </a:br>
            <a:r>
              <a:rPr sz="1600" dirty="0" err="1">
                <a:solidFill>
                  <a:schemeClr val="accent1"/>
                </a:solidFill>
              </a:rPr>
              <a:t>碰撞检测</a:t>
            </a:r>
            <a:r>
              <a:rPr lang="en-US" sz="1600" b="0" i="0" u="none" strike="noStrike" cap="none" spc="0" dirty="0">
                <a:solidFill>
                  <a:srgbClr val="000000"/>
                </a:solidFill>
                <a:latin typeface="Arial"/>
                <a:ea typeface="Arial"/>
                <a:cs typeface="Arial"/>
              </a:rPr>
              <a:t> → </a:t>
            </a:r>
            <a:r>
              <a:rPr lang="en-US" sz="1600" b="0" i="0" u="none" strike="noStrike" cap="none" spc="0" dirty="0" err="1">
                <a:solidFill>
                  <a:srgbClr val="000000"/>
                </a:solidFill>
                <a:latin typeface="Arial"/>
                <a:ea typeface="Arial"/>
                <a:cs typeface="Arial"/>
              </a:rPr>
              <a:t>collision_mask</a:t>
            </a:r>
            <a:endParaRPr sz="1600" dirty="0">
              <a:solidFill>
                <a:schemeClr val="accent1"/>
              </a:solidFill>
            </a:endParaRPr>
          </a:p>
          <a:p>
            <a:pPr marL="0" marR="0" indent="0" algn="l">
              <a:lnSpc>
                <a:spcPct val="150000"/>
              </a:lnSpc>
              <a:spcBef>
                <a:spcPts val="0"/>
              </a:spcBef>
              <a:spcAft>
                <a:spcPts val="0"/>
              </a:spcAft>
              <a:defRPr/>
            </a:pPr>
            <a:r>
              <a:rPr sz="1600" dirty="0">
                <a:solidFill>
                  <a:schemeClr val="accent1"/>
                </a:solidFill>
              </a:rPr>
              <a:t>Open3D </a:t>
            </a:r>
            <a:r>
              <a:rPr sz="1600" dirty="0" err="1">
                <a:solidFill>
                  <a:schemeClr val="accent1"/>
                </a:solidFill>
              </a:rPr>
              <a:t>多视角可视化</a:t>
            </a:r>
            <a:r>
              <a:rPr sz="1600" dirty="0"/>
              <a:t> → </a:t>
            </a:r>
            <a:r>
              <a:rPr sz="1600" dirty="0" err="1"/>
              <a:t>各视图保存截图</a:t>
            </a:r>
            <a:br>
              <a:rPr sz="1600" dirty="0"/>
            </a:br>
            <a:r>
              <a:rPr lang="en-US" sz="1600" b="0" i="0" u="none" strike="noStrike" cap="none" spc="0" dirty="0">
                <a:solidFill>
                  <a:srgbClr val="000000"/>
                </a:solidFill>
                <a:latin typeface="+mn-lt"/>
                <a:ea typeface="+mn-ea"/>
                <a:cs typeface="+mn-cs"/>
              </a:rPr>
              <a:t>  ↓ score </a:t>
            </a:r>
            <a:r>
              <a:rPr lang="en-US" sz="1600" b="0" i="0" u="none" strike="noStrike" cap="none" spc="0" dirty="0" err="1">
                <a:solidFill>
                  <a:srgbClr val="000000"/>
                </a:solidFill>
                <a:latin typeface="+mn-lt"/>
                <a:ea typeface="+mn-ea"/>
                <a:cs typeface="+mn-cs"/>
              </a:rPr>
              <a:t>json</a:t>
            </a:r>
            <a:r>
              <a:rPr lang="en-US" sz="1600" b="0" i="0" u="none" strike="noStrike" cap="none" spc="0" dirty="0">
                <a:solidFill>
                  <a:srgbClr val="000000"/>
                </a:solidFill>
                <a:latin typeface="+mn-lt"/>
                <a:ea typeface="+mn-ea"/>
                <a:cs typeface="+mn-cs"/>
              </a:rPr>
              <a:t> </a:t>
            </a:r>
            <a:r>
              <a:rPr lang="en-US" sz="1600" b="0" i="0" u="none" strike="noStrike" cap="none" spc="0" dirty="0" err="1">
                <a:solidFill>
                  <a:srgbClr val="000000"/>
                </a:solidFill>
                <a:latin typeface="+mn-lt"/>
                <a:ea typeface="+mn-ea"/>
                <a:cs typeface="+mn-cs"/>
              </a:rPr>
              <a:t>统计</a:t>
            </a:r>
            <a:endParaRPr sz="1600" dirty="0"/>
          </a:p>
          <a:p>
            <a:pPr marL="0" marR="0" indent="0" algn="l">
              <a:lnSpc>
                <a:spcPct val="150000"/>
              </a:lnSpc>
              <a:spcBef>
                <a:spcPts val="0"/>
              </a:spcBef>
              <a:spcAft>
                <a:spcPts val="0"/>
              </a:spcAft>
              <a:defRPr/>
            </a:pPr>
            <a:r>
              <a:rPr sz="1600" dirty="0" err="1">
                <a:solidFill>
                  <a:schemeClr val="accent1"/>
                </a:solidFill>
              </a:rPr>
              <a:t>输出抓取预测</a:t>
            </a:r>
            <a:r>
              <a:rPr lang="en-US" sz="1600" b="0" i="0" u="none" strike="noStrike" cap="none" spc="0" dirty="0" err="1">
                <a:solidFill>
                  <a:schemeClr val="accent1"/>
                </a:solidFill>
                <a:latin typeface="DejaVu Sans"/>
                <a:ea typeface="DejaVu Sans"/>
                <a:cs typeface="DejaVu Sans"/>
              </a:rPr>
              <a:t>结果</a:t>
            </a:r>
            <a:endParaRPr lang="en-US" sz="1600" b="0" i="0" u="none" strike="noStrike" cap="none" spc="0" dirty="0">
              <a:solidFill>
                <a:schemeClr val="accent1"/>
              </a:solidFill>
              <a:latin typeface="DejaVu Sans"/>
              <a:cs typeface="DejaVu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4664732" name="PlaceHolder 2"/>
          <p:cNvSpPr>
            <a:spLocks noGrp="1"/>
          </p:cNvSpPr>
          <p:nvPr>
            <p:ph type="title"/>
          </p:nvPr>
        </p:nvSpPr>
        <p:spPr bwMode="auto">
          <a:xfrm>
            <a:off x="320040" y="960120"/>
            <a:ext cx="8366400" cy="411120"/>
          </a:xfrm>
          <a:prstGeom prst="rect">
            <a:avLst/>
          </a:prstGeom>
          <a:noFill/>
          <a:ln w="0">
            <a:noFill/>
          </a:ln>
        </p:spPr>
        <p:txBody>
          <a:bodyPr anchor="ctr">
            <a:normAutofit/>
          </a:bodyPr>
          <a:lstStyle/>
          <a:p>
            <a:pPr marL="0" marR="0" indent="0" algn="l">
              <a:lnSpc>
                <a:spcPct val="90000"/>
              </a:lnSpc>
              <a:spcBef>
                <a:spcPts val="0"/>
              </a:spcBef>
              <a:spcAft>
                <a:spcPts val="0"/>
              </a:spcAft>
              <a:buNone/>
              <a:defRPr/>
            </a:pPr>
            <a:r>
              <a:rPr lang="zh-CN" sz="2200" b="1" strike="noStrike" spc="0" dirty="0">
                <a:solidFill>
                  <a:srgbClr val="004993"/>
                </a:solidFill>
                <a:latin typeface="Noto Sans CJK SC"/>
                <a:ea typeface="等线"/>
              </a:rPr>
              <a:t>5.5</a:t>
            </a:r>
            <a:r>
              <a:rPr lang="en-US" sz="2200" b="1" strike="noStrike" spc="0" dirty="0">
                <a:solidFill>
                  <a:srgbClr val="004993"/>
                </a:solidFill>
                <a:latin typeface="Noto Sans CJK SC"/>
                <a:ea typeface="等线"/>
              </a:rPr>
              <a:t> </a:t>
            </a:r>
            <a:r>
              <a:rPr lang="en-US" sz="2100" b="1" i="0" u="none" strike="noStrike" cap="none" spc="0" dirty="0" err="1">
                <a:solidFill>
                  <a:schemeClr val="accent1"/>
                </a:solidFill>
                <a:latin typeface="Open Sans"/>
                <a:ea typeface="Open Sans"/>
                <a:cs typeface="Open Sans"/>
              </a:rPr>
              <a:t>失败模式总结</a:t>
            </a:r>
            <a:r>
              <a:rPr lang="en-US" sz="2100" b="1" i="0" u="none" strike="noStrike" cap="none" spc="0" dirty="0">
                <a:solidFill>
                  <a:schemeClr val="accent1"/>
                </a:solidFill>
                <a:latin typeface="Open Sans"/>
                <a:ea typeface="Open Sans"/>
                <a:cs typeface="Open Sans"/>
              </a:rPr>
              <a:t> </a:t>
            </a:r>
            <a:endParaRPr lang="en-US" sz="2100" b="1" i="0" u="none" strike="noStrike" cap="none" spc="0" dirty="0">
              <a:solidFill>
                <a:schemeClr val="accent1"/>
              </a:solidFill>
              <a:latin typeface="Open Sans"/>
              <a:cs typeface="Open Sans"/>
            </a:endParaRPr>
          </a:p>
        </p:txBody>
      </p:sp>
      <p:sp>
        <p:nvSpPr>
          <p:cNvPr id="659991866" name="Rounded Rectangle 3"/>
          <p:cNvSpPr/>
          <p:nvPr/>
        </p:nvSpPr>
        <p:spPr bwMode="auto">
          <a:xfrm>
            <a:off x="342000" y="1620000"/>
            <a:ext cx="8460000" cy="4860000"/>
          </a:xfrm>
          <a:prstGeom prst="roundRect">
            <a:avLst>
              <a:gd name="adj" fmla="val 16667"/>
            </a:avLst>
          </a:prstGeom>
          <a:solidFill>
            <a:srgbClr val="FFFFFF"/>
          </a:solidFill>
          <a:ln w="15240">
            <a:solidFill>
              <a:srgbClr val="747474"/>
            </a:solidFill>
          </a:ln>
        </p:spPr>
        <p:style>
          <a:lnRef idx="1">
            <a:schemeClr val="accent1"/>
          </a:lnRef>
          <a:fillRef idx="3">
            <a:schemeClr val="accent1"/>
          </a:fillRef>
          <a:effectRef idx="2">
            <a:schemeClr val="accent1"/>
          </a:effectRef>
          <a:fontRef idx="minor"/>
        </p:style>
      </p:sp>
      <p:sp>
        <p:nvSpPr>
          <p:cNvPr id="251626077" name="TextBox 6"/>
          <p:cNvSpPr/>
          <p:nvPr/>
        </p:nvSpPr>
        <p:spPr bwMode="auto">
          <a:xfrm>
            <a:off x="1906635" y="4737390"/>
            <a:ext cx="4790445" cy="242758"/>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defRPr/>
            </a:pPr>
            <a:endParaRPr/>
          </a:p>
        </p:txBody>
      </p:sp>
      <p:graphicFrame>
        <p:nvGraphicFramePr>
          <p:cNvPr id="192859180" name="表格 192859179"/>
          <p:cNvGraphicFramePr>
            <a:graphicFrameLocks/>
          </p:cNvGraphicFramePr>
          <p:nvPr/>
        </p:nvGraphicFramePr>
        <p:xfrm>
          <a:off x="910954" y="2377128"/>
          <a:ext cx="7184568" cy="2834640"/>
        </p:xfrm>
        <a:graphic>
          <a:graphicData uri="http://schemas.openxmlformats.org/drawingml/2006/table">
            <a:tbl>
              <a:tblPr firstRow="1" bandRow="1" bandCol="1">
                <a:tableStyleId>{5C22544A-7EE6-4342-B048-85BDC9FD1C3A}</a:tableStyleId>
              </a:tblPr>
              <a:tblGrid>
                <a:gridCol w="2394856">
                  <a:extLst>
                    <a:ext uri="{9D8B030D-6E8A-4147-A177-3AD203B41FA5}">
                      <a16:colId xmlns:a16="http://schemas.microsoft.com/office/drawing/2014/main" val="20000"/>
                    </a:ext>
                  </a:extLst>
                </a:gridCol>
                <a:gridCol w="2394856">
                  <a:extLst>
                    <a:ext uri="{9D8B030D-6E8A-4147-A177-3AD203B41FA5}">
                      <a16:colId xmlns:a16="http://schemas.microsoft.com/office/drawing/2014/main" val="20001"/>
                    </a:ext>
                  </a:extLst>
                </a:gridCol>
                <a:gridCol w="2394856">
                  <a:extLst>
                    <a:ext uri="{9D8B030D-6E8A-4147-A177-3AD203B41FA5}">
                      <a16:colId xmlns:a16="http://schemas.microsoft.com/office/drawing/2014/main" val="20002"/>
                    </a:ext>
                  </a:extLst>
                </a:gridCol>
              </a:tblGrid>
              <a:tr h="253440">
                <a:tc>
                  <a:txBody>
                    <a:bodyPr/>
                    <a:lstStyle/>
                    <a:p>
                      <a:pPr>
                        <a:defRPr/>
                      </a:pPr>
                      <a:r>
                        <a:rPr sz="1600"/>
                        <a:t>Pipeline 步骤</a:t>
                      </a:r>
                    </a:p>
                  </a:txBody>
                  <a:tcPr/>
                </a:tc>
                <a:tc>
                  <a:txBody>
                    <a:bodyPr/>
                    <a:lstStyle/>
                    <a:p>
                      <a:pPr>
                        <a:defRPr/>
                      </a:pPr>
                      <a:r>
                        <a:rPr sz="1600"/>
                        <a:t>典型失败</a:t>
                      </a:r>
                    </a:p>
                  </a:txBody>
                  <a:tcPr/>
                </a:tc>
                <a:tc>
                  <a:txBody>
                    <a:bodyPr/>
                    <a:lstStyle/>
                    <a:p>
                      <a:pPr>
                        <a:defRPr/>
                      </a:pPr>
                      <a:r>
                        <a:rPr sz="1600"/>
                        <a:t>根本原因</a:t>
                      </a:r>
                    </a:p>
                  </a:txBody>
                  <a:tcPr/>
                </a:tc>
                <a:extLst>
                  <a:ext uri="{0D108BD9-81ED-4DB2-BD59-A6C34878D82A}">
                    <a16:rowId xmlns:a16="http://schemas.microsoft.com/office/drawing/2014/main" val="10000"/>
                  </a:ext>
                </a:extLst>
              </a:tr>
              <a:tr h="260190">
                <a:tc>
                  <a:txBody>
                    <a:bodyPr/>
                    <a:lstStyle/>
                    <a:p>
                      <a:pPr>
                        <a:defRPr/>
                      </a:pPr>
                      <a:r>
                        <a:rPr sz="1600"/>
                        <a:t>RGB-D 输入</a:t>
                      </a:r>
                    </a:p>
                  </a:txBody>
                  <a:tcPr/>
                </a:tc>
                <a:tc>
                  <a:txBody>
                    <a:bodyPr/>
                    <a:lstStyle/>
                    <a:p>
                      <a:pPr>
                        <a:defRPr/>
                      </a:pPr>
                      <a:r>
                        <a:rPr sz="1600"/>
                        <a:t>深度空洞 (黑色区域无点云)</a:t>
                      </a:r>
                    </a:p>
                  </a:txBody>
                  <a:tcPr/>
                </a:tc>
                <a:tc>
                  <a:txBody>
                    <a:bodyPr/>
                    <a:lstStyle/>
                    <a:p>
                      <a:pPr>
                        <a:defRPr/>
                      </a:pPr>
                      <a:r>
                        <a:rPr sz="1600"/>
                        <a:t>透明/反光/暗色材质</a:t>
                      </a:r>
                    </a:p>
                  </a:txBody>
                  <a:tcPr/>
                </a:tc>
                <a:extLst>
                  <a:ext uri="{0D108BD9-81ED-4DB2-BD59-A6C34878D82A}">
                    <a16:rowId xmlns:a16="http://schemas.microsoft.com/office/drawing/2014/main" val="10001"/>
                  </a:ext>
                </a:extLst>
              </a:tr>
              <a:tr h="259389">
                <a:tc>
                  <a:txBody>
                    <a:bodyPr/>
                    <a:lstStyle/>
                    <a:p>
                      <a:pPr>
                        <a:defRPr/>
                      </a:pPr>
                      <a:r>
                        <a:rPr sz="1600"/>
                        <a:t>点云生成</a:t>
                      </a:r>
                    </a:p>
                  </a:txBody>
                  <a:tcPr/>
                </a:tc>
                <a:tc>
                  <a:txBody>
                    <a:bodyPr/>
                    <a:lstStyle/>
                    <a:p>
                      <a:pPr>
                        <a:defRPr/>
                      </a:pPr>
                      <a:r>
                        <a:rPr sz="1600"/>
                        <a:t>局部几何缺失</a:t>
                      </a:r>
                    </a:p>
                  </a:txBody>
                  <a:tcPr/>
                </a:tc>
                <a:tc>
                  <a:txBody>
                    <a:bodyPr/>
                    <a:lstStyle/>
                    <a:p>
                      <a:pPr>
                        <a:defRPr/>
                      </a:pPr>
                      <a:r>
                        <a:rPr sz="1600"/>
                        <a:t>传感器 FoV、单视角遮挡</a:t>
                      </a:r>
                    </a:p>
                  </a:txBody>
                  <a:tcPr/>
                </a:tc>
                <a:extLst>
                  <a:ext uri="{0D108BD9-81ED-4DB2-BD59-A6C34878D82A}">
                    <a16:rowId xmlns:a16="http://schemas.microsoft.com/office/drawing/2014/main" val="10002"/>
                  </a:ext>
                </a:extLst>
              </a:tr>
              <a:tr h="253440">
                <a:tc>
                  <a:txBody>
                    <a:bodyPr/>
                    <a:lstStyle/>
                    <a:p>
                      <a:pPr>
                        <a:defRPr/>
                      </a:pPr>
                      <a:r>
                        <a:rPr sz="1600"/>
                        <a:t>SOR 去噪</a:t>
                      </a:r>
                    </a:p>
                  </a:txBody>
                  <a:tcPr/>
                </a:tc>
                <a:tc>
                  <a:txBody>
                    <a:bodyPr/>
                    <a:lstStyle/>
                    <a:p>
                      <a:pPr>
                        <a:defRPr/>
                      </a:pPr>
                      <a:r>
                        <a:rPr sz="1600"/>
                        <a:t>目标点误删</a:t>
                      </a:r>
                    </a:p>
                  </a:txBody>
                  <a:tcPr/>
                </a:tc>
                <a:tc>
                  <a:txBody>
                    <a:bodyPr/>
                    <a:lstStyle/>
                    <a:p>
                      <a:pPr>
                        <a:defRPr/>
                      </a:pPr>
                      <a:r>
                        <a:rPr sz="1600"/>
                        <a:t>阈值过紧 (0.014m)</a:t>
                      </a:r>
                    </a:p>
                  </a:txBody>
                  <a:tcPr/>
                </a:tc>
                <a:extLst>
                  <a:ext uri="{0D108BD9-81ED-4DB2-BD59-A6C34878D82A}">
                    <a16:rowId xmlns:a16="http://schemas.microsoft.com/office/drawing/2014/main" val="10003"/>
                  </a:ext>
                </a:extLst>
              </a:tr>
              <a:tr h="253440">
                <a:tc>
                  <a:txBody>
                    <a:bodyPr/>
                    <a:lstStyle/>
                    <a:p>
                      <a:pPr>
                        <a:defRPr/>
                      </a:pPr>
                      <a:r>
                        <a:rPr sz="1600"/>
                        <a:t>FPS 采样</a:t>
                      </a:r>
                    </a:p>
                  </a:txBody>
                  <a:tcPr/>
                </a:tc>
                <a:tc>
                  <a:txBody>
                    <a:bodyPr/>
                    <a:lstStyle/>
                    <a:p>
                      <a:pPr>
                        <a:defRPr/>
                      </a:pPr>
                      <a:r>
                        <a:rPr sz="1600"/>
                        <a:t>细薄部分覆盖稀疏</a:t>
                      </a:r>
                    </a:p>
                  </a:txBody>
                  <a:tcPr/>
                </a:tc>
                <a:tc>
                  <a:txBody>
                    <a:bodyPr/>
                    <a:lstStyle/>
                    <a:p>
                      <a:pPr>
                        <a:defRPr/>
                      </a:pPr>
                      <a:r>
                        <a:rPr sz="1600"/>
                        <a:t>1024 点不足以表达细节</a:t>
                      </a:r>
                    </a:p>
                  </a:txBody>
                  <a:tcPr/>
                </a:tc>
                <a:extLst>
                  <a:ext uri="{0D108BD9-81ED-4DB2-BD59-A6C34878D82A}">
                    <a16:rowId xmlns:a16="http://schemas.microsoft.com/office/drawing/2014/main" val="10004"/>
                  </a:ext>
                </a:extLst>
              </a:tr>
              <a:tr h="253440">
                <a:tc>
                  <a:txBody>
                    <a:bodyPr/>
                    <a:lstStyle/>
                    <a:p>
                      <a:pPr>
                        <a:defRPr/>
                      </a:pPr>
                      <a:r>
                        <a:rPr sz="1600"/>
                        <a:t>GraspGen 推理</a:t>
                      </a:r>
                    </a:p>
                  </a:txBody>
                  <a:tcPr/>
                </a:tc>
                <a:tc>
                  <a:txBody>
                    <a:bodyPr/>
                    <a:lstStyle/>
                    <a:p>
                      <a:pPr>
                        <a:defRPr/>
                      </a:pPr>
                      <a:r>
                        <a:rPr sz="1600"/>
                        <a:t>碰撞、低置信度</a:t>
                      </a:r>
                    </a:p>
                  </a:txBody>
                  <a:tcPr/>
                </a:tc>
                <a:tc>
                  <a:txBody>
                    <a:bodyPr/>
                    <a:lstStyle/>
                    <a:p>
                      <a:pPr>
                        <a:defRPr/>
                      </a:pPr>
                      <a:r>
                        <a:rPr sz="1600"/>
                        <a:t>backbone 容量小</a:t>
                      </a:r>
                    </a:p>
                  </a:txBody>
                  <a:tcPr/>
                </a:tc>
                <a:extLst>
                  <a:ext uri="{0D108BD9-81ED-4DB2-BD59-A6C34878D82A}">
                    <a16:rowId xmlns:a16="http://schemas.microsoft.com/office/drawing/2014/main" val="10005"/>
                  </a:ext>
                </a:extLst>
              </a:tr>
              <a:tr h="253440">
                <a:tc>
                  <a:txBody>
                    <a:bodyPr/>
                    <a:lstStyle/>
                    <a:p>
                      <a:pPr>
                        <a:defRPr/>
                      </a:pPr>
                      <a:r>
                        <a:rPr sz="1600"/>
                        <a:t>碰撞检测</a:t>
                      </a:r>
                    </a:p>
                  </a:txBody>
                  <a:tcPr/>
                </a:tc>
                <a:tc>
                  <a:txBody>
                    <a:bodyPr/>
                    <a:lstStyle/>
                    <a:p>
                      <a:pPr>
                        <a:defRPr/>
                      </a:pPr>
                      <a:r>
                        <a:rPr sz="1600"/>
                        <a:t>误判穿透/漏判</a:t>
                      </a:r>
                    </a:p>
                  </a:txBody>
                  <a:tcPr/>
                </a:tc>
                <a:tc>
                  <a:txBody>
                    <a:bodyPr/>
                    <a:lstStyle/>
                    <a:p>
                      <a:pPr>
                        <a:defRPr/>
                      </a:pPr>
                      <a:r>
                        <a:rPr sz="1600"/>
                        <a:t>点-网格距离阈值选择</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9EFD65-6CE3-445A-B2DC-4667FA544381}"/>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625093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2016-VI主题-蓝</Template>
  <TotalTime>10</TotalTime>
  <Words>2407</Words>
  <Application>Microsoft Office PowerPoint</Application>
  <PresentationFormat>全屏显示(4:3)</PresentationFormat>
  <Paragraphs>323</Paragraphs>
  <Slides>25</Slides>
  <Notes>23</Notes>
  <HiddenSlides>0</HiddenSlides>
  <MMClips>1</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25</vt:i4>
      </vt:variant>
    </vt:vector>
  </HeadingPairs>
  <TitlesOfParts>
    <vt:vector size="41" baseType="lpstr">
      <vt:lpstr>DejaVu Sans</vt:lpstr>
      <vt:lpstr>Noto Sans CJK SC</vt:lpstr>
      <vt:lpstr>等线</vt:lpstr>
      <vt:lpstr>等线 Light</vt:lpstr>
      <vt:lpstr>微软雅黑</vt:lpstr>
      <vt:lpstr>微软雅黑</vt:lpstr>
      <vt:lpstr>Arial</vt:lpstr>
      <vt:lpstr>Calibri</vt:lpstr>
      <vt:lpstr>Cambria Math</vt:lpstr>
      <vt:lpstr>Open Sans</vt:lpstr>
      <vt:lpstr>Symbol</vt:lpstr>
      <vt:lpstr>Times New Roman</vt:lpstr>
      <vt:lpstr>Wingdings</vt:lpstr>
      <vt:lpstr>Office Theme</vt:lpstr>
      <vt:lpstr>Office Theme</vt:lpstr>
      <vt:lpstr>Office Theme</vt:lpstr>
      <vt:lpstr>PowerPoint 演示文稿</vt:lpstr>
      <vt:lpstr>目录Contents</vt:lpstr>
      <vt:lpstr>1. 项目概述</vt:lpstr>
      <vt:lpstr>1.1 任务目标与输入输出</vt:lpstr>
      <vt:lpstr>1.2 整体技术路线</vt:lpstr>
      <vt:lpstr>1.3 网络选型：GraspGen</vt:lpstr>
      <vt:lpstr>2.1 相机几何：针孔模型反投影公式RGB-D</vt:lpstr>
      <vt:lpstr>2.2 点云后处理：SOR 去噪 + FPS 采样</vt:lpstr>
      <vt:lpstr>2.3 从RGB-D到点云</vt:lpstr>
      <vt:lpstr>PowerPoint 演示文稿</vt:lpstr>
      <vt:lpstr>PowerPoint 演示文稿</vt:lpstr>
      <vt:lpstr>PowerPoint 演示文稿</vt:lpstr>
      <vt:lpstr>PowerPoint 演示文稿</vt:lpstr>
      <vt:lpstr>3.5 训练策略</vt:lpstr>
      <vt:lpstr>PowerPoint 演示文稿</vt:lpstr>
      <vt:lpstr>PowerPoint 演示文稿</vt:lpstr>
      <vt:lpstr>PowerPoint 演示文稿</vt:lpstr>
      <vt:lpstr>PowerPoint 演示文稿</vt:lpstr>
      <vt:lpstr>PowerPoint 演示文稿</vt:lpstr>
      <vt:lpstr>5.1 6Dpose预测</vt:lpstr>
      <vt:lpstr>5.2 碰撞预测</vt:lpstr>
      <vt:lpstr>5.3 坐标系转化与几何可执行性</vt:lpstr>
      <vt:lpstr>5.4 Real World Demo Pipeline 流程</vt:lpstr>
      <vt:lpstr>5.5 失败模式总结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沈小丹</dc:creator>
  <dc:description/>
  <cp:lastModifiedBy>政磊 李</cp:lastModifiedBy>
  <cp:revision>359</cp:revision>
  <dcterms:created xsi:type="dcterms:W3CDTF">2016-04-20T02:59:00Z</dcterms:created>
  <dcterms:modified xsi:type="dcterms:W3CDTF">2026-06-15T03:37:17Z</dcterms:modified>
  <dc:language>zh-CN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79405EFB92474968BCA5DBFB2FE66597_12</vt:lpwstr>
  </property>
  <property fmtid="{D5CDD505-2E9C-101B-9397-08002B2CF9AE}" pid="3" name="KSOProductBuildVer">
    <vt:lpwstr>2052-12.1.0.18608</vt:lpwstr>
  </property>
  <property fmtid="{D5CDD505-2E9C-101B-9397-08002B2CF9AE}" pid="4" name="Notes">
    <vt:i4>4</vt:i4>
  </property>
  <property fmtid="{D5CDD505-2E9C-101B-9397-08002B2CF9AE}" pid="5" name="PresentationFormat">
    <vt:lpwstr>全屏显示(4:3)</vt:lpwstr>
  </property>
  <property fmtid="{D5CDD505-2E9C-101B-9397-08002B2CF9AE}" pid="6" name="Slides">
    <vt:i4>4</vt:i4>
  </property>
</Properties>
</file>